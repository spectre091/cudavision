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2" roundtripDataSignature="AMtx7mjI4b0VUuG1oTbOZMzj61ProHaqT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10" Type="http://schemas.openxmlformats.org/officeDocument/2006/relationships/slide" Target="slides/slide6.xml"/><Relationship Id="rId32" Type="http://customschemas.google.com/relationships/presentationmetadata" Target="metadata"/><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Welcome back. Last meeting we learned the two rules of Thrust: the execution policy picks where an algorithm runs, the __host__ __device__ specifier picks what gets compiled. Today we go past what std:: gives us: making our own algorithms out of existing ones with fancy iterators, and working with 2D data like images. The picture on the right is today's last big idea: a flat strip of memory viewed as a 2D grid.</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 name="Google Shape;6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Before new material, a full recap aimed at anyone new to C++ or who missed last meeting. Go slowly here: every later slide uses these ideas. Ask people to raise a hand any time a symbol on screen doesn't make sense; if one person is confused, five others are too.</a:t>
            </a:r>
            <a:endParaRPr/>
          </a:p>
        </p:txBody>
      </p:sp>
      <p:sp>
        <p:nvSpPr>
          <p:cNvPr id="62" name="Google Shape;6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he3b7fdc4d9b28b1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 name="Google Shape;119;he3b7fdc4d9b28b1_0_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Start with vocabulary, because CUDA uses it everywhere. Host means the CPU, device means the GPU. They're separate chips with separate memory. The CPU is the boss: main() always starts there, and it hands jobs to the GPU. Analogy from last time: the CPU is a car (fast for a few people), the GPU is a bus (slow to start, but moves a crowd). A thread is one worker; for an image, think one thread per pixel.</a:t>
            </a:r>
            <a:endParaRPr/>
          </a:p>
        </p:txBody>
      </p:sp>
      <p:sp>
        <p:nvSpPr>
          <p:cNvPr id="120" name="Google Shape;120;he3b7fdc4d9b28b1_0_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he3b7fdc4d9b28b1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 name="Google Shape;168;he3b7fdc4d9b28b1_0_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Read the line left to right. std:: is a namespace: think of it as a last name that says which library a name comes from. vector is a resizable list. The angle brackets are a template parameter: they say what type of thing the list holds. float means a decimal number (int would be whole numbers). temp is just our variable name, and the braces give starting values. Indexing starts at 0, so temp[0] is 42. The GPU version is thrust::universal_vector&lt;float&gt;: same idea, different last name, and both processors can read its memory.</a:t>
            </a:r>
            <a:endParaRPr/>
          </a:p>
        </p:txBody>
      </p:sp>
      <p:sp>
        <p:nvSpPr>
          <p:cNvPr id="169" name="Google Shape;169;he3b7fdc4d9b28b1_0_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A lambda is a small function you write inline. Walk through each part. auto lets the compiler pick the type. The square brackets are the capture list: [=] means copy any outside variables we use (here k and room) into the lambda. That copying matters a lot on the GPU, because the GPU can't reach into the CPU's local variables. The parentheses are the input, the braces are the body. Do the example out loud: 42 becomes 31, 24 becomes 22. For the GPU we add __host__ __device__ after the capture.</a:t>
            </a:r>
            <a:endParaRPr/>
          </a:p>
        </p:txBody>
      </p:sp>
      <p:sp>
        <p:nvSpPr>
          <p:cNvPr id="230" name="Google Shape;23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1" name="Google Shape;29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begin() and end() are iterators: think of them as bookmarks. begin points at the first value, end points one past the last one. Algorithms take a range (begin to end) instead of the whole container. std::transform applies a function to every value in the range and writes the results somewhere; here, back in place. Show that it's equivalent to the for loop. The key reason to prefer the algorithm: a loop forces one-at-a-time order, but transform only says what result we want, so a GPU library can split the work across thousands of threads.</a:t>
            </a:r>
            <a:endParaRPr/>
          </a:p>
        </p:txBody>
      </p:sp>
      <p:sp>
        <p:nvSpPr>
          <p:cNvPr id="292" name="Google Shape;29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5" name="Google Shape;35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This is the single most important idea from last time. The policy is a run-time choice of where the algorithm runs. The specifier is a compile-time choice of which processors your lambda gets built for. The grid shows what happens with each combination. A compile error is actually good news: the compiler catches the mistake before you run anything. Rule of thumb: mark lambdas __host__ __device__ and they work with either policy.</a:t>
            </a:r>
            <a:endParaRPr/>
          </a:p>
        </p:txBody>
      </p:sp>
      <p:sp>
        <p:nvSpPr>
          <p:cNvPr id="356" name="Google Shape;35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9" name="Google Shape;419;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Now every piece on this slide should be familiar. Read it top to bottom using the numbered notes. Then show how to build it: nvcc is NVIDIA's compiler, the same job g++ does for normal C++. The --extended-lambda flag is required whenever we put __device__ on a lambda; forgetting it is the most common compile error new people hit. -o names the program, and ./ex3 runs it. In Colab, put ! in front of shell commands.</a:t>
            </a:r>
            <a:endParaRPr/>
          </a:p>
        </p:txBody>
      </p:sp>
      <p:sp>
        <p:nvSpPr>
          <p:cNvPr id="420" name="Google Shape;420;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7" name="Google Shape;47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A one-page reference. Encourage people to screenshot it or keep it open while they do the exercises. Quick check before moving on: point at three random terms and have someone explain them in their own words.</a:t>
            </a:r>
            <a:endParaRPr/>
          </a:p>
        </p:txBody>
      </p:sp>
      <p:sp>
        <p:nvSpPr>
          <p:cNvPr id="478" name="Google Shape;47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3" name="Google Shape;55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Plan for the next 30 minutes. A quick warm-up exercise, then the main idea of the day: fancy iterators, which let us glue algorithms together without storing temporary results. Then vocabulary types, which make 2D data (like images) much easier to work with. Three exercises along the way.</a:t>
            </a:r>
            <a:endParaRPr/>
          </a:p>
        </p:txBody>
      </p:sp>
      <p:sp>
        <p:nvSpPr>
          <p:cNvPr id="554" name="Google Shape;55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1" name="Google Shape;61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Warm-up to get everyone's environment working again. The answer is a one-word swap plus the policy. While people work, walk around and make sure everyone can compile with nvcc --extended-lambda. Note the median takes vec by value, so sorting the copy doesn't change the simulation's data.</a:t>
            </a:r>
            <a:endParaRPr/>
          </a:p>
        </p:txBody>
      </p:sp>
      <p:sp>
        <p:nvSpPr>
          <p:cNvPr id="612" name="Google Shape;61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7" name="Google Shape;65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Two changes: std::sort becomes thrust::sort, and we pass thrust::device. Then pose the question for the rest of the meeting: what happens when there's no single library call for what we want?</a:t>
            </a:r>
            <a:endParaRPr/>
          </a:p>
        </p:txBody>
      </p:sp>
      <p:sp>
        <p:nvSpPr>
          <p:cNvPr id="658" name="Google Shape;65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8" name="Google Shape;70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Same cooling simulation as before. Instead of the median, we want the maximum change in one step, which tells us when the simulation has settled down. There is no single algorithm for that, but it's a transform (absolute difference) followed by a reduce (maximum).</a:t>
            </a:r>
            <a:endParaRPr/>
          </a:p>
        </p:txBody>
      </p:sp>
      <p:sp>
        <p:nvSpPr>
          <p:cNvPr id="709" name="Google Shape;709;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2" name="Google Shape;77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Walk through it. thrust::transform has a version that takes two input sequences. thrust::reduce with thrust::maximum finds the largest value. It works. But look at the diff vector: we allocate it, write every difference into it, then read every difference back once and never use it again. The original NVIDIA notebook literally calls it unnecessarily_materialized_diff.</a:t>
            </a:r>
            <a:endParaRPr/>
          </a:p>
        </p:txBody>
      </p:sp>
      <p:sp>
        <p:nvSpPr>
          <p:cNvPr id="773" name="Google Shape;773;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9" name="Google Shape;819;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Count memory accesses. Naive: transform reads n from a and n from b and writes n differences, then reduce reads those n back: 4n total. A hand-written loop only reads a and b: 2n. Like most algorithms, this one is memory bound: the GPU spends its time waiting on memory, not doing math. So cutting memory traffic in half should make it about twice as fast. The diff vector also takes up GPU memory, which matters when vectors are big. Car-and-bus callback: the bus is only fast if you don't make extra trips.</a:t>
            </a:r>
            <a:endParaRPr/>
          </a:p>
        </p:txBody>
      </p:sp>
      <p:sp>
        <p:nvSpPr>
          <p:cNvPr id="820" name="Google Shape;820;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9" name="Shape 879"/>
        <p:cNvGrpSpPr/>
        <p:nvPr/>
      </p:nvGrpSpPr>
      <p:grpSpPr>
        <a:xfrm>
          <a:off x="0" y="0"/>
          <a:ext cx="0" cy="0"/>
          <a:chOff x="0" y="0"/>
          <a:chExt cx="0" cy="0"/>
        </a:xfrm>
      </p:grpSpPr>
      <p:sp>
        <p:nvSpPr>
          <p:cNvPr id="880" name="Google Shape;88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1" name="Google Shape;881;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Key mental model: an iterator is a generalization of a pointer. A pointer reads from memory. But in C++ we can overload operator[] (and * and ++), so 'reading' an iterator can run arbitrary code. The counting iterator just returns the index you ask for. That's an infinite sequence that uses zero memory.</a:t>
            </a:r>
            <a:endParaRPr/>
          </a:p>
        </p:txBody>
      </p:sp>
      <p:sp>
        <p:nvSpPr>
          <p:cNvPr id="882" name="Google Shape;882;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0" name="Google Shape;930;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These are simplified versions of real library iterators. A transform iterator applies a function to whatever it reads. A zip iterator reads from two sequences at once and hands back a pair. The powerful part: they compose. Put a zip inside a transform and reading element i gives you |a[i] - b[i]|, calculated on the fly. That's exactly the sequence we stored in the diff vector, except now it's never written to memory. Iterators can also work on the output side: a transform_output_iterator changes values as they are written, and a discard_iterator just throws writes away.</a:t>
            </a:r>
            <a:endParaRPr/>
          </a:p>
        </p:txBody>
      </p:sp>
      <p:sp>
        <p:nvSpPr>
          <p:cNvPr id="931" name="Google Shape;931;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5" name="Shape 985"/>
        <p:cNvGrpSpPr/>
        <p:nvPr/>
      </p:nvGrpSpPr>
      <p:grpSpPr>
        <a:xfrm>
          <a:off x="0" y="0"/>
          <a:ext cx="0" cy="0"/>
          <a:chOff x="0" y="0"/>
          <a:chExt cx="0" cy="0"/>
        </a:xfrm>
      </p:grpSpPr>
      <p:sp>
        <p:nvSpPr>
          <p:cNvPr id="986" name="Google Shape;98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7" name="Google Shape;987;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These are the production versions in Thrust. The make_ functions build them so you don't have to write out the long template types; use auto. We'll use zip and transform right now; counting and discard come back later today and in the next section.</a:t>
            </a:r>
            <a:endParaRPr/>
          </a:p>
        </p:txBody>
      </p:sp>
      <p:sp>
        <p:nvSpPr>
          <p:cNvPr id="988" name="Google Shape;988;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1" name="Google Shape;1051;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Variance measures how spread out the temperatures are. Same pattern as max_change: compute something per element, then sum it with reduce. The only new thing is that the lambda needs the mean, so capture it by value with [mean]. reduce with no operator sums by default. The expected output shows the temperatures converging: the spread shrinks each step.</a:t>
            </a:r>
            <a:endParaRPr/>
          </a:p>
        </p:txBody>
      </p:sp>
      <p:sp>
        <p:nvSpPr>
          <p:cNvPr id="1052" name="Google Shape;1052;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7" name="Shape 1097"/>
        <p:cNvGrpSpPr/>
        <p:nvPr/>
      </p:nvGrpSpPr>
      <p:grpSpPr>
        <a:xfrm>
          <a:off x="0" y="0"/>
          <a:ext cx="0" cy="0"/>
          <a:chOff x="0" y="0"/>
          <a:chExt cx="0" cy="0"/>
        </a:xfrm>
      </p:grpSpPr>
      <p:sp>
        <p:nvSpPr>
          <p:cNvPr id="1098" name="Google Shape;1098;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9" name="Google Shape;1099;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Capture mean by value, not by reference: the lambda runs on the GPU, and a reference to a CPU stack variable would not be valid there. Point out the general pattern: anything shaped like 'do something to each element and then combine' is a transform iterator feeding a reduce. Mean, variance, max difference, dot product, all the same shape.</a:t>
            </a:r>
            <a:endParaRPr/>
          </a:p>
        </p:txBody>
      </p:sp>
      <p:sp>
        <p:nvSpPr>
          <p:cNvPr id="1100" name="Google Shape;1100;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6" name="Shape 1146"/>
        <p:cNvGrpSpPr/>
        <p:nvPr/>
      </p:nvGrpSpPr>
      <p:grpSpPr>
        <a:xfrm>
          <a:off x="0" y="0"/>
          <a:ext cx="0" cy="0"/>
          <a:chOff x="0" y="0"/>
          <a:chExt cx="0" cy="0"/>
        </a:xfrm>
      </p:grpSpPr>
      <p:sp>
        <p:nvSpPr>
          <p:cNvPr id="1147" name="Google Shape;1147;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8" name="Google Shape;1148;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This is the bridge to our image projects. A 1080p image is 1920 by 1080 pixels, but in memory it's one array of about 2 million values, stored row after row. To go from (row, col) to the flat index: row times width plus col. Going back: divide and mod by width. The course uses a 2D heat simulation to practice this: each cell is updated from its neighbors above, below, left and right. That's the same access pattern as a blur filter.</a:t>
            </a:r>
            <a:endParaRPr/>
          </a:p>
        </p:txBody>
      </p:sp>
      <p:sp>
        <p:nvSpPr>
          <p:cNvPr id="1149" name="Google Shape;1149;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1" name="Shape 1241"/>
        <p:cNvGrpSpPr/>
        <p:nvPr/>
      </p:nvGrpSpPr>
      <p:grpSpPr>
        <a:xfrm>
          <a:off x="0" y="0"/>
          <a:ext cx="0" cy="0"/>
          <a:chOff x="0" y="0"/>
          <a:chExt cx="0" cy="0"/>
        </a:xfrm>
      </p:grpSpPr>
      <p:sp>
        <p:nvSpPr>
          <p:cNvPr id="1242" name="Google Shape;1242;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3" name="Google Shape;1243;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tabulate calls your function with each output index and stores the result at that index. It's the same as transforming a counting iterator, just shorter. The lambda gets a raw pointer to the input (thrust::raw_pointer_cast(in.data())) because we need to read neighbors, not just element id. Inside, the heat update reads the cell and its four neighbors. Edges stay unchanged. Look at all that index math: it works, but it's unreadable and one typo reads the wrong cell.</a:t>
            </a:r>
            <a:endParaRPr/>
          </a:p>
        </p:txBody>
      </p:sp>
      <p:sp>
        <p:nvSpPr>
          <p:cNvPr id="1244" name="Google Shape;1244;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0" name="Shape 1290"/>
        <p:cNvGrpSpPr/>
        <p:nvPr/>
      </p:nvGrpSpPr>
      <p:grpSpPr>
        <a:xfrm>
          <a:off x="0" y="0"/>
          <a:ext cx="0" cy="0"/>
          <a:chOff x="0" y="0"/>
          <a:chExt cx="0" cy="0"/>
        </a:xfrm>
      </p:grpSpPr>
      <p:sp>
        <p:nvSpPr>
          <p:cNvPr id="1291" name="Google Shape;1291;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2" name="Google Shape;1292;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Same lesson as the specifier grid from last time, but now about library code. std::make_pair is compiled for the CPU only, so a __host__ __device__ function can't call it. libcu++ (remember the software stack slide: it's the layer under Thrust) provides GPU-ready versions of standard types. Just prefix cuda:: and it works on both sides. Then in the lambda: auto [row, column] = row_col(id, width);</a:t>
            </a:r>
            <a:endParaRPr/>
          </a:p>
        </p:txBody>
      </p:sp>
      <p:sp>
        <p:nvSpPr>
          <p:cNvPr id="1293" name="Google Shape;1293;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8" name="Shape 1338"/>
        <p:cNvGrpSpPr/>
        <p:nvPr/>
      </p:nvGrpSpPr>
      <p:grpSpPr>
        <a:xfrm>
          <a:off x="0" y="0"/>
          <a:ext cx="0" cy="0"/>
          <a:chOff x="0" y="0"/>
          <a:chExt cx="0" cy="0"/>
        </a:xfrm>
      </p:grpSpPr>
      <p:sp>
        <p:nvSpPr>
          <p:cNvPr id="1339" name="Google Shape;1339;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0" name="Google Shape;1340;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mdspan is a C++23 standard type, and libcu++ makes it available on the GPU as cuda::std::mdspan. It's just a pointer plus the shape, cheap to copy into a lambda. md(row, col) does the flattening math for you, and md.extent(0) and md.extent(1) give height and width, so you don't need to pass them separately. Spoiler for the project: with three extents you get md(row, col, channel) for RGB pixels.</a:t>
            </a:r>
            <a:endParaRPr/>
          </a:p>
        </p:txBody>
      </p:sp>
      <p:sp>
        <p:nvSpPr>
          <p:cNvPr id="1341" name="Google Shape;1341;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8" name="Shape 1408"/>
        <p:cNvGrpSpPr/>
        <p:nvPr/>
      </p:nvGrpSpPr>
      <p:grpSpPr>
        <a:xfrm>
          <a:off x="0" y="0"/>
          <a:ext cx="0" cy="0"/>
          <a:chOff x="0" y="0"/>
          <a:chExt cx="0" cy="0"/>
        </a:xfrm>
      </p:grpSpPr>
      <p:sp>
        <p:nvSpPr>
          <p:cNvPr id="1409" name="Google Shape;1409;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0" name="Google Shape;1410;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Tie it back to Project 1. Last time we said grayscale is one transform over every pixel. With today's tools it reads naturally: a 3D mdspan over the RGB buffer, and tabulate gives each thread one pixel index. img(row, col, 0) is red, 1 is green, 2 is blue. This assumes the image is stored as interleaved R,G,B floats; if it's unsigned char, the math is the same and the result just gets converted when stored. Encourage people to try this before next meeting.</a:t>
            </a:r>
            <a:endParaRPr/>
          </a:p>
        </p:txBody>
      </p:sp>
      <p:sp>
        <p:nvSpPr>
          <p:cNvPr id="1411" name="Google Shape;1411;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1" name="Shape 1471"/>
        <p:cNvGrpSpPr/>
        <p:nvPr/>
      </p:nvGrpSpPr>
      <p:grpSpPr>
        <a:xfrm>
          <a:off x="0" y="0"/>
          <a:ext cx="0" cy="0"/>
          <a:chOff x="0" y="0"/>
          <a:chExt cx="0" cy="0"/>
        </a:xfrm>
      </p:grpSpPr>
      <p:sp>
        <p:nvSpPr>
          <p:cNvPr id="1472" name="Google Shape;1472;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3" name="Google Shape;1473;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Quick recap. If there's time, ask people which tool they'd use for: summing every pixel's brightness (transform iterator + reduce), and producing a blurred image (tabulate + mdspan).</a:t>
            </a:r>
            <a:endParaRPr/>
          </a:p>
        </p:txBody>
      </p:sp>
      <p:sp>
        <p:nvSpPr>
          <p:cNvPr id="1474" name="Google Shape;1474;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5" name="Shape 1525"/>
        <p:cNvGrpSpPr/>
        <p:nvPr/>
      </p:nvGrpSpPr>
      <p:grpSpPr>
        <a:xfrm>
          <a:off x="0" y="0"/>
          <a:ext cx="0" cy="0"/>
          <a:chOff x="0" y="0"/>
          <a:chExt cx="0" cy="0"/>
        </a:xfrm>
      </p:grpSpPr>
      <p:sp>
        <p:nvSpPr>
          <p:cNvPr id="1526" name="Google Shape;1526;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7" name="Google Shape;1527;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Next section of the course: serial vs parallel. We'll see that putting a for-loop inside a GPU lambda can make the GPU use less than one percent of its memory bandwidth, and fix it with reduce_by_key, which uses the counting and discard iterators from today. Close by asking people to finish the exercises and post their benchmark numbers.</a:t>
            </a:r>
            <a:endParaRPr/>
          </a:p>
        </p:txBody>
      </p:sp>
      <p:sp>
        <p:nvSpPr>
          <p:cNvPr id="1528" name="Google Shape;1528;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1B1D"/>
        </a:solidFill>
      </p:bgPr>
    </p:bg>
    <p:spTree>
      <p:nvGrpSpPr>
        <p:cNvPr id="15" name="Shape 15"/>
        <p:cNvGrpSpPr/>
        <p:nvPr/>
      </p:nvGrpSpPr>
      <p:grpSpPr>
        <a:xfrm>
          <a:off x="0" y="0"/>
          <a:ext cx="0" cy="0"/>
          <a:chOff x="0" y="0"/>
          <a:chExt cx="0" cy="0"/>
        </a:xfrm>
      </p:grpSpPr>
      <p:sp>
        <p:nvSpPr>
          <p:cNvPr id="16" name="Google Shape;16;p1"/>
          <p:cNvSpPr txBox="1"/>
          <p:nvPr/>
        </p:nvSpPr>
        <p:spPr>
          <a:xfrm>
            <a:off x="548640" y="1188720"/>
            <a:ext cx="4572000" cy="32004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1400" u="none" cap="none" strike="noStrike">
                <a:solidFill>
                  <a:srgbClr val="76B900"/>
                </a:solidFill>
                <a:latin typeface="Arial"/>
                <a:ea typeface="Arial"/>
                <a:cs typeface="Arial"/>
                <a:sym typeface="Arial"/>
              </a:rPr>
              <a:t>AGGIE CODING CLUB  ·  MEETING 2</a:t>
            </a:r>
            <a:endParaRPr/>
          </a:p>
        </p:txBody>
      </p:sp>
      <p:sp>
        <p:nvSpPr>
          <p:cNvPr id="17" name="Google Shape;17;p1"/>
          <p:cNvSpPr txBox="1"/>
          <p:nvPr/>
        </p:nvSpPr>
        <p:spPr>
          <a:xfrm>
            <a:off x="548640" y="1554480"/>
            <a:ext cx="4754880" cy="91440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5400" u="none" cap="none" strike="noStrike">
                <a:solidFill>
                  <a:srgbClr val="FFFFFF"/>
                </a:solidFill>
                <a:latin typeface="Arial"/>
                <a:ea typeface="Arial"/>
                <a:cs typeface="Arial"/>
                <a:sym typeface="Arial"/>
              </a:rPr>
              <a:t>CUDA Vision</a:t>
            </a:r>
            <a:endParaRPr/>
          </a:p>
        </p:txBody>
      </p:sp>
      <p:sp>
        <p:nvSpPr>
          <p:cNvPr id="18" name="Google Shape;18;p1"/>
          <p:cNvSpPr txBox="1"/>
          <p:nvPr/>
        </p:nvSpPr>
        <p:spPr>
          <a:xfrm>
            <a:off x="548640" y="2514600"/>
            <a:ext cx="4480560" cy="73152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0" i="0" lang="en-US" sz="2000" u="none" cap="none" strike="noStrike">
                <a:solidFill>
                  <a:srgbClr val="CFCFCF"/>
                </a:solidFill>
                <a:latin typeface="Arial"/>
                <a:ea typeface="Arial"/>
                <a:cs typeface="Arial"/>
                <a:sym typeface="Arial"/>
              </a:rPr>
              <a:t>Beyond std::  —  fancy iterators and 2D data on the GPU</a:t>
            </a:r>
            <a:endParaRPr/>
          </a:p>
        </p:txBody>
      </p:sp>
      <p:sp>
        <p:nvSpPr>
          <p:cNvPr id="19" name="Google Shape;19;p1"/>
          <p:cNvSpPr/>
          <p:nvPr/>
        </p:nvSpPr>
        <p:spPr>
          <a:xfrm>
            <a:off x="5394960" y="822960"/>
            <a:ext cx="384048" cy="384048"/>
          </a:xfrm>
          <a:prstGeom prst="roundRect">
            <a:avLst>
              <a:gd fmla="val 8000" name="adj"/>
            </a:avLst>
          </a:prstGeom>
          <a:solidFill>
            <a:srgbClr val="457B9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 name="Google Shape;20;p1"/>
          <p:cNvSpPr/>
          <p:nvPr/>
        </p:nvSpPr>
        <p:spPr>
          <a:xfrm>
            <a:off x="5833872" y="822960"/>
            <a:ext cx="384048" cy="384048"/>
          </a:xfrm>
          <a:prstGeom prst="roundRect">
            <a:avLst>
              <a:gd fmla="val 8000" name="adj"/>
            </a:avLst>
          </a:prstGeom>
          <a:solidFill>
            <a:srgbClr val="76B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 name="Google Shape;21;p1"/>
          <p:cNvSpPr/>
          <p:nvPr/>
        </p:nvSpPr>
        <p:spPr>
          <a:xfrm>
            <a:off x="6272784" y="822960"/>
            <a:ext cx="384048" cy="384048"/>
          </a:xfrm>
          <a:prstGeom prst="roundRect">
            <a:avLst>
              <a:gd fmla="val 8000" name="adj"/>
            </a:avLst>
          </a:prstGeom>
          <a:solidFill>
            <a:srgbClr val="8338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 name="Google Shape;22;p1"/>
          <p:cNvSpPr/>
          <p:nvPr/>
        </p:nvSpPr>
        <p:spPr>
          <a:xfrm>
            <a:off x="6711696" y="822960"/>
            <a:ext cx="384048" cy="384048"/>
          </a:xfrm>
          <a:prstGeom prst="roundRect">
            <a:avLst>
              <a:gd fmla="val 8000" name="adj"/>
            </a:avLst>
          </a:prstGeom>
          <a:solidFill>
            <a:srgbClr val="E6394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 name="Google Shape;23;p1"/>
          <p:cNvSpPr/>
          <p:nvPr/>
        </p:nvSpPr>
        <p:spPr>
          <a:xfrm>
            <a:off x="7150608" y="822960"/>
            <a:ext cx="384048" cy="384048"/>
          </a:xfrm>
          <a:prstGeom prst="roundRect">
            <a:avLst>
              <a:gd fmla="val 8000" name="adj"/>
            </a:avLst>
          </a:prstGeom>
          <a:solidFill>
            <a:srgbClr val="5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 name="Google Shape;24;p1"/>
          <p:cNvSpPr/>
          <p:nvPr/>
        </p:nvSpPr>
        <p:spPr>
          <a:xfrm>
            <a:off x="7589520" y="822960"/>
            <a:ext cx="384048" cy="384048"/>
          </a:xfrm>
          <a:prstGeom prst="roundRect">
            <a:avLst>
              <a:gd fmla="val 8000" name="adj"/>
            </a:avLst>
          </a:prstGeom>
          <a:solidFill>
            <a:srgbClr val="FF00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 name="Google Shape;25;p1"/>
          <p:cNvSpPr/>
          <p:nvPr/>
        </p:nvSpPr>
        <p:spPr>
          <a:xfrm>
            <a:off x="8028432" y="822960"/>
            <a:ext cx="384048" cy="384048"/>
          </a:xfrm>
          <a:prstGeom prst="roundRect">
            <a:avLst>
              <a:gd fmla="val 8000" name="adj"/>
            </a:avLst>
          </a:prstGeom>
          <a:solidFill>
            <a:srgbClr val="F4A26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 name="Google Shape;26;p1"/>
          <p:cNvSpPr/>
          <p:nvPr/>
        </p:nvSpPr>
        <p:spPr>
          <a:xfrm>
            <a:off x="8467344" y="822960"/>
            <a:ext cx="384048" cy="384048"/>
          </a:xfrm>
          <a:prstGeom prst="roundRect">
            <a:avLst>
              <a:gd fmla="val 8000" name="adj"/>
            </a:avLst>
          </a:prstGeom>
          <a:solidFill>
            <a:srgbClr val="06D6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 name="Google Shape;27;p1"/>
          <p:cNvSpPr/>
          <p:nvPr/>
        </p:nvSpPr>
        <p:spPr>
          <a:xfrm>
            <a:off x="5394960" y="1481328"/>
            <a:ext cx="384048" cy="384048"/>
          </a:xfrm>
          <a:prstGeom prst="roundRect">
            <a:avLst>
              <a:gd fmla="val 8000" name="adj"/>
            </a:avLst>
          </a:prstGeom>
          <a:solidFill>
            <a:srgbClr val="6F6F6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 name="Google Shape;28;p1"/>
          <p:cNvSpPr/>
          <p:nvPr/>
        </p:nvSpPr>
        <p:spPr>
          <a:xfrm>
            <a:off x="5833872" y="1481328"/>
            <a:ext cx="384048" cy="384048"/>
          </a:xfrm>
          <a:prstGeom prst="roundRect">
            <a:avLst>
              <a:gd fmla="val 8000" name="adj"/>
            </a:avLst>
          </a:prstGeom>
          <a:solidFill>
            <a:srgbClr val="5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 name="Google Shape;29;p1"/>
          <p:cNvSpPr/>
          <p:nvPr/>
        </p:nvSpPr>
        <p:spPr>
          <a:xfrm>
            <a:off x="6272784" y="1481328"/>
            <a:ext cx="384048" cy="384048"/>
          </a:xfrm>
          <a:prstGeom prst="roundRect">
            <a:avLst>
              <a:gd fmla="val 8000" name="adj"/>
            </a:avLst>
          </a:prstGeom>
          <a:solidFill>
            <a:srgbClr val="FF00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 name="Google Shape;30;p1"/>
          <p:cNvSpPr/>
          <p:nvPr/>
        </p:nvSpPr>
        <p:spPr>
          <a:xfrm>
            <a:off x="6711696" y="1481328"/>
            <a:ext cx="384048" cy="384048"/>
          </a:xfrm>
          <a:prstGeom prst="roundRect">
            <a:avLst>
              <a:gd fmla="val 8000" name="adj"/>
            </a:avLst>
          </a:prstGeom>
          <a:solidFill>
            <a:srgbClr val="6F6F6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 name="Google Shape;31;p1"/>
          <p:cNvSpPr/>
          <p:nvPr/>
        </p:nvSpPr>
        <p:spPr>
          <a:xfrm>
            <a:off x="7150608" y="1481328"/>
            <a:ext cx="384048" cy="384048"/>
          </a:xfrm>
          <a:prstGeom prst="roundRect">
            <a:avLst>
              <a:gd fmla="val 8000" name="adj"/>
            </a:avLst>
          </a:prstGeom>
          <a:solidFill>
            <a:srgbClr val="06D6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 name="Google Shape;32;p1"/>
          <p:cNvSpPr/>
          <p:nvPr/>
        </p:nvSpPr>
        <p:spPr>
          <a:xfrm>
            <a:off x="7589520" y="1481328"/>
            <a:ext cx="384048" cy="384048"/>
          </a:xfrm>
          <a:prstGeom prst="roundRect">
            <a:avLst>
              <a:gd fmla="val 8000" name="adj"/>
            </a:avLst>
          </a:prstGeom>
          <a:solidFill>
            <a:srgbClr val="3A8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 name="Google Shape;33;p1"/>
          <p:cNvSpPr/>
          <p:nvPr/>
        </p:nvSpPr>
        <p:spPr>
          <a:xfrm>
            <a:off x="8028432" y="1481328"/>
            <a:ext cx="384048" cy="384048"/>
          </a:xfrm>
          <a:prstGeom prst="roundRect">
            <a:avLst>
              <a:gd fmla="val 8000" name="adj"/>
            </a:avLst>
          </a:prstGeom>
          <a:solidFill>
            <a:srgbClr val="6F6F6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 name="Google Shape;34;p1"/>
          <p:cNvSpPr/>
          <p:nvPr/>
        </p:nvSpPr>
        <p:spPr>
          <a:xfrm>
            <a:off x="8467344" y="1481328"/>
            <a:ext cx="384048" cy="384048"/>
          </a:xfrm>
          <a:prstGeom prst="roundRect">
            <a:avLst>
              <a:gd fmla="val 8000" name="adj"/>
            </a:avLst>
          </a:prstGeom>
          <a:solidFill>
            <a:srgbClr val="FB560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 name="Google Shape;35;p1"/>
          <p:cNvSpPr/>
          <p:nvPr/>
        </p:nvSpPr>
        <p:spPr>
          <a:xfrm>
            <a:off x="5394960" y="1920240"/>
            <a:ext cx="384048" cy="384048"/>
          </a:xfrm>
          <a:prstGeom prst="roundRect">
            <a:avLst>
              <a:gd fmla="val 8000" name="adj"/>
            </a:avLst>
          </a:prstGeom>
          <a:solidFill>
            <a:srgbClr val="E9C46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 name="Google Shape;36;p1"/>
          <p:cNvSpPr/>
          <p:nvPr/>
        </p:nvSpPr>
        <p:spPr>
          <a:xfrm>
            <a:off x="5833872" y="1920240"/>
            <a:ext cx="384048" cy="384048"/>
          </a:xfrm>
          <a:prstGeom prst="roundRect">
            <a:avLst>
              <a:gd fmla="val 8000" name="adj"/>
            </a:avLst>
          </a:prstGeom>
          <a:solidFill>
            <a:srgbClr val="457B9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 name="Google Shape;37;p1"/>
          <p:cNvSpPr/>
          <p:nvPr/>
        </p:nvSpPr>
        <p:spPr>
          <a:xfrm>
            <a:off x="6272784" y="1920240"/>
            <a:ext cx="384048" cy="384048"/>
          </a:xfrm>
          <a:prstGeom prst="roundRect">
            <a:avLst>
              <a:gd fmla="val 8000" name="adj"/>
            </a:avLst>
          </a:prstGeom>
          <a:solidFill>
            <a:srgbClr val="6F6F6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 name="Google Shape;38;p1"/>
          <p:cNvSpPr/>
          <p:nvPr/>
        </p:nvSpPr>
        <p:spPr>
          <a:xfrm>
            <a:off x="6711696" y="1920240"/>
            <a:ext cx="384048" cy="384048"/>
          </a:xfrm>
          <a:prstGeom prst="roundRect">
            <a:avLst>
              <a:gd fmla="val 8000" name="adj"/>
            </a:avLst>
          </a:prstGeom>
          <a:solidFill>
            <a:srgbClr val="8338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 name="Google Shape;39;p1"/>
          <p:cNvSpPr/>
          <p:nvPr/>
        </p:nvSpPr>
        <p:spPr>
          <a:xfrm>
            <a:off x="7150608" y="1920240"/>
            <a:ext cx="384048" cy="384048"/>
          </a:xfrm>
          <a:prstGeom prst="roundRect">
            <a:avLst>
              <a:gd fmla="val 8000" name="adj"/>
            </a:avLst>
          </a:prstGeom>
          <a:solidFill>
            <a:srgbClr val="E6394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 name="Google Shape;40;p1"/>
          <p:cNvSpPr/>
          <p:nvPr/>
        </p:nvSpPr>
        <p:spPr>
          <a:xfrm>
            <a:off x="7589520" y="1920240"/>
            <a:ext cx="384048" cy="384048"/>
          </a:xfrm>
          <a:prstGeom prst="roundRect">
            <a:avLst>
              <a:gd fmla="val 8000" name="adj"/>
            </a:avLst>
          </a:prstGeom>
          <a:solidFill>
            <a:srgbClr val="6F6F6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 name="Google Shape;41;p1"/>
          <p:cNvSpPr/>
          <p:nvPr/>
        </p:nvSpPr>
        <p:spPr>
          <a:xfrm>
            <a:off x="8028432" y="1920240"/>
            <a:ext cx="384048" cy="384048"/>
          </a:xfrm>
          <a:prstGeom prst="roundRect">
            <a:avLst>
              <a:gd fmla="val 8000" name="adj"/>
            </a:avLst>
          </a:prstGeom>
          <a:solidFill>
            <a:srgbClr val="FF00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 name="Google Shape;42;p1"/>
          <p:cNvSpPr/>
          <p:nvPr/>
        </p:nvSpPr>
        <p:spPr>
          <a:xfrm>
            <a:off x="8467344" y="1920240"/>
            <a:ext cx="384048" cy="384048"/>
          </a:xfrm>
          <a:prstGeom prst="roundRect">
            <a:avLst>
              <a:gd fmla="val 8000" name="adj"/>
            </a:avLst>
          </a:prstGeom>
          <a:solidFill>
            <a:srgbClr val="F4A26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 name="Google Shape;43;p1"/>
          <p:cNvSpPr/>
          <p:nvPr/>
        </p:nvSpPr>
        <p:spPr>
          <a:xfrm>
            <a:off x="5394960" y="2359152"/>
            <a:ext cx="384048" cy="384048"/>
          </a:xfrm>
          <a:prstGeom prst="roundRect">
            <a:avLst>
              <a:gd fmla="val 8000" name="adj"/>
            </a:avLst>
          </a:prstGeom>
          <a:solidFill>
            <a:srgbClr val="06D6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 name="Google Shape;44;p1"/>
          <p:cNvSpPr/>
          <p:nvPr/>
        </p:nvSpPr>
        <p:spPr>
          <a:xfrm>
            <a:off x="5833872" y="2359152"/>
            <a:ext cx="384048" cy="384048"/>
          </a:xfrm>
          <a:prstGeom prst="roundRect">
            <a:avLst>
              <a:gd fmla="val 8000" name="adj"/>
            </a:avLst>
          </a:prstGeom>
          <a:solidFill>
            <a:srgbClr val="6F6F6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 name="Google Shape;45;p1"/>
          <p:cNvSpPr/>
          <p:nvPr/>
        </p:nvSpPr>
        <p:spPr>
          <a:xfrm>
            <a:off x="6272784" y="2359152"/>
            <a:ext cx="384048" cy="384048"/>
          </a:xfrm>
          <a:prstGeom prst="roundRect">
            <a:avLst>
              <a:gd fmla="val 8000" name="adj"/>
            </a:avLst>
          </a:prstGeom>
          <a:solidFill>
            <a:srgbClr val="2A9D8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 name="Google Shape;46;p1"/>
          <p:cNvSpPr/>
          <p:nvPr/>
        </p:nvSpPr>
        <p:spPr>
          <a:xfrm>
            <a:off x="6711696" y="2359152"/>
            <a:ext cx="384048" cy="384048"/>
          </a:xfrm>
          <a:prstGeom prst="roundRect">
            <a:avLst>
              <a:gd fmla="val 8000" name="adj"/>
            </a:avLst>
          </a:prstGeom>
          <a:solidFill>
            <a:srgbClr val="FB560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 name="Google Shape;47;p1"/>
          <p:cNvSpPr/>
          <p:nvPr/>
        </p:nvSpPr>
        <p:spPr>
          <a:xfrm>
            <a:off x="7150608" y="2359152"/>
            <a:ext cx="384048" cy="384048"/>
          </a:xfrm>
          <a:prstGeom prst="roundRect">
            <a:avLst>
              <a:gd fmla="val 8000" name="adj"/>
            </a:avLst>
          </a:prstGeom>
          <a:solidFill>
            <a:srgbClr val="6F6F6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 name="Google Shape;48;p1"/>
          <p:cNvSpPr/>
          <p:nvPr/>
        </p:nvSpPr>
        <p:spPr>
          <a:xfrm>
            <a:off x="7589520" y="2359152"/>
            <a:ext cx="384048" cy="384048"/>
          </a:xfrm>
          <a:prstGeom prst="roundRect">
            <a:avLst>
              <a:gd fmla="val 8000" name="adj"/>
            </a:avLst>
          </a:prstGeom>
          <a:solidFill>
            <a:srgbClr val="457B9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 name="Google Shape;49;p1"/>
          <p:cNvSpPr/>
          <p:nvPr/>
        </p:nvSpPr>
        <p:spPr>
          <a:xfrm>
            <a:off x="8028432" y="2359152"/>
            <a:ext cx="384048" cy="384048"/>
          </a:xfrm>
          <a:prstGeom prst="roundRect">
            <a:avLst>
              <a:gd fmla="val 8000" name="adj"/>
            </a:avLst>
          </a:prstGeom>
          <a:solidFill>
            <a:srgbClr val="76B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 name="Google Shape;50;p1"/>
          <p:cNvSpPr/>
          <p:nvPr/>
        </p:nvSpPr>
        <p:spPr>
          <a:xfrm>
            <a:off x="8467344" y="2359152"/>
            <a:ext cx="384048" cy="384048"/>
          </a:xfrm>
          <a:prstGeom prst="roundRect">
            <a:avLst>
              <a:gd fmla="val 8000" name="adj"/>
            </a:avLst>
          </a:prstGeom>
          <a:solidFill>
            <a:srgbClr val="6F6F6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 name="Google Shape;51;p1"/>
          <p:cNvSpPr/>
          <p:nvPr/>
        </p:nvSpPr>
        <p:spPr>
          <a:xfrm>
            <a:off x="5394960" y="2798064"/>
            <a:ext cx="384048" cy="384048"/>
          </a:xfrm>
          <a:prstGeom prst="roundRect">
            <a:avLst>
              <a:gd fmla="val 8000" name="adj"/>
            </a:avLst>
          </a:prstGeom>
          <a:solidFill>
            <a:srgbClr val="6F6F6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 name="Google Shape;52;p1"/>
          <p:cNvSpPr/>
          <p:nvPr/>
        </p:nvSpPr>
        <p:spPr>
          <a:xfrm>
            <a:off x="5833872" y="2798064"/>
            <a:ext cx="384048" cy="384048"/>
          </a:xfrm>
          <a:prstGeom prst="roundRect">
            <a:avLst>
              <a:gd fmla="val 8000" name="adj"/>
            </a:avLst>
          </a:prstGeom>
          <a:solidFill>
            <a:srgbClr val="5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 name="Google Shape;53;p1"/>
          <p:cNvSpPr/>
          <p:nvPr/>
        </p:nvSpPr>
        <p:spPr>
          <a:xfrm>
            <a:off x="6272784" y="2798064"/>
            <a:ext cx="384048" cy="384048"/>
          </a:xfrm>
          <a:prstGeom prst="roundRect">
            <a:avLst>
              <a:gd fmla="val 8000" name="adj"/>
            </a:avLst>
          </a:prstGeom>
          <a:solidFill>
            <a:srgbClr val="FF00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 name="Google Shape;54;p1"/>
          <p:cNvSpPr/>
          <p:nvPr/>
        </p:nvSpPr>
        <p:spPr>
          <a:xfrm>
            <a:off x="6711696" y="2798064"/>
            <a:ext cx="384048" cy="384048"/>
          </a:xfrm>
          <a:prstGeom prst="roundRect">
            <a:avLst>
              <a:gd fmla="val 8000" name="adj"/>
            </a:avLst>
          </a:prstGeom>
          <a:solidFill>
            <a:srgbClr val="6F6F6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 name="Google Shape;55;p1"/>
          <p:cNvSpPr/>
          <p:nvPr/>
        </p:nvSpPr>
        <p:spPr>
          <a:xfrm>
            <a:off x="7150608" y="2798064"/>
            <a:ext cx="384048" cy="384048"/>
          </a:xfrm>
          <a:prstGeom prst="roundRect">
            <a:avLst>
              <a:gd fmla="val 8000" name="adj"/>
            </a:avLst>
          </a:prstGeom>
          <a:solidFill>
            <a:srgbClr val="06D6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 name="Google Shape;56;p1"/>
          <p:cNvSpPr/>
          <p:nvPr/>
        </p:nvSpPr>
        <p:spPr>
          <a:xfrm>
            <a:off x="7589520" y="2798064"/>
            <a:ext cx="384048" cy="384048"/>
          </a:xfrm>
          <a:prstGeom prst="roundRect">
            <a:avLst>
              <a:gd fmla="val 8000" name="adj"/>
            </a:avLst>
          </a:prstGeom>
          <a:solidFill>
            <a:srgbClr val="3A8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7" name="Google Shape;57;p1"/>
          <p:cNvSpPr/>
          <p:nvPr/>
        </p:nvSpPr>
        <p:spPr>
          <a:xfrm>
            <a:off x="8028432" y="2798064"/>
            <a:ext cx="384048" cy="384048"/>
          </a:xfrm>
          <a:prstGeom prst="roundRect">
            <a:avLst>
              <a:gd fmla="val 8000" name="adj"/>
            </a:avLst>
          </a:prstGeom>
          <a:solidFill>
            <a:srgbClr val="6F6F6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8" name="Google Shape;58;p1"/>
          <p:cNvSpPr/>
          <p:nvPr/>
        </p:nvSpPr>
        <p:spPr>
          <a:xfrm>
            <a:off x="8467344" y="2798064"/>
            <a:ext cx="384048" cy="384048"/>
          </a:xfrm>
          <a:prstGeom prst="roundRect">
            <a:avLst>
              <a:gd fmla="val 8000" name="adj"/>
            </a:avLst>
          </a:prstGeom>
          <a:solidFill>
            <a:srgbClr val="FB560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1B1D"/>
        </a:solidFill>
      </p:bgPr>
    </p:bg>
    <p:spTree>
      <p:nvGrpSpPr>
        <p:cNvPr id="63" name="Shape 63"/>
        <p:cNvGrpSpPr/>
        <p:nvPr/>
      </p:nvGrpSpPr>
      <p:grpSpPr>
        <a:xfrm>
          <a:off x="0" y="0"/>
          <a:ext cx="0" cy="0"/>
          <a:chOff x="0" y="0"/>
          <a:chExt cx="0" cy="0"/>
        </a:xfrm>
      </p:grpSpPr>
      <p:sp>
        <p:nvSpPr>
          <p:cNvPr id="64" name="Google Shape;64;p2"/>
          <p:cNvSpPr txBox="1"/>
          <p:nvPr/>
        </p:nvSpPr>
        <p:spPr>
          <a:xfrm>
            <a:off x="548640" y="960120"/>
            <a:ext cx="5486400" cy="32004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1200" u="none" cap="none" strike="noStrike">
                <a:solidFill>
                  <a:srgbClr val="76B900"/>
                </a:solidFill>
                <a:latin typeface="Arial"/>
                <a:ea typeface="Arial"/>
                <a:cs typeface="Arial"/>
                <a:sym typeface="Arial"/>
              </a:rPr>
              <a:t>RECAP  ·  MEETING 1 IN PLAIN ENGLISH</a:t>
            </a:r>
            <a:endParaRPr/>
          </a:p>
        </p:txBody>
      </p:sp>
      <p:sp>
        <p:nvSpPr>
          <p:cNvPr id="65" name="Google Shape;65;p2"/>
          <p:cNvSpPr txBox="1"/>
          <p:nvPr/>
        </p:nvSpPr>
        <p:spPr>
          <a:xfrm>
            <a:off x="548640" y="1325880"/>
            <a:ext cx="5394960" cy="137160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3000" u="none" cap="none" strike="noStrike">
                <a:solidFill>
                  <a:srgbClr val="FFFFFF"/>
                </a:solidFill>
                <a:latin typeface="Arial"/>
                <a:ea typeface="Arial"/>
                <a:cs typeface="Arial"/>
                <a:sym typeface="Arial"/>
              </a:rPr>
              <a:t>Everything from last time, from zero</a:t>
            </a:r>
            <a:endParaRPr/>
          </a:p>
        </p:txBody>
      </p:sp>
      <p:sp>
        <p:nvSpPr>
          <p:cNvPr id="66" name="Google Shape;66;p2"/>
          <p:cNvSpPr/>
          <p:nvPr/>
        </p:nvSpPr>
        <p:spPr>
          <a:xfrm>
            <a:off x="6172200" y="960120"/>
            <a:ext cx="310896" cy="310896"/>
          </a:xfrm>
          <a:prstGeom prst="ellipse">
            <a:avLst/>
          </a:prstGeom>
          <a:solidFill>
            <a:srgbClr val="5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7" name="Google Shape;67;p2"/>
          <p:cNvSpPr txBox="1"/>
          <p:nvPr/>
        </p:nvSpPr>
        <p:spPr>
          <a:xfrm>
            <a:off x="6172200" y="960120"/>
            <a:ext cx="310896" cy="310896"/>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000" u="none" cap="none" strike="noStrike">
                <a:solidFill>
                  <a:srgbClr val="FFFFFF"/>
                </a:solidFill>
                <a:latin typeface="Arial"/>
                <a:ea typeface="Arial"/>
                <a:cs typeface="Arial"/>
                <a:sym typeface="Arial"/>
              </a:rPr>
              <a:t>1</a:t>
            </a:r>
            <a:endParaRPr/>
          </a:p>
        </p:txBody>
      </p:sp>
      <p:sp>
        <p:nvSpPr>
          <p:cNvPr id="68" name="Google Shape;68;p2"/>
          <p:cNvSpPr txBox="1"/>
          <p:nvPr/>
        </p:nvSpPr>
        <p:spPr>
          <a:xfrm>
            <a:off x="6583680" y="941832"/>
            <a:ext cx="2377440" cy="365760"/>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0" i="0" lang="en-US" sz="1100" u="none" cap="none" strike="noStrike">
                <a:solidFill>
                  <a:srgbClr val="FFFFFF"/>
                </a:solidFill>
                <a:latin typeface="Arial"/>
                <a:ea typeface="Arial"/>
                <a:cs typeface="Arial"/>
                <a:sym typeface="Arial"/>
              </a:rPr>
              <a:t>Host and device: two processors</a:t>
            </a:r>
            <a:endParaRPr/>
          </a:p>
        </p:txBody>
      </p:sp>
      <p:sp>
        <p:nvSpPr>
          <p:cNvPr id="69" name="Google Shape;69;p2"/>
          <p:cNvSpPr/>
          <p:nvPr/>
        </p:nvSpPr>
        <p:spPr>
          <a:xfrm>
            <a:off x="6172200" y="1435608"/>
            <a:ext cx="310896" cy="310896"/>
          </a:xfrm>
          <a:prstGeom prst="ellipse">
            <a:avLst/>
          </a:prstGeom>
          <a:solidFill>
            <a:srgbClr val="5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0" name="Google Shape;70;p2"/>
          <p:cNvSpPr txBox="1"/>
          <p:nvPr/>
        </p:nvSpPr>
        <p:spPr>
          <a:xfrm>
            <a:off x="6172200" y="1435608"/>
            <a:ext cx="310896" cy="310896"/>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000" u="none" cap="none" strike="noStrike">
                <a:solidFill>
                  <a:srgbClr val="FFFFFF"/>
                </a:solidFill>
                <a:latin typeface="Arial"/>
                <a:ea typeface="Arial"/>
                <a:cs typeface="Arial"/>
                <a:sym typeface="Arial"/>
              </a:rPr>
              <a:t>2</a:t>
            </a:r>
            <a:endParaRPr/>
          </a:p>
        </p:txBody>
      </p:sp>
      <p:sp>
        <p:nvSpPr>
          <p:cNvPr id="71" name="Google Shape;71;p2"/>
          <p:cNvSpPr txBox="1"/>
          <p:nvPr/>
        </p:nvSpPr>
        <p:spPr>
          <a:xfrm>
            <a:off x="6583680" y="1417320"/>
            <a:ext cx="2377440" cy="365760"/>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0" i="0" lang="en-US" sz="1100" u="none" cap="none" strike="noStrike">
                <a:solidFill>
                  <a:srgbClr val="FFFFFF"/>
                </a:solidFill>
                <a:latin typeface="Arial"/>
                <a:ea typeface="Arial"/>
                <a:cs typeface="Arial"/>
                <a:sym typeface="Arial"/>
              </a:rPr>
              <a:t>C++: vectors and &lt;templates&gt;</a:t>
            </a:r>
            <a:endParaRPr/>
          </a:p>
        </p:txBody>
      </p:sp>
      <p:sp>
        <p:nvSpPr>
          <p:cNvPr id="72" name="Google Shape;72;p2"/>
          <p:cNvSpPr/>
          <p:nvPr/>
        </p:nvSpPr>
        <p:spPr>
          <a:xfrm>
            <a:off x="6172200" y="1911095"/>
            <a:ext cx="310896" cy="310896"/>
          </a:xfrm>
          <a:prstGeom prst="ellipse">
            <a:avLst/>
          </a:prstGeom>
          <a:solidFill>
            <a:srgbClr val="5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3" name="Google Shape;73;p2"/>
          <p:cNvSpPr txBox="1"/>
          <p:nvPr/>
        </p:nvSpPr>
        <p:spPr>
          <a:xfrm>
            <a:off x="6172200" y="1911095"/>
            <a:ext cx="310896" cy="310896"/>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000" u="none" cap="none" strike="noStrike">
                <a:solidFill>
                  <a:srgbClr val="FFFFFF"/>
                </a:solidFill>
                <a:latin typeface="Arial"/>
                <a:ea typeface="Arial"/>
                <a:cs typeface="Arial"/>
                <a:sym typeface="Arial"/>
              </a:rPr>
              <a:t>3</a:t>
            </a:r>
            <a:endParaRPr/>
          </a:p>
        </p:txBody>
      </p:sp>
      <p:sp>
        <p:nvSpPr>
          <p:cNvPr id="74" name="Google Shape;74;p2"/>
          <p:cNvSpPr txBox="1"/>
          <p:nvPr/>
        </p:nvSpPr>
        <p:spPr>
          <a:xfrm>
            <a:off x="6583680" y="1892807"/>
            <a:ext cx="2377440" cy="365760"/>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0" i="0" lang="en-US" sz="1100" u="none" cap="none" strike="noStrike">
                <a:solidFill>
                  <a:srgbClr val="FFFFFF"/>
                </a:solidFill>
                <a:latin typeface="Arial"/>
                <a:ea typeface="Arial"/>
                <a:cs typeface="Arial"/>
                <a:sym typeface="Arial"/>
              </a:rPr>
              <a:t>C++: lambdas (mini functions)</a:t>
            </a:r>
            <a:endParaRPr/>
          </a:p>
        </p:txBody>
      </p:sp>
      <p:sp>
        <p:nvSpPr>
          <p:cNvPr id="75" name="Google Shape;75;p2"/>
          <p:cNvSpPr/>
          <p:nvPr/>
        </p:nvSpPr>
        <p:spPr>
          <a:xfrm>
            <a:off x="6172200" y="2386584"/>
            <a:ext cx="310896" cy="310896"/>
          </a:xfrm>
          <a:prstGeom prst="ellipse">
            <a:avLst/>
          </a:prstGeom>
          <a:solidFill>
            <a:srgbClr val="5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6" name="Google Shape;76;p2"/>
          <p:cNvSpPr txBox="1"/>
          <p:nvPr/>
        </p:nvSpPr>
        <p:spPr>
          <a:xfrm>
            <a:off x="6172200" y="2386584"/>
            <a:ext cx="310896" cy="310896"/>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000" u="none" cap="none" strike="noStrike">
                <a:solidFill>
                  <a:srgbClr val="FFFFFF"/>
                </a:solidFill>
                <a:latin typeface="Arial"/>
                <a:ea typeface="Arial"/>
                <a:cs typeface="Arial"/>
                <a:sym typeface="Arial"/>
              </a:rPr>
              <a:t>4</a:t>
            </a:r>
            <a:endParaRPr/>
          </a:p>
        </p:txBody>
      </p:sp>
      <p:sp>
        <p:nvSpPr>
          <p:cNvPr id="77" name="Google Shape;77;p2"/>
          <p:cNvSpPr txBox="1"/>
          <p:nvPr/>
        </p:nvSpPr>
        <p:spPr>
          <a:xfrm>
            <a:off x="6583680" y="2368296"/>
            <a:ext cx="2377440" cy="365760"/>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0" i="0" lang="en-US" sz="1100" u="none" cap="none" strike="noStrike">
                <a:solidFill>
                  <a:srgbClr val="FFFFFF"/>
                </a:solidFill>
                <a:latin typeface="Arial"/>
                <a:ea typeface="Arial"/>
                <a:cs typeface="Arial"/>
                <a:sym typeface="Arial"/>
              </a:rPr>
              <a:t>C++: iterators and algorithms</a:t>
            </a:r>
            <a:endParaRPr/>
          </a:p>
        </p:txBody>
      </p:sp>
      <p:sp>
        <p:nvSpPr>
          <p:cNvPr id="78" name="Google Shape;78;p2"/>
          <p:cNvSpPr/>
          <p:nvPr/>
        </p:nvSpPr>
        <p:spPr>
          <a:xfrm>
            <a:off x="6172200" y="2862072"/>
            <a:ext cx="310896" cy="310896"/>
          </a:xfrm>
          <a:prstGeom prst="ellipse">
            <a:avLst/>
          </a:prstGeom>
          <a:solidFill>
            <a:srgbClr val="5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9" name="Google Shape;79;p2"/>
          <p:cNvSpPr txBox="1"/>
          <p:nvPr/>
        </p:nvSpPr>
        <p:spPr>
          <a:xfrm>
            <a:off x="6172200" y="2862072"/>
            <a:ext cx="310896" cy="310896"/>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000" u="none" cap="none" strike="noStrike">
                <a:solidFill>
                  <a:srgbClr val="FFFFFF"/>
                </a:solidFill>
                <a:latin typeface="Arial"/>
                <a:ea typeface="Arial"/>
                <a:cs typeface="Arial"/>
                <a:sym typeface="Arial"/>
              </a:rPr>
              <a:t>5</a:t>
            </a:r>
            <a:endParaRPr/>
          </a:p>
        </p:txBody>
      </p:sp>
      <p:sp>
        <p:nvSpPr>
          <p:cNvPr id="80" name="Google Shape;80;p2"/>
          <p:cNvSpPr txBox="1"/>
          <p:nvPr/>
        </p:nvSpPr>
        <p:spPr>
          <a:xfrm>
            <a:off x="6583680" y="2843784"/>
            <a:ext cx="2377440" cy="365760"/>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0" i="0" lang="en-US" sz="1100" u="none" cap="none" strike="noStrike">
                <a:solidFill>
                  <a:srgbClr val="FFFFFF"/>
                </a:solidFill>
                <a:latin typeface="Arial"/>
                <a:ea typeface="Arial"/>
                <a:cs typeface="Arial"/>
                <a:sym typeface="Arial"/>
              </a:rPr>
              <a:t>The two GPU switches</a:t>
            </a:r>
            <a:endParaRPr/>
          </a:p>
        </p:txBody>
      </p:sp>
      <p:sp>
        <p:nvSpPr>
          <p:cNvPr id="81" name="Google Shape;81;p2"/>
          <p:cNvSpPr/>
          <p:nvPr/>
        </p:nvSpPr>
        <p:spPr>
          <a:xfrm>
            <a:off x="6172200" y="3337560"/>
            <a:ext cx="310896" cy="310896"/>
          </a:xfrm>
          <a:prstGeom prst="ellipse">
            <a:avLst/>
          </a:prstGeom>
          <a:solidFill>
            <a:srgbClr val="5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2" name="Google Shape;82;p2"/>
          <p:cNvSpPr txBox="1"/>
          <p:nvPr/>
        </p:nvSpPr>
        <p:spPr>
          <a:xfrm>
            <a:off x="6172200" y="3337560"/>
            <a:ext cx="310896" cy="310896"/>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000" u="none" cap="none" strike="noStrike">
                <a:solidFill>
                  <a:srgbClr val="FFFFFF"/>
                </a:solidFill>
                <a:latin typeface="Arial"/>
                <a:ea typeface="Arial"/>
                <a:cs typeface="Arial"/>
                <a:sym typeface="Arial"/>
              </a:rPr>
              <a:t>6</a:t>
            </a:r>
            <a:endParaRPr/>
          </a:p>
        </p:txBody>
      </p:sp>
      <p:sp>
        <p:nvSpPr>
          <p:cNvPr id="83" name="Google Shape;83;p2"/>
          <p:cNvSpPr txBox="1"/>
          <p:nvPr/>
        </p:nvSpPr>
        <p:spPr>
          <a:xfrm>
            <a:off x="6583680" y="3319272"/>
            <a:ext cx="2377440" cy="365760"/>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0" i="0" lang="en-US" sz="1100" u="none" cap="none" strike="noStrike">
                <a:solidFill>
                  <a:srgbClr val="FFFFFF"/>
                </a:solidFill>
                <a:latin typeface="Arial"/>
                <a:ea typeface="Arial"/>
                <a:cs typeface="Arial"/>
                <a:sym typeface="Arial"/>
              </a:rPr>
              <a:t>Exercise 3, line by line</a:t>
            </a:r>
            <a:endParaRPr/>
          </a:p>
        </p:txBody>
      </p:sp>
      <p:sp>
        <p:nvSpPr>
          <p:cNvPr id="84" name="Google Shape;84;p2"/>
          <p:cNvSpPr/>
          <p:nvPr/>
        </p:nvSpPr>
        <p:spPr>
          <a:xfrm>
            <a:off x="6368796" y="4901184"/>
            <a:ext cx="50292" cy="50292"/>
          </a:xfrm>
          <a:prstGeom prst="rect">
            <a:avLst/>
          </a:prstGeom>
          <a:solidFill>
            <a:srgbClr val="5A3A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2"/>
          <p:cNvSpPr/>
          <p:nvPr/>
        </p:nvSpPr>
        <p:spPr>
          <a:xfrm>
            <a:off x="6441948" y="4901184"/>
            <a:ext cx="50292" cy="50292"/>
          </a:xfrm>
          <a:prstGeom prst="rect">
            <a:avLst/>
          </a:prstGeom>
          <a:solidFill>
            <a:srgbClr val="76B9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2"/>
          <p:cNvSpPr/>
          <p:nvPr/>
        </p:nvSpPr>
        <p:spPr>
          <a:xfrm>
            <a:off x="6515100" y="4901184"/>
            <a:ext cx="50292" cy="50292"/>
          </a:xfrm>
          <a:prstGeom prst="rect">
            <a:avLst/>
          </a:prstGeom>
          <a:solidFill>
            <a:srgbClr val="3434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
          <p:cNvSpPr/>
          <p:nvPr/>
        </p:nvSpPr>
        <p:spPr>
          <a:xfrm>
            <a:off x="6588252" y="4901184"/>
            <a:ext cx="50292" cy="50292"/>
          </a:xfrm>
          <a:prstGeom prst="rect">
            <a:avLst/>
          </a:prstGeom>
          <a:solidFill>
            <a:srgbClr val="3434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
          <p:cNvSpPr/>
          <p:nvPr/>
        </p:nvSpPr>
        <p:spPr>
          <a:xfrm>
            <a:off x="6661404" y="4901184"/>
            <a:ext cx="50292" cy="50292"/>
          </a:xfrm>
          <a:prstGeom prst="rect">
            <a:avLst/>
          </a:prstGeom>
          <a:solidFill>
            <a:srgbClr val="3434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
          <p:cNvSpPr/>
          <p:nvPr/>
        </p:nvSpPr>
        <p:spPr>
          <a:xfrm>
            <a:off x="6734556" y="4901184"/>
            <a:ext cx="50292" cy="50292"/>
          </a:xfrm>
          <a:prstGeom prst="rect">
            <a:avLst/>
          </a:prstGeom>
          <a:solidFill>
            <a:srgbClr val="3434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
          <p:cNvSpPr/>
          <p:nvPr/>
        </p:nvSpPr>
        <p:spPr>
          <a:xfrm>
            <a:off x="6807708" y="4901184"/>
            <a:ext cx="50292" cy="50292"/>
          </a:xfrm>
          <a:prstGeom prst="rect">
            <a:avLst/>
          </a:prstGeom>
          <a:solidFill>
            <a:srgbClr val="3434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
          <p:cNvSpPr/>
          <p:nvPr/>
        </p:nvSpPr>
        <p:spPr>
          <a:xfrm>
            <a:off x="6880860" y="4901184"/>
            <a:ext cx="50292" cy="50292"/>
          </a:xfrm>
          <a:prstGeom prst="rect">
            <a:avLst/>
          </a:prstGeom>
          <a:solidFill>
            <a:srgbClr val="3434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
          <p:cNvSpPr/>
          <p:nvPr/>
        </p:nvSpPr>
        <p:spPr>
          <a:xfrm>
            <a:off x="6954012" y="4901184"/>
            <a:ext cx="50292" cy="50292"/>
          </a:xfrm>
          <a:prstGeom prst="rect">
            <a:avLst/>
          </a:prstGeom>
          <a:solidFill>
            <a:srgbClr val="3434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2"/>
          <p:cNvSpPr/>
          <p:nvPr/>
        </p:nvSpPr>
        <p:spPr>
          <a:xfrm>
            <a:off x="7027164" y="4901184"/>
            <a:ext cx="50292" cy="50292"/>
          </a:xfrm>
          <a:prstGeom prst="rect">
            <a:avLst/>
          </a:prstGeom>
          <a:solidFill>
            <a:srgbClr val="3434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
          <p:cNvSpPr/>
          <p:nvPr/>
        </p:nvSpPr>
        <p:spPr>
          <a:xfrm>
            <a:off x="7100316" y="4901184"/>
            <a:ext cx="50292" cy="50292"/>
          </a:xfrm>
          <a:prstGeom prst="rect">
            <a:avLst/>
          </a:prstGeom>
          <a:solidFill>
            <a:srgbClr val="3434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2"/>
          <p:cNvSpPr/>
          <p:nvPr/>
        </p:nvSpPr>
        <p:spPr>
          <a:xfrm>
            <a:off x="7173468" y="4901184"/>
            <a:ext cx="50292" cy="50292"/>
          </a:xfrm>
          <a:prstGeom prst="rect">
            <a:avLst/>
          </a:prstGeom>
          <a:solidFill>
            <a:srgbClr val="3434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2"/>
          <p:cNvSpPr/>
          <p:nvPr/>
        </p:nvSpPr>
        <p:spPr>
          <a:xfrm>
            <a:off x="7246620" y="4901184"/>
            <a:ext cx="50292" cy="50292"/>
          </a:xfrm>
          <a:prstGeom prst="rect">
            <a:avLst/>
          </a:prstGeom>
          <a:solidFill>
            <a:srgbClr val="3434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2"/>
          <p:cNvSpPr/>
          <p:nvPr/>
        </p:nvSpPr>
        <p:spPr>
          <a:xfrm>
            <a:off x="7319772" y="4901184"/>
            <a:ext cx="50292" cy="50292"/>
          </a:xfrm>
          <a:prstGeom prst="rect">
            <a:avLst/>
          </a:prstGeom>
          <a:solidFill>
            <a:srgbClr val="3434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
          <p:cNvSpPr/>
          <p:nvPr/>
        </p:nvSpPr>
        <p:spPr>
          <a:xfrm>
            <a:off x="7392924" y="4901184"/>
            <a:ext cx="50292" cy="50292"/>
          </a:xfrm>
          <a:prstGeom prst="rect">
            <a:avLst/>
          </a:prstGeom>
          <a:solidFill>
            <a:srgbClr val="3434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2"/>
          <p:cNvSpPr/>
          <p:nvPr/>
        </p:nvSpPr>
        <p:spPr>
          <a:xfrm>
            <a:off x="7466076" y="4901184"/>
            <a:ext cx="50292" cy="50292"/>
          </a:xfrm>
          <a:prstGeom prst="rect">
            <a:avLst/>
          </a:prstGeom>
          <a:solidFill>
            <a:srgbClr val="3434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2"/>
          <p:cNvSpPr/>
          <p:nvPr/>
        </p:nvSpPr>
        <p:spPr>
          <a:xfrm>
            <a:off x="7539228" y="4901184"/>
            <a:ext cx="50292" cy="50292"/>
          </a:xfrm>
          <a:prstGeom prst="rect">
            <a:avLst/>
          </a:prstGeom>
          <a:solidFill>
            <a:srgbClr val="3434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2"/>
          <p:cNvSpPr/>
          <p:nvPr/>
        </p:nvSpPr>
        <p:spPr>
          <a:xfrm>
            <a:off x="7612380" y="4901184"/>
            <a:ext cx="50292" cy="50292"/>
          </a:xfrm>
          <a:prstGeom prst="rect">
            <a:avLst/>
          </a:prstGeom>
          <a:solidFill>
            <a:srgbClr val="3434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2"/>
          <p:cNvSpPr/>
          <p:nvPr/>
        </p:nvSpPr>
        <p:spPr>
          <a:xfrm>
            <a:off x="7685532" y="4901184"/>
            <a:ext cx="50292" cy="50292"/>
          </a:xfrm>
          <a:prstGeom prst="rect">
            <a:avLst/>
          </a:prstGeom>
          <a:solidFill>
            <a:srgbClr val="3434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2"/>
          <p:cNvSpPr/>
          <p:nvPr/>
        </p:nvSpPr>
        <p:spPr>
          <a:xfrm>
            <a:off x="7758684" y="4901184"/>
            <a:ext cx="50292" cy="50292"/>
          </a:xfrm>
          <a:prstGeom prst="rect">
            <a:avLst/>
          </a:prstGeom>
          <a:solidFill>
            <a:srgbClr val="3434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2"/>
          <p:cNvSpPr/>
          <p:nvPr/>
        </p:nvSpPr>
        <p:spPr>
          <a:xfrm>
            <a:off x="7831836" y="4901184"/>
            <a:ext cx="50292" cy="50292"/>
          </a:xfrm>
          <a:prstGeom prst="rect">
            <a:avLst/>
          </a:prstGeom>
          <a:solidFill>
            <a:srgbClr val="3434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2"/>
          <p:cNvSpPr/>
          <p:nvPr/>
        </p:nvSpPr>
        <p:spPr>
          <a:xfrm>
            <a:off x="7904988" y="4901184"/>
            <a:ext cx="50292" cy="50292"/>
          </a:xfrm>
          <a:prstGeom prst="rect">
            <a:avLst/>
          </a:prstGeom>
          <a:solidFill>
            <a:srgbClr val="3434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2"/>
          <p:cNvSpPr/>
          <p:nvPr/>
        </p:nvSpPr>
        <p:spPr>
          <a:xfrm>
            <a:off x="7978140" y="4901184"/>
            <a:ext cx="50292" cy="50292"/>
          </a:xfrm>
          <a:prstGeom prst="rect">
            <a:avLst/>
          </a:prstGeom>
          <a:solidFill>
            <a:srgbClr val="3434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2"/>
          <p:cNvSpPr/>
          <p:nvPr/>
        </p:nvSpPr>
        <p:spPr>
          <a:xfrm>
            <a:off x="8051292" y="4901184"/>
            <a:ext cx="50292" cy="50292"/>
          </a:xfrm>
          <a:prstGeom prst="rect">
            <a:avLst/>
          </a:prstGeom>
          <a:solidFill>
            <a:srgbClr val="3434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2"/>
          <p:cNvSpPr/>
          <p:nvPr/>
        </p:nvSpPr>
        <p:spPr>
          <a:xfrm>
            <a:off x="8124444" y="4901184"/>
            <a:ext cx="50292" cy="50292"/>
          </a:xfrm>
          <a:prstGeom prst="rect">
            <a:avLst/>
          </a:prstGeom>
          <a:solidFill>
            <a:srgbClr val="3434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2"/>
          <p:cNvSpPr/>
          <p:nvPr/>
        </p:nvSpPr>
        <p:spPr>
          <a:xfrm>
            <a:off x="8197596" y="4901184"/>
            <a:ext cx="50292" cy="50292"/>
          </a:xfrm>
          <a:prstGeom prst="rect">
            <a:avLst/>
          </a:prstGeom>
          <a:solidFill>
            <a:srgbClr val="3434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2"/>
          <p:cNvSpPr/>
          <p:nvPr/>
        </p:nvSpPr>
        <p:spPr>
          <a:xfrm>
            <a:off x="8270748" y="4901184"/>
            <a:ext cx="50292" cy="50292"/>
          </a:xfrm>
          <a:prstGeom prst="rect">
            <a:avLst/>
          </a:prstGeom>
          <a:solidFill>
            <a:srgbClr val="3434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2"/>
          <p:cNvSpPr/>
          <p:nvPr/>
        </p:nvSpPr>
        <p:spPr>
          <a:xfrm>
            <a:off x="8343900" y="4901184"/>
            <a:ext cx="50292" cy="50292"/>
          </a:xfrm>
          <a:prstGeom prst="rect">
            <a:avLst/>
          </a:prstGeom>
          <a:solidFill>
            <a:srgbClr val="3434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2"/>
          <p:cNvSpPr/>
          <p:nvPr/>
        </p:nvSpPr>
        <p:spPr>
          <a:xfrm>
            <a:off x="8417052" y="4901184"/>
            <a:ext cx="50292" cy="50292"/>
          </a:xfrm>
          <a:prstGeom prst="rect">
            <a:avLst/>
          </a:prstGeom>
          <a:solidFill>
            <a:srgbClr val="3434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2"/>
          <p:cNvSpPr/>
          <p:nvPr/>
        </p:nvSpPr>
        <p:spPr>
          <a:xfrm>
            <a:off x="8490204" y="4901184"/>
            <a:ext cx="50292" cy="50292"/>
          </a:xfrm>
          <a:prstGeom prst="rect">
            <a:avLst/>
          </a:prstGeom>
          <a:solidFill>
            <a:srgbClr val="3434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2"/>
          <p:cNvSpPr/>
          <p:nvPr/>
        </p:nvSpPr>
        <p:spPr>
          <a:xfrm>
            <a:off x="8563356" y="4901184"/>
            <a:ext cx="50292" cy="50292"/>
          </a:xfrm>
          <a:prstGeom prst="rect">
            <a:avLst/>
          </a:prstGeom>
          <a:solidFill>
            <a:srgbClr val="3434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2"/>
          <p:cNvSpPr/>
          <p:nvPr/>
        </p:nvSpPr>
        <p:spPr>
          <a:xfrm>
            <a:off x="8636508" y="4901184"/>
            <a:ext cx="50292" cy="50292"/>
          </a:xfrm>
          <a:prstGeom prst="rect">
            <a:avLst/>
          </a:prstGeom>
          <a:solidFill>
            <a:srgbClr val="3434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2"/>
          <p:cNvSpPr txBox="1"/>
          <p:nvPr/>
        </p:nvSpPr>
        <p:spPr>
          <a:xfrm>
            <a:off x="5472684" y="4846320"/>
            <a:ext cx="822960" cy="15544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00" u="none" cap="none" strike="noStrike">
                <a:solidFill>
                  <a:srgbClr val="8A8A92"/>
                </a:solidFill>
                <a:latin typeface="Consolas"/>
                <a:ea typeface="Consolas"/>
                <a:cs typeface="Consolas"/>
                <a:sym typeface="Consolas"/>
              </a:rPr>
              <a:t>slide[1]</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1" name="Shape 121"/>
        <p:cNvGrpSpPr/>
        <p:nvPr/>
      </p:nvGrpSpPr>
      <p:grpSpPr>
        <a:xfrm>
          <a:off x="0" y="0"/>
          <a:ext cx="0" cy="0"/>
          <a:chOff x="0" y="0"/>
          <a:chExt cx="0" cy="0"/>
        </a:xfrm>
      </p:grpSpPr>
      <p:sp>
        <p:nvSpPr>
          <p:cNvPr id="122" name="Google Shape;122;he3b7fdc4d9b28b1_0_0"/>
          <p:cNvSpPr txBox="1"/>
          <p:nvPr/>
        </p:nvSpPr>
        <p:spPr>
          <a:xfrm>
            <a:off x="457200" y="320040"/>
            <a:ext cx="8229600" cy="46800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lang="en-US" sz="2800">
                <a:solidFill>
                  <a:srgbClr val="500000"/>
                </a:solidFill>
              </a:rPr>
              <a:t>Recap: CPU vs GPU</a:t>
            </a:r>
            <a:endParaRPr/>
          </a:p>
        </p:txBody>
      </p:sp>
      <p:sp>
        <p:nvSpPr>
          <p:cNvPr id="123" name="Google Shape;123;he3b7fdc4d9b28b1_0_0"/>
          <p:cNvSpPr txBox="1"/>
          <p:nvPr/>
        </p:nvSpPr>
        <p:spPr>
          <a:xfrm>
            <a:off x="457200" y="868680"/>
            <a:ext cx="8229600" cy="27432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0" i="0" lang="en-US" sz="1200" u="none" cap="none" strike="noStrike">
                <a:solidFill>
                  <a:srgbClr val="6E6E6E"/>
                </a:solidFill>
                <a:latin typeface="Arial"/>
                <a:ea typeface="Arial"/>
                <a:cs typeface="Arial"/>
                <a:sym typeface="Arial"/>
              </a:rPr>
              <a:t>In CUDA they get special names: the host and the device</a:t>
            </a:r>
            <a:endParaRPr/>
          </a:p>
        </p:txBody>
      </p:sp>
      <p:sp>
        <p:nvSpPr>
          <p:cNvPr id="124" name="Google Shape;124;he3b7fdc4d9b28b1_0_0"/>
          <p:cNvSpPr/>
          <p:nvPr/>
        </p:nvSpPr>
        <p:spPr>
          <a:xfrm>
            <a:off x="457200" y="1280160"/>
            <a:ext cx="3931920" cy="1828800"/>
          </a:xfrm>
          <a:prstGeom prst="roundRect">
            <a:avLst>
              <a:gd fmla="val 3500" name="adj"/>
            </a:avLst>
          </a:prstGeom>
          <a:solidFill>
            <a:srgbClr val="F7EEEE"/>
          </a:solidFill>
          <a:ln cap="flat" cmpd="sng" w="9525">
            <a:solidFill>
              <a:srgbClr val="E6D2D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5" name="Google Shape;125;he3b7fdc4d9b28b1_0_0"/>
          <p:cNvSpPr txBox="1"/>
          <p:nvPr/>
        </p:nvSpPr>
        <p:spPr>
          <a:xfrm>
            <a:off x="612648" y="1371600"/>
            <a:ext cx="3621024" cy="164592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1300" u="none" cap="none" strike="noStrike">
                <a:solidFill>
                  <a:srgbClr val="500000"/>
                </a:solidFill>
                <a:latin typeface="Arial"/>
                <a:ea typeface="Arial"/>
                <a:cs typeface="Arial"/>
                <a:sym typeface="Arial"/>
              </a:rPr>
              <a:t>HOST  =  the CPU</a:t>
            </a:r>
            <a:endParaRPr/>
          </a:p>
          <a:p>
            <a:pPr indent="0" lvl="0" marL="0" marR="0" rtl="0" algn="l">
              <a:lnSpc>
                <a:spcPct val="100000"/>
              </a:lnSpc>
              <a:spcBef>
                <a:spcPts val="300"/>
              </a:spcBef>
              <a:spcAft>
                <a:spcPts val="0"/>
              </a:spcAft>
              <a:buNone/>
            </a:pPr>
            <a:r>
              <a:rPr b="0" i="0" lang="en-US" sz="1100" u="none" cap="none" strike="noStrike">
                <a:solidFill>
                  <a:srgbClr val="2B2B2B"/>
                </a:solidFill>
                <a:latin typeface="Arial"/>
                <a:ea typeface="Arial"/>
                <a:cs typeface="Arial"/>
                <a:sym typeface="Arial"/>
              </a:rPr>
              <a:t>The main processor. Your program always starts here, in main().</a:t>
            </a:r>
            <a:endParaRPr/>
          </a:p>
          <a:p>
            <a:pPr indent="0" lvl="0" marL="0" marR="0" rtl="0" algn="l">
              <a:lnSpc>
                <a:spcPct val="100000"/>
              </a:lnSpc>
              <a:spcBef>
                <a:spcPts val="300"/>
              </a:spcBef>
              <a:spcAft>
                <a:spcPts val="0"/>
              </a:spcAft>
              <a:buNone/>
            </a:pPr>
            <a:r>
              <a:rPr b="0" i="0" lang="en-US" sz="1100" u="none" cap="none" strike="noStrike">
                <a:solidFill>
                  <a:srgbClr val="2B2B2B"/>
                </a:solidFill>
                <a:latin typeface="Arial"/>
                <a:ea typeface="Arial"/>
                <a:cs typeface="Arial"/>
                <a:sym typeface="Arial"/>
              </a:rPr>
              <a:t>A few very strong cores. Good at one complicated thing at a time.</a:t>
            </a:r>
            <a:endParaRPr/>
          </a:p>
          <a:p>
            <a:pPr indent="0" lvl="0" marL="0" marR="0" rtl="0" algn="l">
              <a:lnSpc>
                <a:spcPct val="100000"/>
              </a:lnSpc>
              <a:spcBef>
                <a:spcPts val="300"/>
              </a:spcBef>
              <a:spcAft>
                <a:spcPts val="0"/>
              </a:spcAft>
              <a:buNone/>
            </a:pPr>
            <a:r>
              <a:rPr b="0" i="0" lang="en-US" sz="1100" u="none" cap="none" strike="noStrike">
                <a:solidFill>
                  <a:srgbClr val="2B2B2B"/>
                </a:solidFill>
                <a:latin typeface="Arial"/>
                <a:ea typeface="Arial"/>
                <a:cs typeface="Arial"/>
                <a:sym typeface="Arial"/>
              </a:rPr>
              <a:t>Has its own memory (RAM).</a:t>
            </a:r>
            <a:endParaRPr/>
          </a:p>
        </p:txBody>
      </p:sp>
      <p:sp>
        <p:nvSpPr>
          <p:cNvPr id="126" name="Google Shape;126;he3b7fdc4d9b28b1_0_0"/>
          <p:cNvSpPr/>
          <p:nvPr/>
        </p:nvSpPr>
        <p:spPr>
          <a:xfrm>
            <a:off x="4754880" y="1280160"/>
            <a:ext cx="3931920" cy="1828800"/>
          </a:xfrm>
          <a:prstGeom prst="roundRect">
            <a:avLst>
              <a:gd fmla="val 3500" name="adj"/>
            </a:avLst>
          </a:prstGeom>
          <a:solidFill>
            <a:srgbClr val="F2F8E8"/>
          </a:solidFill>
          <a:ln cap="flat" cmpd="sng" w="9525">
            <a:solidFill>
              <a:srgbClr val="D8E8B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7" name="Google Shape;127;he3b7fdc4d9b28b1_0_0"/>
          <p:cNvSpPr txBox="1"/>
          <p:nvPr/>
        </p:nvSpPr>
        <p:spPr>
          <a:xfrm>
            <a:off x="4910328" y="1371600"/>
            <a:ext cx="3621024" cy="164592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1300" u="none" cap="none" strike="noStrike">
                <a:solidFill>
                  <a:srgbClr val="4E7A00"/>
                </a:solidFill>
                <a:latin typeface="Arial"/>
                <a:ea typeface="Arial"/>
                <a:cs typeface="Arial"/>
                <a:sym typeface="Arial"/>
              </a:rPr>
              <a:t>DEVICE  =  the GPU</a:t>
            </a:r>
            <a:endParaRPr/>
          </a:p>
          <a:p>
            <a:pPr indent="0" lvl="0" marL="0" marR="0" rtl="0" algn="l">
              <a:lnSpc>
                <a:spcPct val="100000"/>
              </a:lnSpc>
              <a:spcBef>
                <a:spcPts val="300"/>
              </a:spcBef>
              <a:spcAft>
                <a:spcPts val="0"/>
              </a:spcAft>
              <a:buNone/>
            </a:pPr>
            <a:r>
              <a:rPr b="0" i="0" lang="en-US" sz="1100" u="none" cap="none" strike="noStrike">
                <a:solidFill>
                  <a:srgbClr val="2B2B2B"/>
                </a:solidFill>
                <a:latin typeface="Arial"/>
                <a:ea typeface="Arial"/>
                <a:cs typeface="Arial"/>
                <a:sym typeface="Arial"/>
              </a:rPr>
              <a:t>A helper processor. It only does the work the CPU hands it.</a:t>
            </a:r>
            <a:endParaRPr/>
          </a:p>
          <a:p>
            <a:pPr indent="0" lvl="0" marL="0" marR="0" rtl="0" algn="l">
              <a:lnSpc>
                <a:spcPct val="100000"/>
              </a:lnSpc>
              <a:spcBef>
                <a:spcPts val="300"/>
              </a:spcBef>
              <a:spcAft>
                <a:spcPts val="0"/>
              </a:spcAft>
              <a:buNone/>
            </a:pPr>
            <a:r>
              <a:rPr b="0" i="0" lang="en-US" sz="1100" u="none" cap="none" strike="noStrike">
                <a:solidFill>
                  <a:srgbClr val="2B2B2B"/>
                </a:solidFill>
                <a:latin typeface="Arial"/>
                <a:ea typeface="Arial"/>
                <a:cs typeface="Arial"/>
                <a:sym typeface="Arial"/>
              </a:rPr>
              <a:t>Thousands of small cores. Good at doing the same simple thing to lots of data at once.</a:t>
            </a:r>
            <a:endParaRPr/>
          </a:p>
          <a:p>
            <a:pPr indent="0" lvl="0" marL="0" marR="0" rtl="0" algn="l">
              <a:lnSpc>
                <a:spcPct val="100000"/>
              </a:lnSpc>
              <a:spcBef>
                <a:spcPts val="300"/>
              </a:spcBef>
              <a:spcAft>
                <a:spcPts val="0"/>
              </a:spcAft>
              <a:buNone/>
            </a:pPr>
            <a:r>
              <a:rPr b="0" i="0" lang="en-US" sz="1100" u="none" cap="none" strike="noStrike">
                <a:solidFill>
                  <a:srgbClr val="2B2B2B"/>
                </a:solidFill>
                <a:latin typeface="Arial"/>
                <a:ea typeface="Arial"/>
                <a:cs typeface="Arial"/>
                <a:sym typeface="Arial"/>
              </a:rPr>
              <a:t>Has its own separate memory.</a:t>
            </a:r>
            <a:endParaRPr/>
          </a:p>
        </p:txBody>
      </p:sp>
      <p:sp>
        <p:nvSpPr>
          <p:cNvPr id="128" name="Google Shape;128;he3b7fdc4d9b28b1_0_0"/>
          <p:cNvSpPr txBox="1"/>
          <p:nvPr/>
        </p:nvSpPr>
        <p:spPr>
          <a:xfrm>
            <a:off x="4389120" y="1874519"/>
            <a:ext cx="365760" cy="457200"/>
          </a:xfrm>
          <a:prstGeom prst="rect">
            <a:avLst/>
          </a:prstGeom>
          <a:noFill/>
          <a:ln>
            <a:noFill/>
          </a:ln>
        </p:spPr>
        <p:txBody>
          <a:bodyPr anchorCtr="0" anchor="t" bIns="18275" lIns="36575" spcFirstLastPara="1" rIns="36575" wrap="square" tIns="18275">
            <a:spAutoFit/>
          </a:bodyPr>
          <a:lstStyle/>
          <a:p>
            <a:pPr indent="0" lvl="0" marL="0" marR="0" rtl="0" algn="ctr">
              <a:lnSpc>
                <a:spcPct val="100000"/>
              </a:lnSpc>
              <a:spcBef>
                <a:spcPts val="0"/>
              </a:spcBef>
              <a:spcAft>
                <a:spcPts val="0"/>
              </a:spcAft>
              <a:buNone/>
            </a:pPr>
            <a:r>
              <a:rPr b="1" i="0" lang="en-US" sz="2400" u="none" cap="none" strike="noStrike">
                <a:solidFill>
                  <a:srgbClr val="500000"/>
                </a:solidFill>
                <a:latin typeface="Arial"/>
                <a:ea typeface="Arial"/>
                <a:cs typeface="Arial"/>
                <a:sym typeface="Arial"/>
              </a:rPr>
              <a:t>⇄</a:t>
            </a:r>
            <a:endParaRPr/>
          </a:p>
        </p:txBody>
      </p:sp>
      <p:sp>
        <p:nvSpPr>
          <p:cNvPr id="129" name="Google Shape;129;he3b7fdc4d9b28b1_0_0"/>
          <p:cNvSpPr/>
          <p:nvPr/>
        </p:nvSpPr>
        <p:spPr>
          <a:xfrm>
            <a:off x="457200" y="3246120"/>
            <a:ext cx="8229600" cy="777240"/>
          </a:xfrm>
          <a:prstGeom prst="roundRect">
            <a:avLst>
              <a:gd fmla="val 3500" name="adj"/>
            </a:avLst>
          </a:prstGeom>
          <a:solidFill>
            <a:srgbClr val="F5F5F6"/>
          </a:solidFill>
          <a:ln cap="flat" cmpd="sng" w="9525">
            <a:solidFill>
              <a:srgbClr val="E2E2E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0" name="Google Shape;130;he3b7fdc4d9b28b1_0_0"/>
          <p:cNvSpPr txBox="1"/>
          <p:nvPr/>
        </p:nvSpPr>
        <p:spPr>
          <a:xfrm>
            <a:off x="612648" y="3337560"/>
            <a:ext cx="7918704" cy="594359"/>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1300" u="none" cap="none" strike="noStrike">
                <a:solidFill>
                  <a:srgbClr val="500000"/>
                </a:solidFill>
                <a:latin typeface="Arial"/>
                <a:ea typeface="Arial"/>
                <a:cs typeface="Arial"/>
                <a:sym typeface="Arial"/>
              </a:rPr>
              <a:t>How a CUDA program runs</a:t>
            </a:r>
            <a:endParaRPr/>
          </a:p>
          <a:p>
            <a:pPr indent="0" lvl="0" marL="0" marR="0" rtl="0" algn="l">
              <a:lnSpc>
                <a:spcPct val="100000"/>
              </a:lnSpc>
              <a:spcBef>
                <a:spcPts val="300"/>
              </a:spcBef>
              <a:spcAft>
                <a:spcPts val="0"/>
              </a:spcAft>
              <a:buNone/>
            </a:pPr>
            <a:r>
              <a:rPr b="0" i="0" lang="en-US" sz="1100" u="none" cap="none" strike="noStrike">
                <a:solidFill>
                  <a:srgbClr val="2B2B2B"/>
                </a:solidFill>
                <a:latin typeface="Arial"/>
                <a:ea typeface="Arial"/>
                <a:cs typeface="Arial"/>
                <a:sym typeface="Arial"/>
              </a:rPr>
              <a:t>The CPU runs your code line by line. When it reaches GPU work, it sends that job to the GPU, the GPU's threads each do one small piece, and then control comes back to the CPU.</a:t>
            </a:r>
            <a:endParaRPr/>
          </a:p>
        </p:txBody>
      </p:sp>
      <p:sp>
        <p:nvSpPr>
          <p:cNvPr id="131" name="Google Shape;131;he3b7fdc4d9b28b1_0_0"/>
          <p:cNvSpPr/>
          <p:nvPr/>
        </p:nvSpPr>
        <p:spPr>
          <a:xfrm>
            <a:off x="457200" y="4160520"/>
            <a:ext cx="8229600" cy="457200"/>
          </a:xfrm>
          <a:prstGeom prst="roundRect">
            <a:avLst>
              <a:gd fmla="val 3500" name="adj"/>
            </a:avLst>
          </a:prstGeom>
          <a:solidFill>
            <a:srgbClr val="1B1B1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2" name="Google Shape;132;he3b7fdc4d9b28b1_0_0"/>
          <p:cNvSpPr txBox="1"/>
          <p:nvPr/>
        </p:nvSpPr>
        <p:spPr>
          <a:xfrm>
            <a:off x="621792" y="4160520"/>
            <a:ext cx="7955279" cy="457200"/>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1" i="0" lang="en-US" sz="1200" u="none" cap="none" strike="noStrike">
                <a:solidFill>
                  <a:srgbClr val="76B900"/>
                </a:solidFill>
                <a:latin typeface="Arial"/>
                <a:ea typeface="Arial"/>
                <a:cs typeface="Arial"/>
                <a:sym typeface="Arial"/>
              </a:rPr>
              <a:t>Thread = </a:t>
            </a:r>
            <a:r>
              <a:rPr b="0" i="0" lang="en-US" sz="1200" u="none" cap="none" strike="noStrike">
                <a:solidFill>
                  <a:srgbClr val="FFFFFF"/>
                </a:solidFill>
                <a:latin typeface="Arial"/>
                <a:ea typeface="Arial"/>
                <a:cs typeface="Arial"/>
                <a:sym typeface="Arial"/>
              </a:rPr>
              <a:t>one worker doing one small piece of the job. A GPU runs thousands of them at the same time.</a:t>
            </a:r>
            <a:endParaRPr/>
          </a:p>
        </p:txBody>
      </p:sp>
      <p:sp>
        <p:nvSpPr>
          <p:cNvPr id="133" name="Google Shape;133;he3b7fdc4d9b28b1_0_0"/>
          <p:cNvSpPr/>
          <p:nvPr/>
        </p:nvSpPr>
        <p:spPr>
          <a:xfrm>
            <a:off x="636879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he3b7fdc4d9b28b1_0_0"/>
          <p:cNvSpPr/>
          <p:nvPr/>
        </p:nvSpPr>
        <p:spPr>
          <a:xfrm>
            <a:off x="644194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he3b7fdc4d9b28b1_0_0"/>
          <p:cNvSpPr/>
          <p:nvPr/>
        </p:nvSpPr>
        <p:spPr>
          <a:xfrm>
            <a:off x="6515100" y="4901184"/>
            <a:ext cx="50292" cy="50292"/>
          </a:xfrm>
          <a:prstGeom prst="rect">
            <a:avLst/>
          </a:prstGeom>
          <a:solidFill>
            <a:srgbClr val="5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he3b7fdc4d9b28b1_0_0"/>
          <p:cNvSpPr/>
          <p:nvPr/>
        </p:nvSpPr>
        <p:spPr>
          <a:xfrm>
            <a:off x="658825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he3b7fdc4d9b28b1_0_0"/>
          <p:cNvSpPr/>
          <p:nvPr/>
        </p:nvSpPr>
        <p:spPr>
          <a:xfrm>
            <a:off x="666140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he3b7fdc4d9b28b1_0_0"/>
          <p:cNvSpPr/>
          <p:nvPr/>
        </p:nvSpPr>
        <p:spPr>
          <a:xfrm>
            <a:off x="673455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he3b7fdc4d9b28b1_0_0"/>
          <p:cNvSpPr/>
          <p:nvPr/>
        </p:nvSpPr>
        <p:spPr>
          <a:xfrm>
            <a:off x="680770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he3b7fdc4d9b28b1_0_0"/>
          <p:cNvSpPr/>
          <p:nvPr/>
        </p:nvSpPr>
        <p:spPr>
          <a:xfrm>
            <a:off x="6880860"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he3b7fdc4d9b28b1_0_0"/>
          <p:cNvSpPr/>
          <p:nvPr/>
        </p:nvSpPr>
        <p:spPr>
          <a:xfrm>
            <a:off x="695401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he3b7fdc4d9b28b1_0_0"/>
          <p:cNvSpPr/>
          <p:nvPr/>
        </p:nvSpPr>
        <p:spPr>
          <a:xfrm>
            <a:off x="702716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he3b7fdc4d9b28b1_0_0"/>
          <p:cNvSpPr/>
          <p:nvPr/>
        </p:nvSpPr>
        <p:spPr>
          <a:xfrm>
            <a:off x="710031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he3b7fdc4d9b28b1_0_0"/>
          <p:cNvSpPr/>
          <p:nvPr/>
        </p:nvSpPr>
        <p:spPr>
          <a:xfrm>
            <a:off x="717346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he3b7fdc4d9b28b1_0_0"/>
          <p:cNvSpPr/>
          <p:nvPr/>
        </p:nvSpPr>
        <p:spPr>
          <a:xfrm>
            <a:off x="7246620"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he3b7fdc4d9b28b1_0_0"/>
          <p:cNvSpPr/>
          <p:nvPr/>
        </p:nvSpPr>
        <p:spPr>
          <a:xfrm>
            <a:off x="731977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he3b7fdc4d9b28b1_0_0"/>
          <p:cNvSpPr/>
          <p:nvPr/>
        </p:nvSpPr>
        <p:spPr>
          <a:xfrm>
            <a:off x="739292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he3b7fdc4d9b28b1_0_0"/>
          <p:cNvSpPr/>
          <p:nvPr/>
        </p:nvSpPr>
        <p:spPr>
          <a:xfrm>
            <a:off x="746607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he3b7fdc4d9b28b1_0_0"/>
          <p:cNvSpPr/>
          <p:nvPr/>
        </p:nvSpPr>
        <p:spPr>
          <a:xfrm>
            <a:off x="753922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he3b7fdc4d9b28b1_0_0"/>
          <p:cNvSpPr/>
          <p:nvPr/>
        </p:nvSpPr>
        <p:spPr>
          <a:xfrm>
            <a:off x="7612380"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he3b7fdc4d9b28b1_0_0"/>
          <p:cNvSpPr/>
          <p:nvPr/>
        </p:nvSpPr>
        <p:spPr>
          <a:xfrm>
            <a:off x="768553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he3b7fdc4d9b28b1_0_0"/>
          <p:cNvSpPr/>
          <p:nvPr/>
        </p:nvSpPr>
        <p:spPr>
          <a:xfrm>
            <a:off x="775868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he3b7fdc4d9b28b1_0_0"/>
          <p:cNvSpPr/>
          <p:nvPr/>
        </p:nvSpPr>
        <p:spPr>
          <a:xfrm>
            <a:off x="783183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he3b7fdc4d9b28b1_0_0"/>
          <p:cNvSpPr/>
          <p:nvPr/>
        </p:nvSpPr>
        <p:spPr>
          <a:xfrm>
            <a:off x="790498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he3b7fdc4d9b28b1_0_0"/>
          <p:cNvSpPr/>
          <p:nvPr/>
        </p:nvSpPr>
        <p:spPr>
          <a:xfrm>
            <a:off x="7978140"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he3b7fdc4d9b28b1_0_0"/>
          <p:cNvSpPr/>
          <p:nvPr/>
        </p:nvSpPr>
        <p:spPr>
          <a:xfrm>
            <a:off x="805129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he3b7fdc4d9b28b1_0_0"/>
          <p:cNvSpPr/>
          <p:nvPr/>
        </p:nvSpPr>
        <p:spPr>
          <a:xfrm>
            <a:off x="812444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he3b7fdc4d9b28b1_0_0"/>
          <p:cNvSpPr/>
          <p:nvPr/>
        </p:nvSpPr>
        <p:spPr>
          <a:xfrm>
            <a:off x="819759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he3b7fdc4d9b28b1_0_0"/>
          <p:cNvSpPr/>
          <p:nvPr/>
        </p:nvSpPr>
        <p:spPr>
          <a:xfrm>
            <a:off x="827074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he3b7fdc4d9b28b1_0_0"/>
          <p:cNvSpPr/>
          <p:nvPr/>
        </p:nvSpPr>
        <p:spPr>
          <a:xfrm>
            <a:off x="8343900"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he3b7fdc4d9b28b1_0_0"/>
          <p:cNvSpPr/>
          <p:nvPr/>
        </p:nvSpPr>
        <p:spPr>
          <a:xfrm>
            <a:off x="841705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he3b7fdc4d9b28b1_0_0"/>
          <p:cNvSpPr/>
          <p:nvPr/>
        </p:nvSpPr>
        <p:spPr>
          <a:xfrm>
            <a:off x="849020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he3b7fdc4d9b28b1_0_0"/>
          <p:cNvSpPr/>
          <p:nvPr/>
        </p:nvSpPr>
        <p:spPr>
          <a:xfrm>
            <a:off x="856335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he3b7fdc4d9b28b1_0_0"/>
          <p:cNvSpPr/>
          <p:nvPr/>
        </p:nvSpPr>
        <p:spPr>
          <a:xfrm>
            <a:off x="863650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he3b7fdc4d9b28b1_0_0"/>
          <p:cNvSpPr txBox="1"/>
          <p:nvPr/>
        </p:nvSpPr>
        <p:spPr>
          <a:xfrm>
            <a:off x="5472684" y="4846320"/>
            <a:ext cx="822960" cy="15544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00" u="none" cap="none" strike="noStrike">
                <a:solidFill>
                  <a:srgbClr val="9A9AA0"/>
                </a:solidFill>
                <a:latin typeface="Consolas"/>
                <a:ea typeface="Consolas"/>
                <a:cs typeface="Consolas"/>
                <a:sym typeface="Consolas"/>
              </a:rPr>
              <a:t>slide[2]</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0" name="Shape 170"/>
        <p:cNvGrpSpPr/>
        <p:nvPr/>
      </p:nvGrpSpPr>
      <p:grpSpPr>
        <a:xfrm>
          <a:off x="0" y="0"/>
          <a:ext cx="0" cy="0"/>
          <a:chOff x="0" y="0"/>
          <a:chExt cx="0" cy="0"/>
        </a:xfrm>
      </p:grpSpPr>
      <p:sp>
        <p:nvSpPr>
          <p:cNvPr id="171" name="Google Shape;171;he3b7fdc4d9b28b1_0_6"/>
          <p:cNvSpPr txBox="1"/>
          <p:nvPr/>
        </p:nvSpPr>
        <p:spPr>
          <a:xfrm>
            <a:off x="457200" y="320040"/>
            <a:ext cx="8229600" cy="46800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2800" u="none" cap="none" strike="noStrike">
                <a:solidFill>
                  <a:srgbClr val="500000"/>
                </a:solidFill>
                <a:latin typeface="Arial"/>
                <a:ea typeface="Arial"/>
                <a:cs typeface="Arial"/>
                <a:sym typeface="Arial"/>
              </a:rPr>
              <a:t>1: a vector is a list of values</a:t>
            </a:r>
            <a:endParaRPr/>
          </a:p>
        </p:txBody>
      </p:sp>
      <p:sp>
        <p:nvSpPr>
          <p:cNvPr id="172" name="Google Shape;172;he3b7fdc4d9b28b1_0_6"/>
          <p:cNvSpPr txBox="1"/>
          <p:nvPr/>
        </p:nvSpPr>
        <p:spPr>
          <a:xfrm>
            <a:off x="457200" y="868680"/>
            <a:ext cx="8229600" cy="27432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0" i="0" lang="en-US" sz="1200" u="none" cap="none" strike="noStrike">
                <a:solidFill>
                  <a:srgbClr val="6E6E6E"/>
                </a:solidFill>
                <a:latin typeface="Arial"/>
                <a:ea typeface="Arial"/>
                <a:cs typeface="Arial"/>
                <a:sym typeface="Arial"/>
              </a:rPr>
              <a:t>Reading this line one piece at a time</a:t>
            </a:r>
            <a:endParaRPr/>
          </a:p>
        </p:txBody>
      </p:sp>
      <p:sp>
        <p:nvSpPr>
          <p:cNvPr id="173" name="Google Shape;173;he3b7fdc4d9b28b1_0_6"/>
          <p:cNvSpPr/>
          <p:nvPr/>
        </p:nvSpPr>
        <p:spPr>
          <a:xfrm>
            <a:off x="457200" y="1234440"/>
            <a:ext cx="8229600" cy="640080"/>
          </a:xfrm>
          <a:prstGeom prst="roundRect">
            <a:avLst>
              <a:gd fmla="val 3500" name="adj"/>
            </a:avLst>
          </a:prstGeom>
          <a:solidFill>
            <a:srgbClr val="1B1B1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4" name="Google Shape;174;he3b7fdc4d9b28b1_0_6"/>
          <p:cNvSpPr txBox="1"/>
          <p:nvPr/>
        </p:nvSpPr>
        <p:spPr>
          <a:xfrm>
            <a:off x="640080" y="1234440"/>
            <a:ext cx="7863840" cy="640080"/>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1" i="0" lang="en-US" sz="2000" u="none" cap="none" strike="noStrike">
                <a:solidFill>
                  <a:srgbClr val="9A9A9A"/>
                </a:solidFill>
                <a:latin typeface="Consolas"/>
                <a:ea typeface="Consolas"/>
                <a:cs typeface="Consolas"/>
                <a:sym typeface="Consolas"/>
              </a:rPr>
              <a:t>std::</a:t>
            </a:r>
            <a:r>
              <a:rPr b="1" i="0" lang="en-US" sz="2000" u="none" cap="none" strike="noStrike">
                <a:solidFill>
                  <a:srgbClr val="4FC1FF"/>
                </a:solidFill>
                <a:latin typeface="Consolas"/>
                <a:ea typeface="Consolas"/>
                <a:cs typeface="Consolas"/>
                <a:sym typeface="Consolas"/>
              </a:rPr>
              <a:t>vector</a:t>
            </a:r>
            <a:r>
              <a:rPr b="1" i="0" lang="en-US" sz="2000" u="none" cap="none" strike="noStrike">
                <a:solidFill>
                  <a:srgbClr val="76B900"/>
                </a:solidFill>
                <a:latin typeface="Consolas"/>
                <a:ea typeface="Consolas"/>
                <a:cs typeface="Consolas"/>
                <a:sym typeface="Consolas"/>
              </a:rPr>
              <a:t>&lt;float&gt;</a:t>
            </a:r>
            <a:r>
              <a:rPr b="1" i="0" lang="en-US" sz="2000" u="none" cap="none" strike="noStrike">
                <a:solidFill>
                  <a:srgbClr val="FFFFFF"/>
                </a:solidFill>
                <a:latin typeface="Consolas"/>
                <a:ea typeface="Consolas"/>
                <a:cs typeface="Consolas"/>
                <a:sym typeface="Consolas"/>
              </a:rPr>
              <a:t> temp</a:t>
            </a:r>
            <a:r>
              <a:rPr b="1" i="0" lang="en-US" sz="2000" u="none" cap="none" strike="noStrike">
                <a:solidFill>
                  <a:srgbClr val="F4A261"/>
                </a:solidFill>
                <a:latin typeface="Consolas"/>
                <a:ea typeface="Consolas"/>
                <a:cs typeface="Consolas"/>
                <a:sym typeface="Consolas"/>
              </a:rPr>
              <a:t>{42, 24, 50}</a:t>
            </a:r>
            <a:r>
              <a:rPr b="1" i="0" lang="en-US" sz="2000" u="none" cap="none" strike="noStrike">
                <a:solidFill>
                  <a:srgbClr val="FFFFFF"/>
                </a:solidFill>
                <a:latin typeface="Consolas"/>
                <a:ea typeface="Consolas"/>
                <a:cs typeface="Consolas"/>
                <a:sym typeface="Consolas"/>
              </a:rPr>
              <a:t>;</a:t>
            </a:r>
            <a:endParaRPr/>
          </a:p>
        </p:txBody>
      </p:sp>
      <p:sp>
        <p:nvSpPr>
          <p:cNvPr id="175" name="Google Shape;175;he3b7fdc4d9b28b1_0_6"/>
          <p:cNvSpPr/>
          <p:nvPr/>
        </p:nvSpPr>
        <p:spPr>
          <a:xfrm>
            <a:off x="457200" y="2011680"/>
            <a:ext cx="1572768" cy="1143000"/>
          </a:xfrm>
          <a:prstGeom prst="roundRect">
            <a:avLst>
              <a:gd fmla="val 3500" name="adj"/>
            </a:avLst>
          </a:prstGeom>
          <a:solidFill>
            <a:srgbClr val="F5F5F6"/>
          </a:solidFill>
          <a:ln cap="flat" cmpd="sng" w="9525">
            <a:solidFill>
              <a:srgbClr val="E2E2E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6" name="Google Shape;176;he3b7fdc4d9b28b1_0_6"/>
          <p:cNvSpPr/>
          <p:nvPr/>
        </p:nvSpPr>
        <p:spPr>
          <a:xfrm>
            <a:off x="457200" y="2011680"/>
            <a:ext cx="1572768" cy="54864"/>
          </a:xfrm>
          <a:prstGeom prst="rect">
            <a:avLst/>
          </a:prstGeom>
          <a:solidFill>
            <a:srgbClr val="6E6E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7" name="Google Shape;177;he3b7fdc4d9b28b1_0_6"/>
          <p:cNvSpPr txBox="1"/>
          <p:nvPr/>
        </p:nvSpPr>
        <p:spPr>
          <a:xfrm>
            <a:off x="548640" y="2121408"/>
            <a:ext cx="1389900" cy="1219200"/>
          </a:xfrm>
          <a:prstGeom prst="rect">
            <a:avLst/>
          </a:prstGeom>
          <a:noFill/>
          <a:ln>
            <a:noFill/>
          </a:ln>
        </p:spPr>
        <p:txBody>
          <a:bodyPr anchorCtr="0" anchor="t" bIns="18275" lIns="36575" spcFirstLastPara="1" rIns="36575" wrap="square" tIns="18275">
            <a:spAutoFit/>
          </a:bodyPr>
          <a:lstStyle/>
          <a:p>
            <a:pPr indent="0" lvl="0" marL="0" rtl="0" algn="l">
              <a:lnSpc>
                <a:spcPct val="115000"/>
              </a:lnSpc>
              <a:spcBef>
                <a:spcPts val="0"/>
              </a:spcBef>
              <a:spcAft>
                <a:spcPts val="0"/>
              </a:spcAft>
              <a:buClr>
                <a:schemeClr val="dk1"/>
              </a:buClr>
              <a:buSzPts val="1100"/>
              <a:buFont typeface="Arial"/>
              <a:buNone/>
            </a:pPr>
            <a:r>
              <a:rPr b="1" lang="en-US" sz="1200">
                <a:solidFill>
                  <a:srgbClr val="6E6E6E"/>
                </a:solidFill>
                <a:latin typeface="Consolas"/>
                <a:ea typeface="Consolas"/>
                <a:cs typeface="Consolas"/>
                <a:sym typeface="Consolas"/>
              </a:rPr>
              <a:t>std::</a:t>
            </a:r>
            <a:endParaRPr b="1" sz="1200">
              <a:solidFill>
                <a:srgbClr val="6E6E6E"/>
              </a:solidFill>
              <a:latin typeface="Consolas"/>
              <a:ea typeface="Consolas"/>
              <a:cs typeface="Consolas"/>
              <a:sym typeface="Consolas"/>
            </a:endParaRPr>
          </a:p>
          <a:p>
            <a:pPr indent="0" lvl="0" marL="0" rtl="0" algn="l">
              <a:lnSpc>
                <a:spcPct val="115000"/>
              </a:lnSpc>
              <a:spcBef>
                <a:spcPts val="200"/>
              </a:spcBef>
              <a:spcAft>
                <a:spcPts val="0"/>
              </a:spcAft>
              <a:buClr>
                <a:schemeClr val="dk1"/>
              </a:buClr>
              <a:buSzPts val="1100"/>
              <a:buFont typeface="Arial"/>
              <a:buNone/>
            </a:pPr>
            <a:r>
              <a:rPr lang="en-US" sz="1000">
                <a:solidFill>
                  <a:srgbClr val="2B2B2B"/>
                </a:solidFill>
              </a:rPr>
              <a:t>std is the C++ standard library.</a:t>
            </a:r>
            <a:endParaRPr sz="1000">
              <a:solidFill>
                <a:srgbClr val="2B2B2B"/>
              </a:solidFill>
            </a:endParaRPr>
          </a:p>
          <a:p>
            <a:pPr indent="0" lvl="0" marL="0" rtl="0" algn="l">
              <a:lnSpc>
                <a:spcPct val="115000"/>
              </a:lnSpc>
              <a:spcBef>
                <a:spcPts val="200"/>
              </a:spcBef>
              <a:spcAft>
                <a:spcPts val="0"/>
              </a:spcAft>
              <a:buClr>
                <a:schemeClr val="dk1"/>
              </a:buClr>
              <a:buSzPts val="1100"/>
              <a:buFont typeface="Arial"/>
              <a:buNone/>
            </a:pPr>
            <a:r>
              <a:rPr lang="en-US" sz="1000">
                <a:solidFill>
                  <a:srgbClr val="2B2B2B"/>
                </a:solidFill>
              </a:rPr>
              <a:t>:: is the scope resolution operator</a:t>
            </a:r>
            <a:endParaRPr sz="1000">
              <a:solidFill>
                <a:srgbClr val="2B2B2B"/>
              </a:solidFill>
            </a:endParaRPr>
          </a:p>
          <a:p>
            <a:pPr indent="0" lvl="0" marL="0" marR="0" rtl="0" algn="l">
              <a:lnSpc>
                <a:spcPct val="100000"/>
              </a:lnSpc>
              <a:spcBef>
                <a:spcPts val="200"/>
              </a:spcBef>
              <a:spcAft>
                <a:spcPts val="0"/>
              </a:spcAft>
              <a:buNone/>
            </a:pPr>
            <a:r>
              <a:t/>
            </a:r>
            <a:endParaRPr b="1" sz="1200">
              <a:solidFill>
                <a:srgbClr val="6E6E6E"/>
              </a:solidFill>
              <a:latin typeface="Consolas"/>
              <a:ea typeface="Consolas"/>
              <a:cs typeface="Consolas"/>
              <a:sym typeface="Consolas"/>
            </a:endParaRPr>
          </a:p>
        </p:txBody>
      </p:sp>
      <p:sp>
        <p:nvSpPr>
          <p:cNvPr id="178" name="Google Shape;178;he3b7fdc4d9b28b1_0_6"/>
          <p:cNvSpPr/>
          <p:nvPr/>
        </p:nvSpPr>
        <p:spPr>
          <a:xfrm>
            <a:off x="2121408" y="2011680"/>
            <a:ext cx="1572768" cy="1143000"/>
          </a:xfrm>
          <a:prstGeom prst="roundRect">
            <a:avLst>
              <a:gd fmla="val 3500" name="adj"/>
            </a:avLst>
          </a:prstGeom>
          <a:solidFill>
            <a:srgbClr val="F5F5F6"/>
          </a:solidFill>
          <a:ln cap="flat" cmpd="sng" w="9525">
            <a:solidFill>
              <a:srgbClr val="E2E2E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9" name="Google Shape;179;he3b7fdc4d9b28b1_0_6"/>
          <p:cNvSpPr/>
          <p:nvPr/>
        </p:nvSpPr>
        <p:spPr>
          <a:xfrm>
            <a:off x="2121408" y="2011680"/>
            <a:ext cx="1572768" cy="54864"/>
          </a:xfrm>
          <a:prstGeom prst="rect">
            <a:avLst/>
          </a:prstGeom>
          <a:solidFill>
            <a:srgbClr val="1F6F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0" name="Google Shape;180;he3b7fdc4d9b28b1_0_6"/>
          <p:cNvSpPr txBox="1"/>
          <p:nvPr/>
        </p:nvSpPr>
        <p:spPr>
          <a:xfrm>
            <a:off x="2212848" y="2121408"/>
            <a:ext cx="1389900" cy="783000"/>
          </a:xfrm>
          <a:prstGeom prst="rect">
            <a:avLst/>
          </a:prstGeom>
          <a:noFill/>
          <a:ln>
            <a:noFill/>
          </a:ln>
        </p:spPr>
        <p:txBody>
          <a:bodyPr anchorCtr="0" anchor="t" bIns="18275" lIns="36575" spcFirstLastPara="1" rIns="36575" wrap="square" tIns="18275">
            <a:spAutoFit/>
          </a:bodyPr>
          <a:lstStyle/>
          <a:p>
            <a:pPr indent="0" lvl="0" marL="0" rtl="0" algn="l">
              <a:lnSpc>
                <a:spcPct val="115000"/>
              </a:lnSpc>
              <a:spcBef>
                <a:spcPts val="0"/>
              </a:spcBef>
              <a:spcAft>
                <a:spcPts val="0"/>
              </a:spcAft>
              <a:buClr>
                <a:schemeClr val="dk1"/>
              </a:buClr>
              <a:buSzPts val="1100"/>
              <a:buFont typeface="Arial"/>
              <a:buNone/>
            </a:pPr>
            <a:r>
              <a:rPr b="1" lang="en-US" sz="1200">
                <a:solidFill>
                  <a:srgbClr val="1F6FA8"/>
                </a:solidFill>
                <a:latin typeface="Consolas"/>
                <a:ea typeface="Consolas"/>
                <a:cs typeface="Consolas"/>
                <a:sym typeface="Consolas"/>
              </a:rPr>
              <a:t>vector</a:t>
            </a:r>
            <a:endParaRPr b="1" sz="1200">
              <a:solidFill>
                <a:srgbClr val="1F6FA8"/>
              </a:solidFill>
              <a:latin typeface="Consolas"/>
              <a:ea typeface="Consolas"/>
              <a:cs typeface="Consolas"/>
              <a:sym typeface="Consolas"/>
            </a:endParaRPr>
          </a:p>
          <a:p>
            <a:pPr indent="0" lvl="0" marL="0" rtl="0" algn="l">
              <a:lnSpc>
                <a:spcPct val="115000"/>
              </a:lnSpc>
              <a:spcBef>
                <a:spcPts val="200"/>
              </a:spcBef>
              <a:spcAft>
                <a:spcPts val="200"/>
              </a:spcAft>
              <a:buSzPts val="1100"/>
              <a:buNone/>
            </a:pPr>
            <a:r>
              <a:rPr lang="en-US" sz="1000">
                <a:solidFill>
                  <a:srgbClr val="2B2B2B"/>
                </a:solidFill>
              </a:rPr>
              <a:t>A list/array that can resize and has additional functionality.</a:t>
            </a:r>
            <a:endParaRPr b="1" sz="1200">
              <a:solidFill>
                <a:srgbClr val="1F6FA8"/>
              </a:solidFill>
              <a:latin typeface="Consolas"/>
              <a:ea typeface="Consolas"/>
              <a:cs typeface="Consolas"/>
              <a:sym typeface="Consolas"/>
            </a:endParaRPr>
          </a:p>
        </p:txBody>
      </p:sp>
      <p:sp>
        <p:nvSpPr>
          <p:cNvPr id="181" name="Google Shape;181;he3b7fdc4d9b28b1_0_6"/>
          <p:cNvSpPr/>
          <p:nvPr/>
        </p:nvSpPr>
        <p:spPr>
          <a:xfrm>
            <a:off x="3785616" y="2011680"/>
            <a:ext cx="1572768" cy="1143000"/>
          </a:xfrm>
          <a:prstGeom prst="roundRect">
            <a:avLst>
              <a:gd fmla="val 3500" name="adj"/>
            </a:avLst>
          </a:prstGeom>
          <a:solidFill>
            <a:srgbClr val="F5F5F6"/>
          </a:solidFill>
          <a:ln cap="flat" cmpd="sng" w="9525">
            <a:solidFill>
              <a:srgbClr val="E2E2E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2" name="Google Shape;182;he3b7fdc4d9b28b1_0_6"/>
          <p:cNvSpPr/>
          <p:nvPr/>
        </p:nvSpPr>
        <p:spPr>
          <a:xfrm>
            <a:off x="3785616" y="2011680"/>
            <a:ext cx="1572768" cy="54864"/>
          </a:xfrm>
          <a:prstGeom prst="rect">
            <a:avLst/>
          </a:prstGeom>
          <a:solidFill>
            <a:srgbClr val="4E7A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3" name="Google Shape;183;he3b7fdc4d9b28b1_0_6"/>
          <p:cNvSpPr txBox="1"/>
          <p:nvPr/>
        </p:nvSpPr>
        <p:spPr>
          <a:xfrm>
            <a:off x="3877056" y="2121408"/>
            <a:ext cx="1389900" cy="1193400"/>
          </a:xfrm>
          <a:prstGeom prst="rect">
            <a:avLst/>
          </a:prstGeom>
          <a:noFill/>
          <a:ln>
            <a:noFill/>
          </a:ln>
        </p:spPr>
        <p:txBody>
          <a:bodyPr anchorCtr="0" anchor="t" bIns="18275" lIns="36575" spcFirstLastPara="1" rIns="36575" wrap="square" tIns="18275">
            <a:spAutoFit/>
          </a:bodyPr>
          <a:lstStyle/>
          <a:p>
            <a:pPr indent="0" lvl="0" marL="0" rtl="0" algn="l">
              <a:lnSpc>
                <a:spcPct val="115000"/>
              </a:lnSpc>
              <a:spcBef>
                <a:spcPts val="0"/>
              </a:spcBef>
              <a:spcAft>
                <a:spcPts val="0"/>
              </a:spcAft>
              <a:buClr>
                <a:schemeClr val="dk1"/>
              </a:buClr>
              <a:buSzPts val="1100"/>
              <a:buFont typeface="Arial"/>
              <a:buNone/>
            </a:pPr>
            <a:r>
              <a:rPr b="1" lang="en-US" sz="1200">
                <a:solidFill>
                  <a:srgbClr val="4E7A00"/>
                </a:solidFill>
                <a:latin typeface="Consolas"/>
                <a:ea typeface="Consolas"/>
                <a:cs typeface="Consolas"/>
                <a:sym typeface="Consolas"/>
              </a:rPr>
              <a:t>&lt;float&gt;</a:t>
            </a:r>
            <a:endParaRPr b="1" sz="1200">
              <a:solidFill>
                <a:srgbClr val="4E7A00"/>
              </a:solidFill>
              <a:latin typeface="Consolas"/>
              <a:ea typeface="Consolas"/>
              <a:cs typeface="Consolas"/>
              <a:sym typeface="Consolas"/>
            </a:endParaRPr>
          </a:p>
          <a:p>
            <a:pPr indent="0" lvl="0" marL="0" rtl="0" algn="l">
              <a:lnSpc>
                <a:spcPct val="115000"/>
              </a:lnSpc>
              <a:spcBef>
                <a:spcPts val="200"/>
              </a:spcBef>
              <a:spcAft>
                <a:spcPts val="0"/>
              </a:spcAft>
              <a:buClr>
                <a:schemeClr val="dk1"/>
              </a:buClr>
              <a:buSzPts val="1100"/>
              <a:buFont typeface="Arial"/>
              <a:buNone/>
            </a:pPr>
            <a:r>
              <a:rPr lang="en-US" sz="1000">
                <a:solidFill>
                  <a:srgbClr val="2B2B2B"/>
                </a:solidFill>
              </a:rPr>
              <a:t>This field is for the datatype of the values stored. Float is a decimal number.</a:t>
            </a:r>
            <a:endParaRPr sz="1000">
              <a:solidFill>
                <a:srgbClr val="2B2B2B"/>
              </a:solidFill>
            </a:endParaRPr>
          </a:p>
          <a:p>
            <a:pPr indent="0" lvl="0" marL="0" marR="0" rtl="0" algn="l">
              <a:lnSpc>
                <a:spcPct val="100000"/>
              </a:lnSpc>
              <a:spcBef>
                <a:spcPts val="200"/>
              </a:spcBef>
              <a:spcAft>
                <a:spcPts val="0"/>
              </a:spcAft>
              <a:buNone/>
            </a:pPr>
            <a:r>
              <a:t/>
            </a:r>
            <a:endParaRPr b="1" sz="1200">
              <a:solidFill>
                <a:srgbClr val="4E7A00"/>
              </a:solidFill>
              <a:latin typeface="Consolas"/>
              <a:ea typeface="Consolas"/>
              <a:cs typeface="Consolas"/>
              <a:sym typeface="Consolas"/>
            </a:endParaRPr>
          </a:p>
        </p:txBody>
      </p:sp>
      <p:sp>
        <p:nvSpPr>
          <p:cNvPr id="184" name="Google Shape;184;he3b7fdc4d9b28b1_0_6"/>
          <p:cNvSpPr/>
          <p:nvPr/>
        </p:nvSpPr>
        <p:spPr>
          <a:xfrm>
            <a:off x="5449824" y="2011680"/>
            <a:ext cx="1572768" cy="1143000"/>
          </a:xfrm>
          <a:prstGeom prst="roundRect">
            <a:avLst>
              <a:gd fmla="val 3500" name="adj"/>
            </a:avLst>
          </a:prstGeom>
          <a:solidFill>
            <a:srgbClr val="F5F5F6"/>
          </a:solidFill>
          <a:ln cap="flat" cmpd="sng" w="9525">
            <a:solidFill>
              <a:srgbClr val="E2E2E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5" name="Google Shape;185;he3b7fdc4d9b28b1_0_6"/>
          <p:cNvSpPr/>
          <p:nvPr/>
        </p:nvSpPr>
        <p:spPr>
          <a:xfrm>
            <a:off x="5449824" y="2011680"/>
            <a:ext cx="1572768" cy="54864"/>
          </a:xfrm>
          <a:prstGeom prst="rect">
            <a:avLst/>
          </a:prstGeom>
          <a:solidFill>
            <a:srgbClr val="2B2B2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6" name="Google Shape;186;he3b7fdc4d9b28b1_0_6"/>
          <p:cNvSpPr txBox="1"/>
          <p:nvPr/>
        </p:nvSpPr>
        <p:spPr>
          <a:xfrm>
            <a:off x="5541264" y="2121408"/>
            <a:ext cx="1389900" cy="57810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1200" u="none" cap="none" strike="noStrike">
                <a:solidFill>
                  <a:srgbClr val="2B2B2B"/>
                </a:solidFill>
                <a:latin typeface="Consolas"/>
                <a:ea typeface="Consolas"/>
                <a:cs typeface="Consolas"/>
                <a:sym typeface="Consolas"/>
              </a:rPr>
              <a:t>temp</a:t>
            </a:r>
            <a:endParaRPr/>
          </a:p>
          <a:p>
            <a:pPr indent="0" lvl="0" marL="0" rtl="0" algn="l">
              <a:lnSpc>
                <a:spcPct val="115000"/>
              </a:lnSpc>
              <a:spcBef>
                <a:spcPts val="0"/>
              </a:spcBef>
              <a:spcAft>
                <a:spcPts val="0"/>
              </a:spcAft>
              <a:buClr>
                <a:schemeClr val="dk1"/>
              </a:buClr>
              <a:buSzPts val="1100"/>
              <a:buFont typeface="Arial"/>
              <a:buNone/>
            </a:pPr>
            <a:r>
              <a:rPr lang="en-US" sz="1000">
                <a:solidFill>
                  <a:srgbClr val="2B2B2B"/>
                </a:solidFill>
              </a:rPr>
              <a:t>Name of object.</a:t>
            </a:r>
            <a:endParaRPr sz="1000">
              <a:solidFill>
                <a:srgbClr val="2B2B2B"/>
              </a:solidFill>
            </a:endParaRPr>
          </a:p>
          <a:p>
            <a:pPr indent="0" lvl="0" marL="0" marR="0" rtl="0" algn="l">
              <a:lnSpc>
                <a:spcPct val="100000"/>
              </a:lnSpc>
              <a:spcBef>
                <a:spcPts val="200"/>
              </a:spcBef>
              <a:spcAft>
                <a:spcPts val="0"/>
              </a:spcAft>
              <a:buNone/>
            </a:pPr>
            <a:r>
              <a:t/>
            </a:r>
            <a:endParaRPr sz="1000">
              <a:solidFill>
                <a:srgbClr val="2B2B2B"/>
              </a:solidFill>
            </a:endParaRPr>
          </a:p>
        </p:txBody>
      </p:sp>
      <p:sp>
        <p:nvSpPr>
          <p:cNvPr id="187" name="Google Shape;187;he3b7fdc4d9b28b1_0_6"/>
          <p:cNvSpPr/>
          <p:nvPr/>
        </p:nvSpPr>
        <p:spPr>
          <a:xfrm>
            <a:off x="7114032" y="2011680"/>
            <a:ext cx="1572768" cy="1143000"/>
          </a:xfrm>
          <a:prstGeom prst="roundRect">
            <a:avLst>
              <a:gd fmla="val 3500" name="adj"/>
            </a:avLst>
          </a:prstGeom>
          <a:solidFill>
            <a:srgbClr val="F5F5F6"/>
          </a:solidFill>
          <a:ln cap="flat" cmpd="sng" w="9525">
            <a:solidFill>
              <a:srgbClr val="E2E2E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8" name="Google Shape;188;he3b7fdc4d9b28b1_0_6"/>
          <p:cNvSpPr/>
          <p:nvPr/>
        </p:nvSpPr>
        <p:spPr>
          <a:xfrm>
            <a:off x="7114032" y="2011680"/>
            <a:ext cx="1572768" cy="54864"/>
          </a:xfrm>
          <a:prstGeom prst="rect">
            <a:avLst/>
          </a:prstGeom>
          <a:solidFill>
            <a:srgbClr val="B5651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9" name="Google Shape;189;he3b7fdc4d9b28b1_0_6"/>
          <p:cNvSpPr txBox="1"/>
          <p:nvPr/>
        </p:nvSpPr>
        <p:spPr>
          <a:xfrm>
            <a:off x="7205472" y="2121408"/>
            <a:ext cx="1389900" cy="57810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1200" u="none" cap="none" strike="noStrike">
                <a:solidFill>
                  <a:srgbClr val="B5651D"/>
                </a:solidFill>
                <a:latin typeface="Consolas"/>
                <a:ea typeface="Consolas"/>
                <a:cs typeface="Consolas"/>
                <a:sym typeface="Consolas"/>
              </a:rPr>
              <a:t>{42, 24, 50}</a:t>
            </a:r>
            <a:endParaRPr/>
          </a:p>
          <a:p>
            <a:pPr indent="0" lvl="0" marL="0" rtl="0" algn="l">
              <a:lnSpc>
                <a:spcPct val="115000"/>
              </a:lnSpc>
              <a:spcBef>
                <a:spcPts val="0"/>
              </a:spcBef>
              <a:spcAft>
                <a:spcPts val="0"/>
              </a:spcAft>
              <a:buClr>
                <a:schemeClr val="dk1"/>
              </a:buClr>
              <a:buSzPts val="1100"/>
              <a:buFont typeface="Arial"/>
              <a:buNone/>
            </a:pPr>
            <a:r>
              <a:rPr lang="en-US" sz="1000">
                <a:solidFill>
                  <a:srgbClr val="2B2B2B"/>
                </a:solidFill>
              </a:rPr>
              <a:t>Initial values.</a:t>
            </a:r>
            <a:endParaRPr sz="1000">
              <a:solidFill>
                <a:srgbClr val="2B2B2B"/>
              </a:solidFill>
            </a:endParaRPr>
          </a:p>
          <a:p>
            <a:pPr indent="0" lvl="0" marL="0" marR="0" rtl="0" algn="l">
              <a:lnSpc>
                <a:spcPct val="100000"/>
              </a:lnSpc>
              <a:spcBef>
                <a:spcPts val="200"/>
              </a:spcBef>
              <a:spcAft>
                <a:spcPts val="0"/>
              </a:spcAft>
              <a:buNone/>
            </a:pPr>
            <a:r>
              <a:t/>
            </a:r>
            <a:endParaRPr sz="1000">
              <a:solidFill>
                <a:srgbClr val="2B2B2B"/>
              </a:solidFill>
            </a:endParaRPr>
          </a:p>
        </p:txBody>
      </p:sp>
      <p:sp>
        <p:nvSpPr>
          <p:cNvPr id="190" name="Google Shape;190;he3b7fdc4d9b28b1_0_6"/>
          <p:cNvSpPr/>
          <p:nvPr/>
        </p:nvSpPr>
        <p:spPr>
          <a:xfrm>
            <a:off x="457200" y="3291840"/>
            <a:ext cx="4023360" cy="868680"/>
          </a:xfrm>
          <a:prstGeom prst="roundRect">
            <a:avLst>
              <a:gd fmla="val 3500" name="adj"/>
            </a:avLst>
          </a:prstGeom>
          <a:solidFill>
            <a:srgbClr val="1B1B1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1" name="Google Shape;191;he3b7fdc4d9b28b1_0_6"/>
          <p:cNvSpPr txBox="1"/>
          <p:nvPr/>
        </p:nvSpPr>
        <p:spPr>
          <a:xfrm>
            <a:off x="594360" y="3383280"/>
            <a:ext cx="3749040" cy="68580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0" i="0" lang="en-US" sz="1100" u="none" cap="none" strike="noStrike">
                <a:solidFill>
                  <a:srgbClr val="9CDCFE"/>
                </a:solidFill>
                <a:latin typeface="Consolas"/>
                <a:ea typeface="Consolas"/>
                <a:cs typeface="Consolas"/>
                <a:sym typeface="Consolas"/>
              </a:rPr>
              <a:t>temp[</a:t>
            </a:r>
            <a:r>
              <a:rPr b="0" i="0" lang="en-US" sz="1100" u="none" cap="none" strike="noStrike">
                <a:solidFill>
                  <a:srgbClr val="B5CEA8"/>
                </a:solidFill>
                <a:latin typeface="Consolas"/>
                <a:ea typeface="Consolas"/>
                <a:cs typeface="Consolas"/>
                <a:sym typeface="Consolas"/>
              </a:rPr>
              <a:t>0</a:t>
            </a:r>
            <a:r>
              <a:rPr b="0" i="0" lang="en-US" sz="1100" u="none" cap="none" strike="noStrike">
                <a:solidFill>
                  <a:srgbClr val="9CDCFE"/>
                </a:solidFill>
                <a:latin typeface="Consolas"/>
                <a:ea typeface="Consolas"/>
                <a:cs typeface="Consolas"/>
                <a:sym typeface="Consolas"/>
              </a:rPr>
              <a:t>]       </a:t>
            </a:r>
            <a:r>
              <a:rPr b="0" i="0" lang="en-US" sz="1100" u="none" cap="none" strike="noStrike">
                <a:solidFill>
                  <a:srgbClr val="6A9955"/>
                </a:solidFill>
                <a:latin typeface="Consolas"/>
                <a:ea typeface="Consolas"/>
                <a:cs typeface="Consolas"/>
                <a:sym typeface="Consolas"/>
              </a:rPr>
              <a:t>// 42  (starts at 0!)</a:t>
            </a:r>
            <a:endParaRPr/>
          </a:p>
          <a:p>
            <a:pPr indent="0" lvl="0" marL="0" marR="0" rtl="0" algn="l">
              <a:lnSpc>
                <a:spcPct val="100000"/>
              </a:lnSpc>
              <a:spcBef>
                <a:spcPts val="0"/>
              </a:spcBef>
              <a:spcAft>
                <a:spcPts val="0"/>
              </a:spcAft>
              <a:buNone/>
            </a:pPr>
            <a:r>
              <a:rPr b="0" i="0" lang="en-US" sz="1100" u="none" cap="none" strike="noStrike">
                <a:solidFill>
                  <a:srgbClr val="9CDCFE"/>
                </a:solidFill>
                <a:latin typeface="Consolas"/>
                <a:ea typeface="Consolas"/>
                <a:cs typeface="Consolas"/>
                <a:sym typeface="Consolas"/>
              </a:rPr>
              <a:t>temp[</a:t>
            </a:r>
            <a:r>
              <a:rPr b="0" i="0" lang="en-US" sz="1100" u="none" cap="none" strike="noStrike">
                <a:solidFill>
                  <a:srgbClr val="B5CEA8"/>
                </a:solidFill>
                <a:latin typeface="Consolas"/>
                <a:ea typeface="Consolas"/>
                <a:cs typeface="Consolas"/>
                <a:sym typeface="Consolas"/>
              </a:rPr>
              <a:t>2</a:t>
            </a:r>
            <a:r>
              <a:rPr b="0" i="0" lang="en-US" sz="1100" u="none" cap="none" strike="noStrike">
                <a:solidFill>
                  <a:srgbClr val="9CDCFE"/>
                </a:solidFill>
                <a:latin typeface="Consolas"/>
                <a:ea typeface="Consolas"/>
                <a:cs typeface="Consolas"/>
                <a:sym typeface="Consolas"/>
              </a:rPr>
              <a:t>]       </a:t>
            </a:r>
            <a:r>
              <a:rPr b="0" i="0" lang="en-US" sz="1100" u="none" cap="none" strike="noStrike">
                <a:solidFill>
                  <a:srgbClr val="6A9955"/>
                </a:solidFill>
                <a:latin typeface="Consolas"/>
                <a:ea typeface="Consolas"/>
                <a:cs typeface="Consolas"/>
                <a:sym typeface="Consolas"/>
              </a:rPr>
              <a:t>// 50</a:t>
            </a:r>
            <a:endParaRPr/>
          </a:p>
          <a:p>
            <a:pPr indent="0" lvl="0" marL="0" marR="0" rtl="0" algn="l">
              <a:lnSpc>
                <a:spcPct val="100000"/>
              </a:lnSpc>
              <a:spcBef>
                <a:spcPts val="0"/>
              </a:spcBef>
              <a:spcAft>
                <a:spcPts val="0"/>
              </a:spcAft>
              <a:buNone/>
            </a:pPr>
            <a:r>
              <a:rPr b="0" i="0" lang="en-US" sz="1100" u="none" cap="none" strike="noStrike">
                <a:solidFill>
                  <a:srgbClr val="9CDCFE"/>
                </a:solidFill>
                <a:latin typeface="Consolas"/>
                <a:ea typeface="Consolas"/>
                <a:cs typeface="Consolas"/>
                <a:sym typeface="Consolas"/>
              </a:rPr>
              <a:t>temp.size()   </a:t>
            </a:r>
            <a:r>
              <a:rPr b="0" i="0" lang="en-US" sz="1100" u="none" cap="none" strike="noStrike">
                <a:solidFill>
                  <a:srgbClr val="6A9955"/>
                </a:solidFill>
                <a:latin typeface="Consolas"/>
                <a:ea typeface="Consolas"/>
                <a:cs typeface="Consolas"/>
                <a:sym typeface="Consolas"/>
              </a:rPr>
              <a:t>// 3</a:t>
            </a:r>
            <a:endParaRPr/>
          </a:p>
        </p:txBody>
      </p:sp>
      <p:sp>
        <p:nvSpPr>
          <p:cNvPr id="192" name="Google Shape;192;he3b7fdc4d9b28b1_0_6"/>
          <p:cNvSpPr/>
          <p:nvPr/>
        </p:nvSpPr>
        <p:spPr>
          <a:xfrm>
            <a:off x="4663440" y="3291840"/>
            <a:ext cx="4023360" cy="868680"/>
          </a:xfrm>
          <a:prstGeom prst="roundRect">
            <a:avLst>
              <a:gd fmla="val 3500" name="adj"/>
            </a:avLst>
          </a:prstGeom>
          <a:solidFill>
            <a:srgbClr val="F2F8E8"/>
          </a:solidFill>
          <a:ln cap="flat" cmpd="sng" w="9525">
            <a:solidFill>
              <a:srgbClr val="D8E8B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3" name="Google Shape;193;he3b7fdc4d9b28b1_0_6"/>
          <p:cNvSpPr txBox="1"/>
          <p:nvPr/>
        </p:nvSpPr>
        <p:spPr>
          <a:xfrm>
            <a:off x="4818888" y="3383280"/>
            <a:ext cx="3712464" cy="68580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1100" u="none" cap="none" strike="noStrike">
                <a:solidFill>
                  <a:srgbClr val="4E7A00"/>
                </a:solidFill>
                <a:latin typeface="Arial"/>
                <a:ea typeface="Arial"/>
                <a:cs typeface="Arial"/>
                <a:sym typeface="Arial"/>
              </a:rPr>
              <a:t>GPU version: thrust::universal_vector&lt;float&gt;</a:t>
            </a:r>
            <a:endParaRPr/>
          </a:p>
          <a:p>
            <a:pPr indent="0" lvl="0" marL="0" marR="0" rtl="0" algn="l">
              <a:lnSpc>
                <a:spcPct val="100000"/>
              </a:lnSpc>
              <a:spcBef>
                <a:spcPts val="300"/>
              </a:spcBef>
              <a:spcAft>
                <a:spcPts val="0"/>
              </a:spcAft>
              <a:buNone/>
            </a:pPr>
            <a:r>
              <a:rPr b="0" i="0" lang="en-US" sz="1000" u="none" cap="none" strike="noStrike">
                <a:solidFill>
                  <a:srgbClr val="2B2B2B"/>
                </a:solidFill>
                <a:latin typeface="Arial"/>
                <a:ea typeface="Arial"/>
                <a:cs typeface="Arial"/>
                <a:sym typeface="Arial"/>
              </a:rPr>
              <a:t>Same idea, from the Thrust library. Its memory can be read by both the CPU and the GPU.</a:t>
            </a:r>
            <a:endParaRPr/>
          </a:p>
        </p:txBody>
      </p:sp>
      <p:sp>
        <p:nvSpPr>
          <p:cNvPr id="194" name="Google Shape;194;he3b7fdc4d9b28b1_0_6"/>
          <p:cNvSpPr/>
          <p:nvPr/>
        </p:nvSpPr>
        <p:spPr>
          <a:xfrm>
            <a:off x="636879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he3b7fdc4d9b28b1_0_6"/>
          <p:cNvSpPr/>
          <p:nvPr/>
        </p:nvSpPr>
        <p:spPr>
          <a:xfrm>
            <a:off x="644194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he3b7fdc4d9b28b1_0_6"/>
          <p:cNvSpPr/>
          <p:nvPr/>
        </p:nvSpPr>
        <p:spPr>
          <a:xfrm>
            <a:off x="6515100"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he3b7fdc4d9b28b1_0_6"/>
          <p:cNvSpPr/>
          <p:nvPr/>
        </p:nvSpPr>
        <p:spPr>
          <a:xfrm>
            <a:off x="6588252" y="4901184"/>
            <a:ext cx="50292" cy="50292"/>
          </a:xfrm>
          <a:prstGeom prst="rect">
            <a:avLst/>
          </a:prstGeom>
          <a:solidFill>
            <a:srgbClr val="5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he3b7fdc4d9b28b1_0_6"/>
          <p:cNvSpPr/>
          <p:nvPr/>
        </p:nvSpPr>
        <p:spPr>
          <a:xfrm>
            <a:off x="666140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he3b7fdc4d9b28b1_0_6"/>
          <p:cNvSpPr/>
          <p:nvPr/>
        </p:nvSpPr>
        <p:spPr>
          <a:xfrm>
            <a:off x="673455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he3b7fdc4d9b28b1_0_6"/>
          <p:cNvSpPr/>
          <p:nvPr/>
        </p:nvSpPr>
        <p:spPr>
          <a:xfrm>
            <a:off x="680770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he3b7fdc4d9b28b1_0_6"/>
          <p:cNvSpPr/>
          <p:nvPr/>
        </p:nvSpPr>
        <p:spPr>
          <a:xfrm>
            <a:off x="6880860"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he3b7fdc4d9b28b1_0_6"/>
          <p:cNvSpPr/>
          <p:nvPr/>
        </p:nvSpPr>
        <p:spPr>
          <a:xfrm>
            <a:off x="695401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he3b7fdc4d9b28b1_0_6"/>
          <p:cNvSpPr/>
          <p:nvPr/>
        </p:nvSpPr>
        <p:spPr>
          <a:xfrm>
            <a:off x="702716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he3b7fdc4d9b28b1_0_6"/>
          <p:cNvSpPr/>
          <p:nvPr/>
        </p:nvSpPr>
        <p:spPr>
          <a:xfrm>
            <a:off x="710031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he3b7fdc4d9b28b1_0_6"/>
          <p:cNvSpPr/>
          <p:nvPr/>
        </p:nvSpPr>
        <p:spPr>
          <a:xfrm>
            <a:off x="717346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he3b7fdc4d9b28b1_0_6"/>
          <p:cNvSpPr/>
          <p:nvPr/>
        </p:nvSpPr>
        <p:spPr>
          <a:xfrm>
            <a:off x="7246620"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he3b7fdc4d9b28b1_0_6"/>
          <p:cNvSpPr/>
          <p:nvPr/>
        </p:nvSpPr>
        <p:spPr>
          <a:xfrm>
            <a:off x="731977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he3b7fdc4d9b28b1_0_6"/>
          <p:cNvSpPr/>
          <p:nvPr/>
        </p:nvSpPr>
        <p:spPr>
          <a:xfrm>
            <a:off x="739292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he3b7fdc4d9b28b1_0_6"/>
          <p:cNvSpPr/>
          <p:nvPr/>
        </p:nvSpPr>
        <p:spPr>
          <a:xfrm>
            <a:off x="746607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he3b7fdc4d9b28b1_0_6"/>
          <p:cNvSpPr/>
          <p:nvPr/>
        </p:nvSpPr>
        <p:spPr>
          <a:xfrm>
            <a:off x="753922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he3b7fdc4d9b28b1_0_6"/>
          <p:cNvSpPr/>
          <p:nvPr/>
        </p:nvSpPr>
        <p:spPr>
          <a:xfrm>
            <a:off x="7612380"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he3b7fdc4d9b28b1_0_6"/>
          <p:cNvSpPr/>
          <p:nvPr/>
        </p:nvSpPr>
        <p:spPr>
          <a:xfrm>
            <a:off x="768553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he3b7fdc4d9b28b1_0_6"/>
          <p:cNvSpPr/>
          <p:nvPr/>
        </p:nvSpPr>
        <p:spPr>
          <a:xfrm>
            <a:off x="775868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he3b7fdc4d9b28b1_0_6"/>
          <p:cNvSpPr/>
          <p:nvPr/>
        </p:nvSpPr>
        <p:spPr>
          <a:xfrm>
            <a:off x="783183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he3b7fdc4d9b28b1_0_6"/>
          <p:cNvSpPr/>
          <p:nvPr/>
        </p:nvSpPr>
        <p:spPr>
          <a:xfrm>
            <a:off x="790498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he3b7fdc4d9b28b1_0_6"/>
          <p:cNvSpPr/>
          <p:nvPr/>
        </p:nvSpPr>
        <p:spPr>
          <a:xfrm>
            <a:off x="7978140"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he3b7fdc4d9b28b1_0_6"/>
          <p:cNvSpPr/>
          <p:nvPr/>
        </p:nvSpPr>
        <p:spPr>
          <a:xfrm>
            <a:off x="805129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he3b7fdc4d9b28b1_0_6"/>
          <p:cNvSpPr/>
          <p:nvPr/>
        </p:nvSpPr>
        <p:spPr>
          <a:xfrm>
            <a:off x="812444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he3b7fdc4d9b28b1_0_6"/>
          <p:cNvSpPr/>
          <p:nvPr/>
        </p:nvSpPr>
        <p:spPr>
          <a:xfrm>
            <a:off x="819759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he3b7fdc4d9b28b1_0_6"/>
          <p:cNvSpPr/>
          <p:nvPr/>
        </p:nvSpPr>
        <p:spPr>
          <a:xfrm>
            <a:off x="827074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he3b7fdc4d9b28b1_0_6"/>
          <p:cNvSpPr/>
          <p:nvPr/>
        </p:nvSpPr>
        <p:spPr>
          <a:xfrm>
            <a:off x="8343900"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he3b7fdc4d9b28b1_0_6"/>
          <p:cNvSpPr/>
          <p:nvPr/>
        </p:nvSpPr>
        <p:spPr>
          <a:xfrm>
            <a:off x="841705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he3b7fdc4d9b28b1_0_6"/>
          <p:cNvSpPr/>
          <p:nvPr/>
        </p:nvSpPr>
        <p:spPr>
          <a:xfrm>
            <a:off x="849020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he3b7fdc4d9b28b1_0_6"/>
          <p:cNvSpPr/>
          <p:nvPr/>
        </p:nvSpPr>
        <p:spPr>
          <a:xfrm>
            <a:off x="856335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he3b7fdc4d9b28b1_0_6"/>
          <p:cNvSpPr/>
          <p:nvPr/>
        </p:nvSpPr>
        <p:spPr>
          <a:xfrm>
            <a:off x="863650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he3b7fdc4d9b28b1_0_6"/>
          <p:cNvSpPr txBox="1"/>
          <p:nvPr/>
        </p:nvSpPr>
        <p:spPr>
          <a:xfrm>
            <a:off x="5472684" y="4846320"/>
            <a:ext cx="822960" cy="15544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00" u="none" cap="none" strike="noStrike">
                <a:solidFill>
                  <a:srgbClr val="9A9AA0"/>
                </a:solidFill>
                <a:latin typeface="Consolas"/>
                <a:ea typeface="Consolas"/>
                <a:cs typeface="Consolas"/>
                <a:sym typeface="Consolas"/>
              </a:rPr>
              <a:t>slide[3]</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1" name="Shape 231"/>
        <p:cNvGrpSpPr/>
        <p:nvPr/>
      </p:nvGrpSpPr>
      <p:grpSpPr>
        <a:xfrm>
          <a:off x="0" y="0"/>
          <a:ext cx="0" cy="0"/>
          <a:chOff x="0" y="0"/>
          <a:chExt cx="0" cy="0"/>
        </a:xfrm>
      </p:grpSpPr>
      <p:sp>
        <p:nvSpPr>
          <p:cNvPr id="232" name="Google Shape;232;p3"/>
          <p:cNvSpPr txBox="1"/>
          <p:nvPr/>
        </p:nvSpPr>
        <p:spPr>
          <a:xfrm>
            <a:off x="457200" y="320040"/>
            <a:ext cx="8229600" cy="46800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2800" u="none" cap="none" strike="noStrike">
                <a:solidFill>
                  <a:srgbClr val="500000"/>
                </a:solidFill>
                <a:latin typeface="Arial"/>
                <a:ea typeface="Arial"/>
                <a:cs typeface="Arial"/>
                <a:sym typeface="Arial"/>
              </a:rPr>
              <a:t>2: lambda</a:t>
            </a:r>
            <a:r>
              <a:rPr b="1" lang="en-US" sz="2800">
                <a:solidFill>
                  <a:srgbClr val="500000"/>
                </a:solidFill>
              </a:rPr>
              <a:t> functions</a:t>
            </a:r>
            <a:endParaRPr/>
          </a:p>
        </p:txBody>
      </p:sp>
      <p:sp>
        <p:nvSpPr>
          <p:cNvPr id="233" name="Google Shape;233;p3"/>
          <p:cNvSpPr txBox="1"/>
          <p:nvPr/>
        </p:nvSpPr>
        <p:spPr>
          <a:xfrm>
            <a:off x="457200" y="868680"/>
            <a:ext cx="8229600" cy="27432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0" i="0" lang="en-US" sz="1200" u="none" cap="none" strike="noStrike">
                <a:solidFill>
                  <a:srgbClr val="6E6E6E"/>
                </a:solidFill>
                <a:latin typeface="Arial"/>
                <a:ea typeface="Arial"/>
                <a:cs typeface="Arial"/>
                <a:sym typeface="Arial"/>
              </a:rPr>
              <a:t>A lambda is a small function with no name, written right where you need it</a:t>
            </a:r>
            <a:endParaRPr/>
          </a:p>
        </p:txBody>
      </p:sp>
      <p:sp>
        <p:nvSpPr>
          <p:cNvPr id="234" name="Google Shape;234;p3"/>
          <p:cNvSpPr/>
          <p:nvPr/>
        </p:nvSpPr>
        <p:spPr>
          <a:xfrm>
            <a:off x="457200" y="1234440"/>
            <a:ext cx="8229600" cy="640080"/>
          </a:xfrm>
          <a:prstGeom prst="roundRect">
            <a:avLst>
              <a:gd fmla="val 3500" name="adj"/>
            </a:avLst>
          </a:prstGeom>
          <a:solidFill>
            <a:srgbClr val="1B1B1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5" name="Google Shape;235;p3"/>
          <p:cNvSpPr txBox="1"/>
          <p:nvPr/>
        </p:nvSpPr>
        <p:spPr>
          <a:xfrm>
            <a:off x="640080" y="1234440"/>
            <a:ext cx="7863840" cy="640080"/>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1" i="0" lang="en-US" sz="1500" u="none" cap="none" strike="noStrike">
                <a:solidFill>
                  <a:srgbClr val="4FC1FF"/>
                </a:solidFill>
                <a:latin typeface="Consolas"/>
                <a:ea typeface="Consolas"/>
                <a:cs typeface="Consolas"/>
                <a:sym typeface="Consolas"/>
              </a:rPr>
              <a:t>auto</a:t>
            </a:r>
            <a:r>
              <a:rPr b="1" i="0" lang="en-US" sz="1500" u="none" cap="none" strike="noStrike">
                <a:solidFill>
                  <a:srgbClr val="FFFFFF"/>
                </a:solidFill>
                <a:latin typeface="Consolas"/>
                <a:ea typeface="Consolas"/>
                <a:cs typeface="Consolas"/>
                <a:sym typeface="Consolas"/>
              </a:rPr>
              <a:t> op = </a:t>
            </a:r>
            <a:r>
              <a:rPr b="1" i="0" lang="en-US" sz="1500" u="none" cap="none" strike="noStrike">
                <a:solidFill>
                  <a:srgbClr val="FF6B9D"/>
                </a:solidFill>
                <a:latin typeface="Consolas"/>
                <a:ea typeface="Consolas"/>
                <a:cs typeface="Consolas"/>
                <a:sym typeface="Consolas"/>
              </a:rPr>
              <a:t>[=]</a:t>
            </a:r>
            <a:r>
              <a:rPr b="1" i="0" lang="en-US" sz="1500" u="none" cap="none" strike="noStrike">
                <a:solidFill>
                  <a:srgbClr val="C586C0"/>
                </a:solidFill>
                <a:latin typeface="Consolas"/>
                <a:ea typeface="Consolas"/>
                <a:cs typeface="Consolas"/>
                <a:sym typeface="Consolas"/>
              </a:rPr>
              <a:t>(float t)</a:t>
            </a:r>
            <a:r>
              <a:rPr b="1" i="0" lang="en-US" sz="1500" u="none" cap="none" strike="noStrike">
                <a:solidFill>
                  <a:srgbClr val="FFFFFF"/>
                </a:solidFill>
                <a:latin typeface="Consolas"/>
                <a:ea typeface="Consolas"/>
                <a:cs typeface="Consolas"/>
                <a:sym typeface="Consolas"/>
              </a:rPr>
              <a:t> { </a:t>
            </a:r>
            <a:r>
              <a:rPr b="1" i="0" lang="en-US" sz="1500" u="none" cap="none" strike="noStrike">
                <a:solidFill>
                  <a:srgbClr val="F4A261"/>
                </a:solidFill>
                <a:latin typeface="Consolas"/>
                <a:ea typeface="Consolas"/>
                <a:cs typeface="Consolas"/>
                <a:sym typeface="Consolas"/>
              </a:rPr>
              <a:t>return t + k * (room - t);</a:t>
            </a:r>
            <a:r>
              <a:rPr b="1" i="0" lang="en-US" sz="1500" u="none" cap="none" strike="noStrike">
                <a:solidFill>
                  <a:srgbClr val="FFFFFF"/>
                </a:solidFill>
                <a:latin typeface="Consolas"/>
                <a:ea typeface="Consolas"/>
                <a:cs typeface="Consolas"/>
                <a:sym typeface="Consolas"/>
              </a:rPr>
              <a:t> };</a:t>
            </a:r>
            <a:endParaRPr/>
          </a:p>
        </p:txBody>
      </p:sp>
      <p:sp>
        <p:nvSpPr>
          <p:cNvPr id="236" name="Google Shape;236;p3"/>
          <p:cNvSpPr/>
          <p:nvPr/>
        </p:nvSpPr>
        <p:spPr>
          <a:xfrm>
            <a:off x="457200" y="2011680"/>
            <a:ext cx="1572768" cy="1325880"/>
          </a:xfrm>
          <a:prstGeom prst="roundRect">
            <a:avLst>
              <a:gd fmla="val 3500" name="adj"/>
            </a:avLst>
          </a:prstGeom>
          <a:solidFill>
            <a:srgbClr val="F5F5F6"/>
          </a:solidFill>
          <a:ln cap="flat" cmpd="sng" w="9525">
            <a:solidFill>
              <a:srgbClr val="E2E2E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7" name="Google Shape;237;p3"/>
          <p:cNvSpPr/>
          <p:nvPr/>
        </p:nvSpPr>
        <p:spPr>
          <a:xfrm>
            <a:off x="457200" y="2011680"/>
            <a:ext cx="1572768" cy="54864"/>
          </a:xfrm>
          <a:prstGeom prst="rect">
            <a:avLst/>
          </a:prstGeom>
          <a:solidFill>
            <a:srgbClr val="1F6F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8" name="Google Shape;238;p3"/>
          <p:cNvSpPr txBox="1"/>
          <p:nvPr/>
        </p:nvSpPr>
        <p:spPr>
          <a:xfrm>
            <a:off x="548640" y="2121408"/>
            <a:ext cx="1389900" cy="55500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1200" u="none" cap="none" strike="noStrike">
                <a:solidFill>
                  <a:srgbClr val="1F6FA8"/>
                </a:solidFill>
                <a:latin typeface="Consolas"/>
                <a:ea typeface="Consolas"/>
                <a:cs typeface="Consolas"/>
                <a:sym typeface="Consolas"/>
              </a:rPr>
              <a:t>auto</a:t>
            </a:r>
            <a:endParaRPr/>
          </a:p>
          <a:p>
            <a:pPr indent="0" lvl="0" marL="0" marR="0" rtl="0" algn="l">
              <a:lnSpc>
                <a:spcPct val="100000"/>
              </a:lnSpc>
              <a:spcBef>
                <a:spcPts val="200"/>
              </a:spcBef>
              <a:spcAft>
                <a:spcPts val="0"/>
              </a:spcAft>
              <a:buNone/>
            </a:pPr>
            <a:r>
              <a:rPr lang="en-US" sz="1000">
                <a:solidFill>
                  <a:srgbClr val="2B2B2B"/>
                </a:solidFill>
              </a:rPr>
              <a:t>Resolves the type at compile time.</a:t>
            </a:r>
            <a:endParaRPr/>
          </a:p>
        </p:txBody>
      </p:sp>
      <p:sp>
        <p:nvSpPr>
          <p:cNvPr id="239" name="Google Shape;239;p3"/>
          <p:cNvSpPr/>
          <p:nvPr/>
        </p:nvSpPr>
        <p:spPr>
          <a:xfrm>
            <a:off x="2121408" y="2011680"/>
            <a:ext cx="1572768" cy="1325880"/>
          </a:xfrm>
          <a:prstGeom prst="roundRect">
            <a:avLst>
              <a:gd fmla="val 3500" name="adj"/>
            </a:avLst>
          </a:prstGeom>
          <a:solidFill>
            <a:srgbClr val="F5F5F6"/>
          </a:solidFill>
          <a:ln cap="flat" cmpd="sng" w="9525">
            <a:solidFill>
              <a:srgbClr val="E2E2E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0" name="Google Shape;240;p3"/>
          <p:cNvSpPr/>
          <p:nvPr/>
        </p:nvSpPr>
        <p:spPr>
          <a:xfrm>
            <a:off x="2121408" y="2011680"/>
            <a:ext cx="1572768" cy="54864"/>
          </a:xfrm>
          <a:prstGeom prst="rect">
            <a:avLst/>
          </a:prstGeom>
          <a:solidFill>
            <a:srgbClr val="2B2B2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1" name="Google Shape;241;p3"/>
          <p:cNvSpPr txBox="1"/>
          <p:nvPr/>
        </p:nvSpPr>
        <p:spPr>
          <a:xfrm>
            <a:off x="2212848" y="2121408"/>
            <a:ext cx="1389888" cy="1170432"/>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1200" u="none" cap="none" strike="noStrike">
                <a:solidFill>
                  <a:srgbClr val="2B2B2B"/>
                </a:solidFill>
                <a:latin typeface="Consolas"/>
                <a:ea typeface="Consolas"/>
                <a:cs typeface="Consolas"/>
                <a:sym typeface="Consolas"/>
              </a:rPr>
              <a:t>op</a:t>
            </a:r>
            <a:endParaRPr/>
          </a:p>
          <a:p>
            <a:pPr indent="0" lvl="0" marL="0" marR="0" rtl="0" algn="l">
              <a:lnSpc>
                <a:spcPct val="100000"/>
              </a:lnSpc>
              <a:spcBef>
                <a:spcPts val="200"/>
              </a:spcBef>
              <a:spcAft>
                <a:spcPts val="0"/>
              </a:spcAft>
              <a:buNone/>
            </a:pPr>
            <a:r>
              <a:rPr b="0" i="0" lang="en-US" sz="1000" u="none" cap="none" strike="noStrike">
                <a:solidFill>
                  <a:srgbClr val="2B2B2B"/>
                </a:solidFill>
                <a:latin typeface="Arial"/>
                <a:ea typeface="Arial"/>
                <a:cs typeface="Arial"/>
                <a:sym typeface="Arial"/>
              </a:rPr>
              <a:t>Our variable name. Short for operation. We call it like op(42).</a:t>
            </a:r>
            <a:endParaRPr/>
          </a:p>
        </p:txBody>
      </p:sp>
      <p:sp>
        <p:nvSpPr>
          <p:cNvPr id="242" name="Google Shape;242;p3"/>
          <p:cNvSpPr/>
          <p:nvPr/>
        </p:nvSpPr>
        <p:spPr>
          <a:xfrm>
            <a:off x="3785616" y="2011680"/>
            <a:ext cx="1572768" cy="1325880"/>
          </a:xfrm>
          <a:prstGeom prst="roundRect">
            <a:avLst>
              <a:gd fmla="val 3500" name="adj"/>
            </a:avLst>
          </a:prstGeom>
          <a:solidFill>
            <a:srgbClr val="F5F5F6"/>
          </a:solidFill>
          <a:ln cap="flat" cmpd="sng" w="9525">
            <a:solidFill>
              <a:srgbClr val="E2E2E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3" name="Google Shape;243;p3"/>
          <p:cNvSpPr/>
          <p:nvPr/>
        </p:nvSpPr>
        <p:spPr>
          <a:xfrm>
            <a:off x="3785616" y="2011680"/>
            <a:ext cx="1572768" cy="54864"/>
          </a:xfrm>
          <a:prstGeom prst="rect">
            <a:avLst/>
          </a:prstGeom>
          <a:solidFill>
            <a:srgbClr val="C2185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4" name="Google Shape;244;p3"/>
          <p:cNvSpPr txBox="1"/>
          <p:nvPr/>
        </p:nvSpPr>
        <p:spPr>
          <a:xfrm>
            <a:off x="3877056" y="2121408"/>
            <a:ext cx="1389888" cy="1170432"/>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1200" u="none" cap="none" strike="noStrike">
                <a:solidFill>
                  <a:srgbClr val="C2185B"/>
                </a:solidFill>
                <a:latin typeface="Consolas"/>
                <a:ea typeface="Consolas"/>
                <a:cs typeface="Consolas"/>
                <a:sym typeface="Consolas"/>
              </a:rPr>
              <a:t>[=]</a:t>
            </a:r>
            <a:endParaRPr/>
          </a:p>
          <a:p>
            <a:pPr indent="0" lvl="0" marL="0" marR="0" rtl="0" algn="l">
              <a:lnSpc>
                <a:spcPct val="100000"/>
              </a:lnSpc>
              <a:spcBef>
                <a:spcPts val="200"/>
              </a:spcBef>
              <a:spcAft>
                <a:spcPts val="0"/>
              </a:spcAft>
              <a:buNone/>
            </a:pPr>
            <a:r>
              <a:rPr b="0" i="0" lang="en-US" sz="1000" u="none" cap="none" strike="noStrike">
                <a:solidFill>
                  <a:srgbClr val="2B2B2B"/>
                </a:solidFill>
                <a:latin typeface="Arial"/>
                <a:ea typeface="Arial"/>
                <a:cs typeface="Arial"/>
                <a:sym typeface="Arial"/>
              </a:rPr>
              <a:t>The capture. Copies outside variables (k, room) into the lambda so it can use them.</a:t>
            </a:r>
            <a:endParaRPr/>
          </a:p>
        </p:txBody>
      </p:sp>
      <p:sp>
        <p:nvSpPr>
          <p:cNvPr id="245" name="Google Shape;245;p3"/>
          <p:cNvSpPr/>
          <p:nvPr/>
        </p:nvSpPr>
        <p:spPr>
          <a:xfrm>
            <a:off x="5449824" y="2011680"/>
            <a:ext cx="1572768" cy="1325880"/>
          </a:xfrm>
          <a:prstGeom prst="roundRect">
            <a:avLst>
              <a:gd fmla="val 3500" name="adj"/>
            </a:avLst>
          </a:prstGeom>
          <a:solidFill>
            <a:srgbClr val="F5F5F6"/>
          </a:solidFill>
          <a:ln cap="flat" cmpd="sng" w="9525">
            <a:solidFill>
              <a:srgbClr val="E2E2E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6" name="Google Shape;246;p3"/>
          <p:cNvSpPr/>
          <p:nvPr/>
        </p:nvSpPr>
        <p:spPr>
          <a:xfrm>
            <a:off x="5449824" y="2011680"/>
            <a:ext cx="1572768" cy="54864"/>
          </a:xfrm>
          <a:prstGeom prst="rect">
            <a:avLst/>
          </a:prstGeom>
          <a:solidFill>
            <a:srgbClr val="7B3F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7" name="Google Shape;247;p3"/>
          <p:cNvSpPr txBox="1"/>
          <p:nvPr/>
        </p:nvSpPr>
        <p:spPr>
          <a:xfrm>
            <a:off x="5541264" y="2121408"/>
            <a:ext cx="1389888" cy="1170432"/>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1200" u="none" cap="none" strike="noStrike">
                <a:solidFill>
                  <a:srgbClr val="7B3FA0"/>
                </a:solidFill>
                <a:latin typeface="Consolas"/>
                <a:ea typeface="Consolas"/>
                <a:cs typeface="Consolas"/>
                <a:sym typeface="Consolas"/>
              </a:rPr>
              <a:t>(float t)</a:t>
            </a:r>
            <a:endParaRPr/>
          </a:p>
          <a:p>
            <a:pPr indent="0" lvl="0" marL="0" marR="0" rtl="0" algn="l">
              <a:lnSpc>
                <a:spcPct val="100000"/>
              </a:lnSpc>
              <a:spcBef>
                <a:spcPts val="200"/>
              </a:spcBef>
              <a:spcAft>
                <a:spcPts val="0"/>
              </a:spcAft>
              <a:buNone/>
            </a:pPr>
            <a:r>
              <a:rPr b="0" i="0" lang="en-US" sz="1000" u="none" cap="none" strike="noStrike">
                <a:solidFill>
                  <a:srgbClr val="2B2B2B"/>
                </a:solidFill>
                <a:latin typeface="Arial"/>
                <a:ea typeface="Arial"/>
                <a:cs typeface="Arial"/>
                <a:sym typeface="Arial"/>
              </a:rPr>
              <a:t>The input. Like a normal function, it takes one float and calls it t.</a:t>
            </a:r>
            <a:endParaRPr/>
          </a:p>
        </p:txBody>
      </p:sp>
      <p:sp>
        <p:nvSpPr>
          <p:cNvPr id="248" name="Google Shape;248;p3"/>
          <p:cNvSpPr/>
          <p:nvPr/>
        </p:nvSpPr>
        <p:spPr>
          <a:xfrm>
            <a:off x="7114032" y="2011680"/>
            <a:ext cx="1572768" cy="1325880"/>
          </a:xfrm>
          <a:prstGeom prst="roundRect">
            <a:avLst>
              <a:gd fmla="val 3500" name="adj"/>
            </a:avLst>
          </a:prstGeom>
          <a:solidFill>
            <a:srgbClr val="F5F5F6"/>
          </a:solidFill>
          <a:ln cap="flat" cmpd="sng" w="9525">
            <a:solidFill>
              <a:srgbClr val="E2E2E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9" name="Google Shape;249;p3"/>
          <p:cNvSpPr/>
          <p:nvPr/>
        </p:nvSpPr>
        <p:spPr>
          <a:xfrm>
            <a:off x="7114032" y="2011680"/>
            <a:ext cx="1572768" cy="54864"/>
          </a:xfrm>
          <a:prstGeom prst="rect">
            <a:avLst/>
          </a:prstGeom>
          <a:solidFill>
            <a:srgbClr val="B5651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0" name="Google Shape;250;p3"/>
          <p:cNvSpPr txBox="1"/>
          <p:nvPr/>
        </p:nvSpPr>
        <p:spPr>
          <a:xfrm>
            <a:off x="7205472" y="2121408"/>
            <a:ext cx="1389888" cy="1170432"/>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1200" u="none" cap="none" strike="noStrike">
                <a:solidFill>
                  <a:srgbClr val="B5651D"/>
                </a:solidFill>
                <a:latin typeface="Consolas"/>
                <a:ea typeface="Consolas"/>
                <a:cs typeface="Consolas"/>
                <a:sym typeface="Consolas"/>
              </a:rPr>
              <a:t>{ return … }</a:t>
            </a:r>
            <a:endParaRPr/>
          </a:p>
          <a:p>
            <a:pPr indent="0" lvl="0" marL="0" marR="0" rtl="0" algn="l">
              <a:lnSpc>
                <a:spcPct val="100000"/>
              </a:lnSpc>
              <a:spcBef>
                <a:spcPts val="200"/>
              </a:spcBef>
              <a:spcAft>
                <a:spcPts val="0"/>
              </a:spcAft>
              <a:buNone/>
            </a:pPr>
            <a:r>
              <a:rPr b="0" i="0" lang="en-US" sz="1000" u="none" cap="none" strike="noStrike">
                <a:solidFill>
                  <a:srgbClr val="2B2B2B"/>
                </a:solidFill>
                <a:latin typeface="Arial"/>
                <a:ea typeface="Arial"/>
                <a:cs typeface="Arial"/>
                <a:sym typeface="Arial"/>
              </a:rPr>
              <a:t>The body. Moves t halfway (k = 0.5) toward room temperature.</a:t>
            </a:r>
            <a:endParaRPr/>
          </a:p>
        </p:txBody>
      </p:sp>
      <p:sp>
        <p:nvSpPr>
          <p:cNvPr id="251" name="Google Shape;251;p3"/>
          <p:cNvSpPr txBox="1"/>
          <p:nvPr/>
        </p:nvSpPr>
        <p:spPr>
          <a:xfrm>
            <a:off x="457200" y="3429000"/>
            <a:ext cx="4023360" cy="27432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1100" u="none" cap="none" strike="noStrike">
                <a:solidFill>
                  <a:srgbClr val="500000"/>
                </a:solidFill>
                <a:latin typeface="Arial"/>
                <a:ea typeface="Arial"/>
                <a:cs typeface="Arial"/>
                <a:sym typeface="Arial"/>
              </a:rPr>
              <a:t>Try it with k = 0.5, room = 20:</a:t>
            </a:r>
            <a:endParaRPr/>
          </a:p>
        </p:txBody>
      </p:sp>
      <p:sp>
        <p:nvSpPr>
          <p:cNvPr id="252" name="Google Shape;252;p3"/>
          <p:cNvSpPr/>
          <p:nvPr/>
        </p:nvSpPr>
        <p:spPr>
          <a:xfrm>
            <a:off x="457200" y="3703320"/>
            <a:ext cx="4023360" cy="685800"/>
          </a:xfrm>
          <a:prstGeom prst="roundRect">
            <a:avLst>
              <a:gd fmla="val 3500" name="adj"/>
            </a:avLst>
          </a:prstGeom>
          <a:solidFill>
            <a:srgbClr val="1B1B1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3" name="Google Shape;253;p3"/>
          <p:cNvSpPr txBox="1"/>
          <p:nvPr/>
        </p:nvSpPr>
        <p:spPr>
          <a:xfrm>
            <a:off x="594360" y="3794759"/>
            <a:ext cx="3749040" cy="50292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0" i="0" lang="en-US" sz="1050" u="none" cap="none" strike="noStrike">
                <a:solidFill>
                  <a:srgbClr val="9CDCFE"/>
                </a:solidFill>
                <a:latin typeface="Consolas"/>
                <a:ea typeface="Consolas"/>
                <a:cs typeface="Consolas"/>
                <a:sym typeface="Consolas"/>
              </a:rPr>
              <a:t>op(</a:t>
            </a:r>
            <a:r>
              <a:rPr b="0" i="0" lang="en-US" sz="1050" u="none" cap="none" strike="noStrike">
                <a:solidFill>
                  <a:srgbClr val="B5CEA8"/>
                </a:solidFill>
                <a:latin typeface="Consolas"/>
                <a:ea typeface="Consolas"/>
                <a:cs typeface="Consolas"/>
                <a:sym typeface="Consolas"/>
              </a:rPr>
              <a:t>42</a:t>
            </a:r>
            <a:r>
              <a:rPr b="0" i="0" lang="en-US" sz="1050" u="none" cap="none" strike="noStrike">
                <a:solidFill>
                  <a:srgbClr val="9CDCFE"/>
                </a:solidFill>
                <a:latin typeface="Consolas"/>
                <a:ea typeface="Consolas"/>
                <a:cs typeface="Consolas"/>
                <a:sym typeface="Consolas"/>
              </a:rPr>
              <a:t>)   </a:t>
            </a:r>
            <a:r>
              <a:rPr b="0" i="0" lang="en-US" sz="1050" u="none" cap="none" strike="noStrike">
                <a:solidFill>
                  <a:srgbClr val="6A9955"/>
                </a:solidFill>
                <a:latin typeface="Consolas"/>
                <a:ea typeface="Consolas"/>
                <a:cs typeface="Consolas"/>
                <a:sym typeface="Consolas"/>
              </a:rPr>
              <a:t>// 42 + 0.5 * (20 - 42) = 31</a:t>
            </a:r>
            <a:endParaRPr/>
          </a:p>
          <a:p>
            <a:pPr indent="0" lvl="0" marL="0" marR="0" rtl="0" algn="l">
              <a:lnSpc>
                <a:spcPct val="100000"/>
              </a:lnSpc>
              <a:spcBef>
                <a:spcPts val="0"/>
              </a:spcBef>
              <a:spcAft>
                <a:spcPts val="0"/>
              </a:spcAft>
              <a:buNone/>
            </a:pPr>
            <a:r>
              <a:rPr b="0" i="0" lang="en-US" sz="1050" u="none" cap="none" strike="noStrike">
                <a:solidFill>
                  <a:srgbClr val="9CDCFE"/>
                </a:solidFill>
                <a:latin typeface="Consolas"/>
                <a:ea typeface="Consolas"/>
                <a:cs typeface="Consolas"/>
                <a:sym typeface="Consolas"/>
              </a:rPr>
              <a:t>op(</a:t>
            </a:r>
            <a:r>
              <a:rPr b="0" i="0" lang="en-US" sz="1050" u="none" cap="none" strike="noStrike">
                <a:solidFill>
                  <a:srgbClr val="B5CEA8"/>
                </a:solidFill>
                <a:latin typeface="Consolas"/>
                <a:ea typeface="Consolas"/>
                <a:cs typeface="Consolas"/>
                <a:sym typeface="Consolas"/>
              </a:rPr>
              <a:t>24</a:t>
            </a:r>
            <a:r>
              <a:rPr b="0" i="0" lang="en-US" sz="1050" u="none" cap="none" strike="noStrike">
                <a:solidFill>
                  <a:srgbClr val="9CDCFE"/>
                </a:solidFill>
                <a:latin typeface="Consolas"/>
                <a:ea typeface="Consolas"/>
                <a:cs typeface="Consolas"/>
                <a:sym typeface="Consolas"/>
              </a:rPr>
              <a:t>)   </a:t>
            </a:r>
            <a:r>
              <a:rPr b="0" i="0" lang="en-US" sz="1050" u="none" cap="none" strike="noStrike">
                <a:solidFill>
                  <a:srgbClr val="6A9955"/>
                </a:solidFill>
                <a:latin typeface="Consolas"/>
                <a:ea typeface="Consolas"/>
                <a:cs typeface="Consolas"/>
                <a:sym typeface="Consolas"/>
              </a:rPr>
              <a:t>// 24 + 0.5 * (20 - 24) = 22</a:t>
            </a:r>
            <a:endParaRPr/>
          </a:p>
        </p:txBody>
      </p:sp>
      <p:sp>
        <p:nvSpPr>
          <p:cNvPr id="254" name="Google Shape;254;p3"/>
          <p:cNvSpPr/>
          <p:nvPr/>
        </p:nvSpPr>
        <p:spPr>
          <a:xfrm>
            <a:off x="4663440" y="3429000"/>
            <a:ext cx="4023360" cy="960120"/>
          </a:xfrm>
          <a:prstGeom prst="roundRect">
            <a:avLst>
              <a:gd fmla="val 3500" name="adj"/>
            </a:avLst>
          </a:prstGeom>
          <a:solidFill>
            <a:srgbClr val="F2F8E8"/>
          </a:solidFill>
          <a:ln cap="flat" cmpd="sng" w="9525">
            <a:solidFill>
              <a:srgbClr val="D8E8B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5" name="Google Shape;255;p3"/>
          <p:cNvSpPr txBox="1"/>
          <p:nvPr/>
        </p:nvSpPr>
        <p:spPr>
          <a:xfrm>
            <a:off x="4818888" y="3520440"/>
            <a:ext cx="3712464" cy="77724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1100" u="none" cap="none" strike="noStrike">
                <a:solidFill>
                  <a:srgbClr val="4E7A00"/>
                </a:solidFill>
                <a:latin typeface="Arial"/>
                <a:ea typeface="Arial"/>
                <a:cs typeface="Arial"/>
                <a:sym typeface="Arial"/>
              </a:rPr>
              <a:t>GPU version</a:t>
            </a:r>
            <a:endParaRPr/>
          </a:p>
          <a:p>
            <a:pPr indent="0" lvl="0" marL="0" marR="0" rtl="0" algn="l">
              <a:lnSpc>
                <a:spcPct val="100000"/>
              </a:lnSpc>
              <a:spcBef>
                <a:spcPts val="300"/>
              </a:spcBef>
              <a:spcAft>
                <a:spcPts val="0"/>
              </a:spcAft>
              <a:buNone/>
            </a:pPr>
            <a:r>
              <a:rPr b="1" i="0" lang="en-US" sz="1050" u="none" cap="none" strike="noStrike">
                <a:solidFill>
                  <a:srgbClr val="4E7A00"/>
                </a:solidFill>
                <a:latin typeface="Consolas"/>
                <a:ea typeface="Consolas"/>
                <a:cs typeface="Consolas"/>
                <a:sym typeface="Consolas"/>
              </a:rPr>
              <a:t>[=] __host__ __device__ (float t)</a:t>
            </a:r>
            <a:endParaRPr/>
          </a:p>
          <a:p>
            <a:pPr indent="0" lvl="0" marL="0" marR="0" rtl="0" algn="l">
              <a:lnSpc>
                <a:spcPct val="100000"/>
              </a:lnSpc>
              <a:spcBef>
                <a:spcPts val="300"/>
              </a:spcBef>
              <a:spcAft>
                <a:spcPts val="0"/>
              </a:spcAft>
              <a:buNone/>
            </a:pPr>
            <a:r>
              <a:rPr b="0" i="0" lang="en-US" sz="1000" u="none" cap="none" strike="noStrike">
                <a:solidFill>
                  <a:srgbClr val="2B2B2B"/>
                </a:solidFill>
                <a:latin typeface="Arial"/>
                <a:ea typeface="Arial"/>
                <a:cs typeface="Arial"/>
                <a:sym typeface="Arial"/>
              </a:rPr>
              <a:t>Same lambda, with a label saying "make a GPU copy too."</a:t>
            </a:r>
            <a:endParaRPr/>
          </a:p>
        </p:txBody>
      </p:sp>
      <p:sp>
        <p:nvSpPr>
          <p:cNvPr id="256" name="Google Shape;256;p3"/>
          <p:cNvSpPr/>
          <p:nvPr/>
        </p:nvSpPr>
        <p:spPr>
          <a:xfrm>
            <a:off x="636879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3"/>
          <p:cNvSpPr/>
          <p:nvPr/>
        </p:nvSpPr>
        <p:spPr>
          <a:xfrm>
            <a:off x="644194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3"/>
          <p:cNvSpPr/>
          <p:nvPr/>
        </p:nvSpPr>
        <p:spPr>
          <a:xfrm>
            <a:off x="6515100"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3"/>
          <p:cNvSpPr/>
          <p:nvPr/>
        </p:nvSpPr>
        <p:spPr>
          <a:xfrm>
            <a:off x="6588252"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3"/>
          <p:cNvSpPr/>
          <p:nvPr/>
        </p:nvSpPr>
        <p:spPr>
          <a:xfrm>
            <a:off x="6661404" y="4901184"/>
            <a:ext cx="50292" cy="50292"/>
          </a:xfrm>
          <a:prstGeom prst="rect">
            <a:avLst/>
          </a:prstGeom>
          <a:solidFill>
            <a:srgbClr val="5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3"/>
          <p:cNvSpPr/>
          <p:nvPr/>
        </p:nvSpPr>
        <p:spPr>
          <a:xfrm>
            <a:off x="673455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3"/>
          <p:cNvSpPr/>
          <p:nvPr/>
        </p:nvSpPr>
        <p:spPr>
          <a:xfrm>
            <a:off x="680770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3"/>
          <p:cNvSpPr/>
          <p:nvPr/>
        </p:nvSpPr>
        <p:spPr>
          <a:xfrm>
            <a:off x="6880860"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3"/>
          <p:cNvSpPr/>
          <p:nvPr/>
        </p:nvSpPr>
        <p:spPr>
          <a:xfrm>
            <a:off x="695401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3"/>
          <p:cNvSpPr/>
          <p:nvPr/>
        </p:nvSpPr>
        <p:spPr>
          <a:xfrm>
            <a:off x="702716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3"/>
          <p:cNvSpPr/>
          <p:nvPr/>
        </p:nvSpPr>
        <p:spPr>
          <a:xfrm>
            <a:off x="710031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3"/>
          <p:cNvSpPr/>
          <p:nvPr/>
        </p:nvSpPr>
        <p:spPr>
          <a:xfrm>
            <a:off x="717346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3"/>
          <p:cNvSpPr/>
          <p:nvPr/>
        </p:nvSpPr>
        <p:spPr>
          <a:xfrm>
            <a:off x="7246620"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3"/>
          <p:cNvSpPr/>
          <p:nvPr/>
        </p:nvSpPr>
        <p:spPr>
          <a:xfrm>
            <a:off x="731977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3"/>
          <p:cNvSpPr/>
          <p:nvPr/>
        </p:nvSpPr>
        <p:spPr>
          <a:xfrm>
            <a:off x="739292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3"/>
          <p:cNvSpPr/>
          <p:nvPr/>
        </p:nvSpPr>
        <p:spPr>
          <a:xfrm>
            <a:off x="746607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3"/>
          <p:cNvSpPr/>
          <p:nvPr/>
        </p:nvSpPr>
        <p:spPr>
          <a:xfrm>
            <a:off x="753922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3"/>
          <p:cNvSpPr/>
          <p:nvPr/>
        </p:nvSpPr>
        <p:spPr>
          <a:xfrm>
            <a:off x="7612380"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3"/>
          <p:cNvSpPr/>
          <p:nvPr/>
        </p:nvSpPr>
        <p:spPr>
          <a:xfrm>
            <a:off x="768553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3"/>
          <p:cNvSpPr/>
          <p:nvPr/>
        </p:nvSpPr>
        <p:spPr>
          <a:xfrm>
            <a:off x="775868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3"/>
          <p:cNvSpPr/>
          <p:nvPr/>
        </p:nvSpPr>
        <p:spPr>
          <a:xfrm>
            <a:off x="783183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3"/>
          <p:cNvSpPr/>
          <p:nvPr/>
        </p:nvSpPr>
        <p:spPr>
          <a:xfrm>
            <a:off x="790498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3"/>
          <p:cNvSpPr/>
          <p:nvPr/>
        </p:nvSpPr>
        <p:spPr>
          <a:xfrm>
            <a:off x="7978140"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3"/>
          <p:cNvSpPr/>
          <p:nvPr/>
        </p:nvSpPr>
        <p:spPr>
          <a:xfrm>
            <a:off x="805129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3"/>
          <p:cNvSpPr/>
          <p:nvPr/>
        </p:nvSpPr>
        <p:spPr>
          <a:xfrm>
            <a:off x="812444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3"/>
          <p:cNvSpPr/>
          <p:nvPr/>
        </p:nvSpPr>
        <p:spPr>
          <a:xfrm>
            <a:off x="819759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3"/>
          <p:cNvSpPr/>
          <p:nvPr/>
        </p:nvSpPr>
        <p:spPr>
          <a:xfrm>
            <a:off x="827074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3"/>
          <p:cNvSpPr/>
          <p:nvPr/>
        </p:nvSpPr>
        <p:spPr>
          <a:xfrm>
            <a:off x="8343900"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3"/>
          <p:cNvSpPr/>
          <p:nvPr/>
        </p:nvSpPr>
        <p:spPr>
          <a:xfrm>
            <a:off x="841705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3"/>
          <p:cNvSpPr/>
          <p:nvPr/>
        </p:nvSpPr>
        <p:spPr>
          <a:xfrm>
            <a:off x="849020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3"/>
          <p:cNvSpPr/>
          <p:nvPr/>
        </p:nvSpPr>
        <p:spPr>
          <a:xfrm>
            <a:off x="856335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3"/>
          <p:cNvSpPr/>
          <p:nvPr/>
        </p:nvSpPr>
        <p:spPr>
          <a:xfrm>
            <a:off x="863650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3"/>
          <p:cNvSpPr txBox="1"/>
          <p:nvPr/>
        </p:nvSpPr>
        <p:spPr>
          <a:xfrm>
            <a:off x="5472684" y="4846320"/>
            <a:ext cx="822960" cy="15544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00" u="none" cap="none" strike="noStrike">
                <a:solidFill>
                  <a:srgbClr val="9A9AA0"/>
                </a:solidFill>
                <a:latin typeface="Consolas"/>
                <a:ea typeface="Consolas"/>
                <a:cs typeface="Consolas"/>
                <a:sym typeface="Consolas"/>
              </a:rPr>
              <a:t>slide[4]</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3" name="Shape 293"/>
        <p:cNvGrpSpPr/>
        <p:nvPr/>
      </p:nvGrpSpPr>
      <p:grpSpPr>
        <a:xfrm>
          <a:off x="0" y="0"/>
          <a:ext cx="0" cy="0"/>
          <a:chOff x="0" y="0"/>
          <a:chExt cx="0" cy="0"/>
        </a:xfrm>
      </p:grpSpPr>
      <p:sp>
        <p:nvSpPr>
          <p:cNvPr id="294" name="Google Shape;294;p4"/>
          <p:cNvSpPr txBox="1"/>
          <p:nvPr/>
        </p:nvSpPr>
        <p:spPr>
          <a:xfrm>
            <a:off x="457200" y="320040"/>
            <a:ext cx="8229600" cy="46800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lang="en-US" sz="2800">
                <a:solidFill>
                  <a:srgbClr val="500000"/>
                </a:solidFill>
              </a:rPr>
              <a:t>3</a:t>
            </a:r>
            <a:r>
              <a:rPr b="1" i="0" lang="en-US" sz="2800" u="none" cap="none" strike="noStrike">
                <a:solidFill>
                  <a:srgbClr val="500000"/>
                </a:solidFill>
                <a:latin typeface="Arial"/>
                <a:ea typeface="Arial"/>
                <a:cs typeface="Arial"/>
                <a:sym typeface="Arial"/>
              </a:rPr>
              <a:t>: algorithms work on ranges</a:t>
            </a:r>
            <a:endParaRPr/>
          </a:p>
        </p:txBody>
      </p:sp>
      <p:sp>
        <p:nvSpPr>
          <p:cNvPr id="295" name="Google Shape;295;p4"/>
          <p:cNvSpPr txBox="1"/>
          <p:nvPr/>
        </p:nvSpPr>
        <p:spPr>
          <a:xfrm>
            <a:off x="457200" y="868680"/>
            <a:ext cx="8229600" cy="27432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0" i="0" lang="en-US" sz="1200" u="none" cap="none" strike="noStrike">
                <a:solidFill>
                  <a:srgbClr val="6E6E6E"/>
                </a:solidFill>
                <a:latin typeface="Arial"/>
                <a:ea typeface="Arial"/>
                <a:cs typeface="Arial"/>
                <a:sym typeface="Arial"/>
              </a:rPr>
              <a:t>begin() and end() mark where the data starts and stops</a:t>
            </a:r>
            <a:endParaRPr/>
          </a:p>
        </p:txBody>
      </p:sp>
      <p:sp>
        <p:nvSpPr>
          <p:cNvPr id="296" name="Google Shape;296;p4"/>
          <p:cNvSpPr/>
          <p:nvPr/>
        </p:nvSpPr>
        <p:spPr>
          <a:xfrm>
            <a:off x="548640" y="1325880"/>
            <a:ext cx="621792" cy="548640"/>
          </a:xfrm>
          <a:prstGeom prst="roundRect">
            <a:avLst>
              <a:gd fmla="val 8000" name="adj"/>
            </a:avLst>
          </a:prstGeom>
          <a:solidFill>
            <a:srgbClr val="F7EEEE"/>
          </a:solidFill>
          <a:ln cap="flat" cmpd="sng" w="9525">
            <a:solidFill>
              <a:srgbClr val="E6D2D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7" name="Google Shape;297;p4"/>
          <p:cNvSpPr txBox="1"/>
          <p:nvPr/>
        </p:nvSpPr>
        <p:spPr>
          <a:xfrm>
            <a:off x="548640" y="1325880"/>
            <a:ext cx="621792" cy="548640"/>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600" u="none" cap="none" strike="noStrike">
                <a:solidFill>
                  <a:srgbClr val="500000"/>
                </a:solidFill>
                <a:latin typeface="Consolas"/>
                <a:ea typeface="Consolas"/>
                <a:cs typeface="Consolas"/>
                <a:sym typeface="Consolas"/>
              </a:rPr>
              <a:t>42</a:t>
            </a:r>
            <a:endParaRPr/>
          </a:p>
        </p:txBody>
      </p:sp>
      <p:sp>
        <p:nvSpPr>
          <p:cNvPr id="298" name="Google Shape;298;p4"/>
          <p:cNvSpPr/>
          <p:nvPr/>
        </p:nvSpPr>
        <p:spPr>
          <a:xfrm>
            <a:off x="1234440" y="1325880"/>
            <a:ext cx="621792" cy="548640"/>
          </a:xfrm>
          <a:prstGeom prst="roundRect">
            <a:avLst>
              <a:gd fmla="val 8000" name="adj"/>
            </a:avLst>
          </a:prstGeom>
          <a:solidFill>
            <a:srgbClr val="F7EEEE"/>
          </a:solidFill>
          <a:ln cap="flat" cmpd="sng" w="9525">
            <a:solidFill>
              <a:srgbClr val="E6D2D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9" name="Google Shape;299;p4"/>
          <p:cNvSpPr txBox="1"/>
          <p:nvPr/>
        </p:nvSpPr>
        <p:spPr>
          <a:xfrm>
            <a:off x="1234440" y="1325880"/>
            <a:ext cx="621792" cy="548640"/>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600" u="none" cap="none" strike="noStrike">
                <a:solidFill>
                  <a:srgbClr val="500000"/>
                </a:solidFill>
                <a:latin typeface="Consolas"/>
                <a:ea typeface="Consolas"/>
                <a:cs typeface="Consolas"/>
                <a:sym typeface="Consolas"/>
              </a:rPr>
              <a:t>24</a:t>
            </a:r>
            <a:endParaRPr/>
          </a:p>
        </p:txBody>
      </p:sp>
      <p:sp>
        <p:nvSpPr>
          <p:cNvPr id="300" name="Google Shape;300;p4"/>
          <p:cNvSpPr/>
          <p:nvPr/>
        </p:nvSpPr>
        <p:spPr>
          <a:xfrm>
            <a:off x="1920240" y="1325880"/>
            <a:ext cx="621792" cy="548640"/>
          </a:xfrm>
          <a:prstGeom prst="roundRect">
            <a:avLst>
              <a:gd fmla="val 8000" name="adj"/>
            </a:avLst>
          </a:prstGeom>
          <a:solidFill>
            <a:srgbClr val="F7EEEE"/>
          </a:solidFill>
          <a:ln cap="flat" cmpd="sng" w="9525">
            <a:solidFill>
              <a:srgbClr val="E6D2D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1" name="Google Shape;301;p4"/>
          <p:cNvSpPr txBox="1"/>
          <p:nvPr/>
        </p:nvSpPr>
        <p:spPr>
          <a:xfrm>
            <a:off x="1920240" y="1325880"/>
            <a:ext cx="621792" cy="548640"/>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600" u="none" cap="none" strike="noStrike">
                <a:solidFill>
                  <a:srgbClr val="500000"/>
                </a:solidFill>
                <a:latin typeface="Consolas"/>
                <a:ea typeface="Consolas"/>
                <a:cs typeface="Consolas"/>
                <a:sym typeface="Consolas"/>
              </a:rPr>
              <a:t>50</a:t>
            </a:r>
            <a:endParaRPr/>
          </a:p>
        </p:txBody>
      </p:sp>
      <p:sp>
        <p:nvSpPr>
          <p:cNvPr id="302" name="Google Shape;302;p4"/>
          <p:cNvSpPr/>
          <p:nvPr/>
        </p:nvSpPr>
        <p:spPr>
          <a:xfrm>
            <a:off x="2606040" y="1325880"/>
            <a:ext cx="621792" cy="548640"/>
          </a:xfrm>
          <a:prstGeom prst="roundRect">
            <a:avLst>
              <a:gd fmla="val 8000" name="adj"/>
            </a:avLst>
          </a:prstGeom>
          <a:solidFill>
            <a:srgbClr val="FFFFFF"/>
          </a:solidFill>
          <a:ln cap="flat" cmpd="sng" w="12700">
            <a:solidFill>
              <a:srgbClr val="BDBDB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3" name="Google Shape;303;p4"/>
          <p:cNvSpPr txBox="1"/>
          <p:nvPr/>
        </p:nvSpPr>
        <p:spPr>
          <a:xfrm>
            <a:off x="548640" y="1920240"/>
            <a:ext cx="822960" cy="45720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1000" u="none" cap="none" strike="noStrike">
                <a:solidFill>
                  <a:srgbClr val="4E7A00"/>
                </a:solidFill>
                <a:latin typeface="Consolas"/>
                <a:ea typeface="Consolas"/>
                <a:cs typeface="Consolas"/>
                <a:sym typeface="Consolas"/>
              </a:rPr>
              <a:t>↑</a:t>
            </a:r>
            <a:endParaRPr/>
          </a:p>
          <a:p>
            <a:pPr indent="0" lvl="0" marL="0" marR="0" rtl="0" algn="l">
              <a:lnSpc>
                <a:spcPct val="100000"/>
              </a:lnSpc>
              <a:spcBef>
                <a:spcPts val="0"/>
              </a:spcBef>
              <a:spcAft>
                <a:spcPts val="0"/>
              </a:spcAft>
              <a:buNone/>
            </a:pPr>
            <a:r>
              <a:rPr b="1" i="0" lang="en-US" sz="1000" u="none" cap="none" strike="noStrike">
                <a:solidFill>
                  <a:srgbClr val="4E7A00"/>
                </a:solidFill>
                <a:latin typeface="Consolas"/>
                <a:ea typeface="Consolas"/>
                <a:cs typeface="Consolas"/>
                <a:sym typeface="Consolas"/>
              </a:rPr>
              <a:t>begin()</a:t>
            </a:r>
            <a:endParaRPr/>
          </a:p>
        </p:txBody>
      </p:sp>
      <p:sp>
        <p:nvSpPr>
          <p:cNvPr id="304" name="Google Shape;304;p4"/>
          <p:cNvSpPr txBox="1"/>
          <p:nvPr/>
        </p:nvSpPr>
        <p:spPr>
          <a:xfrm>
            <a:off x="2514600" y="1920240"/>
            <a:ext cx="822960" cy="45720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1000" u="none" cap="none" strike="noStrike">
                <a:solidFill>
                  <a:srgbClr val="500000"/>
                </a:solidFill>
                <a:latin typeface="Consolas"/>
                <a:ea typeface="Consolas"/>
                <a:cs typeface="Consolas"/>
                <a:sym typeface="Consolas"/>
              </a:rPr>
              <a:t>↑</a:t>
            </a:r>
            <a:endParaRPr/>
          </a:p>
          <a:p>
            <a:pPr indent="0" lvl="0" marL="0" marR="0" rtl="0" algn="l">
              <a:lnSpc>
                <a:spcPct val="100000"/>
              </a:lnSpc>
              <a:spcBef>
                <a:spcPts val="0"/>
              </a:spcBef>
              <a:spcAft>
                <a:spcPts val="0"/>
              </a:spcAft>
              <a:buNone/>
            </a:pPr>
            <a:r>
              <a:rPr b="1" i="0" lang="en-US" sz="1000" u="none" cap="none" strike="noStrike">
                <a:solidFill>
                  <a:srgbClr val="500000"/>
                </a:solidFill>
                <a:latin typeface="Consolas"/>
                <a:ea typeface="Consolas"/>
                <a:cs typeface="Consolas"/>
                <a:sym typeface="Consolas"/>
              </a:rPr>
              <a:t>end()</a:t>
            </a:r>
            <a:endParaRPr/>
          </a:p>
        </p:txBody>
      </p:sp>
      <p:sp>
        <p:nvSpPr>
          <p:cNvPr id="305" name="Google Shape;305;p4"/>
          <p:cNvSpPr txBox="1"/>
          <p:nvPr/>
        </p:nvSpPr>
        <p:spPr>
          <a:xfrm>
            <a:off x="457200" y="2468880"/>
            <a:ext cx="3291840" cy="54864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0" i="0" lang="en-US" sz="1000" u="none" cap="none" strike="noStrike">
                <a:solidFill>
                  <a:srgbClr val="6E6E6E"/>
                </a:solidFill>
                <a:latin typeface="Arial"/>
                <a:ea typeface="Arial"/>
                <a:cs typeface="Arial"/>
                <a:sym typeface="Arial"/>
              </a:rPr>
              <a:t>end() points one step past the last value, so the range is "start here, stop before there."</a:t>
            </a:r>
            <a:endParaRPr/>
          </a:p>
        </p:txBody>
      </p:sp>
      <p:sp>
        <p:nvSpPr>
          <p:cNvPr id="306" name="Google Shape;306;p4"/>
          <p:cNvSpPr txBox="1"/>
          <p:nvPr/>
        </p:nvSpPr>
        <p:spPr>
          <a:xfrm>
            <a:off x="4023360" y="1188720"/>
            <a:ext cx="4663440" cy="27432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1100" u="none" cap="none" strike="noStrike">
                <a:solidFill>
                  <a:srgbClr val="500000"/>
                </a:solidFill>
                <a:latin typeface="Arial"/>
                <a:ea typeface="Arial"/>
                <a:cs typeface="Arial"/>
                <a:sym typeface="Arial"/>
              </a:rPr>
              <a:t>One line with an algorithm…</a:t>
            </a:r>
            <a:endParaRPr/>
          </a:p>
        </p:txBody>
      </p:sp>
      <p:sp>
        <p:nvSpPr>
          <p:cNvPr id="307" name="Google Shape;307;p4"/>
          <p:cNvSpPr/>
          <p:nvPr/>
        </p:nvSpPr>
        <p:spPr>
          <a:xfrm>
            <a:off x="4023360" y="1463040"/>
            <a:ext cx="4663440" cy="685800"/>
          </a:xfrm>
          <a:prstGeom prst="roundRect">
            <a:avLst>
              <a:gd fmla="val 3500" name="adj"/>
            </a:avLst>
          </a:prstGeom>
          <a:solidFill>
            <a:srgbClr val="1B1B1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8" name="Google Shape;308;p4"/>
          <p:cNvSpPr txBox="1"/>
          <p:nvPr/>
        </p:nvSpPr>
        <p:spPr>
          <a:xfrm>
            <a:off x="4160520" y="1554480"/>
            <a:ext cx="4389120" cy="50292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0" i="0" lang="en-US" sz="1050" u="none" cap="none" strike="noStrike">
                <a:solidFill>
                  <a:srgbClr val="9CDCFE"/>
                </a:solidFill>
                <a:latin typeface="Consolas"/>
                <a:ea typeface="Consolas"/>
                <a:cs typeface="Consolas"/>
                <a:sym typeface="Consolas"/>
              </a:rPr>
              <a:t>std::transform(temp.begin(), temp.end(),</a:t>
            </a:r>
            <a:endParaRPr/>
          </a:p>
          <a:p>
            <a:pPr indent="0" lvl="0" marL="0" marR="0" rtl="0" algn="l">
              <a:lnSpc>
                <a:spcPct val="100000"/>
              </a:lnSpc>
              <a:spcBef>
                <a:spcPts val="0"/>
              </a:spcBef>
              <a:spcAft>
                <a:spcPts val="0"/>
              </a:spcAft>
              <a:buNone/>
            </a:pPr>
            <a:r>
              <a:rPr b="0" i="0" lang="en-US" sz="1050" u="none" cap="none" strike="noStrike">
                <a:solidFill>
                  <a:srgbClr val="9CDCFE"/>
                </a:solidFill>
                <a:latin typeface="Consolas"/>
                <a:ea typeface="Consolas"/>
                <a:cs typeface="Consolas"/>
                <a:sym typeface="Consolas"/>
              </a:rPr>
              <a:t>               temp.begin(), op);</a:t>
            </a:r>
            <a:endParaRPr/>
          </a:p>
        </p:txBody>
      </p:sp>
      <p:sp>
        <p:nvSpPr>
          <p:cNvPr id="309" name="Google Shape;309;p4"/>
          <p:cNvSpPr txBox="1"/>
          <p:nvPr/>
        </p:nvSpPr>
        <p:spPr>
          <a:xfrm>
            <a:off x="4023360" y="2240280"/>
            <a:ext cx="4663440" cy="27432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1100" u="none" cap="none" strike="noStrike">
                <a:solidFill>
                  <a:srgbClr val="500000"/>
                </a:solidFill>
                <a:latin typeface="Arial"/>
                <a:ea typeface="Arial"/>
                <a:cs typeface="Arial"/>
                <a:sym typeface="Arial"/>
              </a:rPr>
              <a:t>…does the same thing as this loop:</a:t>
            </a:r>
            <a:endParaRPr/>
          </a:p>
        </p:txBody>
      </p:sp>
      <p:sp>
        <p:nvSpPr>
          <p:cNvPr id="310" name="Google Shape;310;p4"/>
          <p:cNvSpPr/>
          <p:nvPr/>
        </p:nvSpPr>
        <p:spPr>
          <a:xfrm>
            <a:off x="4023360" y="2514600"/>
            <a:ext cx="4663440" cy="685800"/>
          </a:xfrm>
          <a:prstGeom prst="roundRect">
            <a:avLst>
              <a:gd fmla="val 3500" name="adj"/>
            </a:avLst>
          </a:prstGeom>
          <a:solidFill>
            <a:srgbClr val="1B1B1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1" name="Google Shape;311;p4"/>
          <p:cNvSpPr txBox="1"/>
          <p:nvPr/>
        </p:nvSpPr>
        <p:spPr>
          <a:xfrm>
            <a:off x="4160520" y="2606040"/>
            <a:ext cx="4389120" cy="50292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0" i="0" lang="en-US" sz="1050" u="none" cap="none" strike="noStrike">
                <a:solidFill>
                  <a:srgbClr val="C586C0"/>
                </a:solidFill>
                <a:latin typeface="Consolas"/>
                <a:ea typeface="Consolas"/>
                <a:cs typeface="Consolas"/>
                <a:sym typeface="Consolas"/>
              </a:rPr>
              <a:t>for</a:t>
            </a:r>
            <a:r>
              <a:rPr b="0" i="0" lang="en-US" sz="1050" u="none" cap="none" strike="noStrike">
                <a:solidFill>
                  <a:srgbClr val="9CDCFE"/>
                </a:solidFill>
                <a:latin typeface="Consolas"/>
                <a:ea typeface="Consolas"/>
                <a:cs typeface="Consolas"/>
                <a:sym typeface="Consolas"/>
              </a:rPr>
              <a:t> (</a:t>
            </a:r>
            <a:r>
              <a:rPr b="0" i="0" lang="en-US" sz="1050" u="none" cap="none" strike="noStrike">
                <a:solidFill>
                  <a:srgbClr val="C586C0"/>
                </a:solidFill>
                <a:latin typeface="Consolas"/>
                <a:ea typeface="Consolas"/>
                <a:cs typeface="Consolas"/>
                <a:sym typeface="Consolas"/>
              </a:rPr>
              <a:t>int</a:t>
            </a:r>
            <a:r>
              <a:rPr b="0" i="0" lang="en-US" sz="1050" u="none" cap="none" strike="noStrike">
                <a:solidFill>
                  <a:srgbClr val="9CDCFE"/>
                </a:solidFill>
                <a:latin typeface="Consolas"/>
                <a:ea typeface="Consolas"/>
                <a:cs typeface="Consolas"/>
                <a:sym typeface="Consolas"/>
              </a:rPr>
              <a:t> i = </a:t>
            </a:r>
            <a:r>
              <a:rPr b="0" i="0" lang="en-US" sz="1050" u="none" cap="none" strike="noStrike">
                <a:solidFill>
                  <a:srgbClr val="B5CEA8"/>
                </a:solidFill>
                <a:latin typeface="Consolas"/>
                <a:ea typeface="Consolas"/>
                <a:cs typeface="Consolas"/>
                <a:sym typeface="Consolas"/>
              </a:rPr>
              <a:t>0</a:t>
            </a:r>
            <a:r>
              <a:rPr b="0" i="0" lang="en-US" sz="1050" u="none" cap="none" strike="noStrike">
                <a:solidFill>
                  <a:srgbClr val="9CDCFE"/>
                </a:solidFill>
                <a:latin typeface="Consolas"/>
                <a:ea typeface="Consolas"/>
                <a:cs typeface="Consolas"/>
                <a:sym typeface="Consolas"/>
              </a:rPr>
              <a:t>; i &lt; temp.size(); i++)</a:t>
            </a:r>
            <a:endParaRPr/>
          </a:p>
          <a:p>
            <a:pPr indent="0" lvl="0" marL="0" marR="0" rtl="0" algn="l">
              <a:lnSpc>
                <a:spcPct val="100000"/>
              </a:lnSpc>
              <a:spcBef>
                <a:spcPts val="0"/>
              </a:spcBef>
              <a:spcAft>
                <a:spcPts val="0"/>
              </a:spcAft>
              <a:buNone/>
            </a:pPr>
            <a:r>
              <a:rPr b="0" i="0" lang="en-US" sz="1050" u="none" cap="none" strike="noStrike">
                <a:solidFill>
                  <a:srgbClr val="9CDCFE"/>
                </a:solidFill>
                <a:latin typeface="Consolas"/>
                <a:ea typeface="Consolas"/>
                <a:cs typeface="Consolas"/>
                <a:sym typeface="Consolas"/>
              </a:rPr>
              <a:t>    temp[i] = op(temp[i]);</a:t>
            </a:r>
            <a:endParaRPr/>
          </a:p>
        </p:txBody>
      </p:sp>
      <p:sp>
        <p:nvSpPr>
          <p:cNvPr id="312" name="Google Shape;312;p4"/>
          <p:cNvSpPr/>
          <p:nvPr/>
        </p:nvSpPr>
        <p:spPr>
          <a:xfrm>
            <a:off x="457200" y="3337560"/>
            <a:ext cx="2651760" cy="777240"/>
          </a:xfrm>
          <a:prstGeom prst="roundRect">
            <a:avLst>
              <a:gd fmla="val 3500" name="adj"/>
            </a:avLst>
          </a:prstGeom>
          <a:solidFill>
            <a:srgbClr val="F5F5F6"/>
          </a:solidFill>
          <a:ln cap="flat" cmpd="sng" w="9525">
            <a:solidFill>
              <a:srgbClr val="E2E2E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3" name="Google Shape;313;p4"/>
          <p:cNvSpPr txBox="1"/>
          <p:nvPr/>
        </p:nvSpPr>
        <p:spPr>
          <a:xfrm>
            <a:off x="612648" y="3429000"/>
            <a:ext cx="2340864" cy="594359"/>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1100" u="none" cap="none" strike="noStrike">
                <a:solidFill>
                  <a:srgbClr val="500000"/>
                </a:solidFill>
                <a:latin typeface="Arial"/>
                <a:ea typeface="Arial"/>
                <a:cs typeface="Arial"/>
                <a:sym typeface="Arial"/>
              </a:rPr>
              <a:t>Arguments 1–2</a:t>
            </a:r>
            <a:endParaRPr/>
          </a:p>
          <a:p>
            <a:pPr indent="0" lvl="0" marL="0" marR="0" rtl="0" algn="l">
              <a:lnSpc>
                <a:spcPct val="100000"/>
              </a:lnSpc>
              <a:spcBef>
                <a:spcPts val="300"/>
              </a:spcBef>
              <a:spcAft>
                <a:spcPts val="0"/>
              </a:spcAft>
              <a:buNone/>
            </a:pPr>
            <a:r>
              <a:rPr b="0" i="0" lang="en-US" sz="1000" u="none" cap="none" strike="noStrike">
                <a:solidFill>
                  <a:srgbClr val="2B2B2B"/>
                </a:solidFill>
                <a:latin typeface="Arial"/>
                <a:ea typeface="Arial"/>
                <a:cs typeface="Arial"/>
                <a:sym typeface="Arial"/>
              </a:rPr>
              <a:t>The input range: from begin() to end().</a:t>
            </a:r>
            <a:endParaRPr/>
          </a:p>
        </p:txBody>
      </p:sp>
      <p:sp>
        <p:nvSpPr>
          <p:cNvPr id="314" name="Google Shape;314;p4"/>
          <p:cNvSpPr/>
          <p:nvPr/>
        </p:nvSpPr>
        <p:spPr>
          <a:xfrm>
            <a:off x="3246120" y="3337560"/>
            <a:ext cx="2651760" cy="777240"/>
          </a:xfrm>
          <a:prstGeom prst="roundRect">
            <a:avLst>
              <a:gd fmla="val 3500" name="adj"/>
            </a:avLst>
          </a:prstGeom>
          <a:solidFill>
            <a:srgbClr val="F5F5F6"/>
          </a:solidFill>
          <a:ln cap="flat" cmpd="sng" w="9525">
            <a:solidFill>
              <a:srgbClr val="E2E2E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5" name="Google Shape;315;p4"/>
          <p:cNvSpPr txBox="1"/>
          <p:nvPr/>
        </p:nvSpPr>
        <p:spPr>
          <a:xfrm>
            <a:off x="3401568" y="3429000"/>
            <a:ext cx="2340864" cy="594359"/>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1100" u="none" cap="none" strike="noStrike">
                <a:solidFill>
                  <a:srgbClr val="500000"/>
                </a:solidFill>
                <a:latin typeface="Arial"/>
                <a:ea typeface="Arial"/>
                <a:cs typeface="Arial"/>
                <a:sym typeface="Arial"/>
              </a:rPr>
              <a:t>Argument 3</a:t>
            </a:r>
            <a:endParaRPr/>
          </a:p>
          <a:p>
            <a:pPr indent="0" lvl="0" marL="0" marR="0" rtl="0" algn="l">
              <a:lnSpc>
                <a:spcPct val="100000"/>
              </a:lnSpc>
              <a:spcBef>
                <a:spcPts val="300"/>
              </a:spcBef>
              <a:spcAft>
                <a:spcPts val="0"/>
              </a:spcAft>
              <a:buNone/>
            </a:pPr>
            <a:r>
              <a:rPr b="0" i="0" lang="en-US" sz="1000" u="none" cap="none" strike="noStrike">
                <a:solidFill>
                  <a:srgbClr val="2B2B2B"/>
                </a:solidFill>
                <a:latin typeface="Arial"/>
                <a:ea typeface="Arial"/>
                <a:cs typeface="Arial"/>
                <a:sym typeface="Arial"/>
              </a:rPr>
              <a:t>Where to write results. Same place = update in place.</a:t>
            </a:r>
            <a:endParaRPr/>
          </a:p>
        </p:txBody>
      </p:sp>
      <p:sp>
        <p:nvSpPr>
          <p:cNvPr id="316" name="Google Shape;316;p4"/>
          <p:cNvSpPr/>
          <p:nvPr/>
        </p:nvSpPr>
        <p:spPr>
          <a:xfrm>
            <a:off x="6035040" y="3337560"/>
            <a:ext cx="2651760" cy="777240"/>
          </a:xfrm>
          <a:prstGeom prst="roundRect">
            <a:avLst>
              <a:gd fmla="val 3500" name="adj"/>
            </a:avLst>
          </a:prstGeom>
          <a:solidFill>
            <a:srgbClr val="F5F5F6"/>
          </a:solidFill>
          <a:ln cap="flat" cmpd="sng" w="9525">
            <a:solidFill>
              <a:srgbClr val="E2E2E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7" name="Google Shape;317;p4"/>
          <p:cNvSpPr txBox="1"/>
          <p:nvPr/>
        </p:nvSpPr>
        <p:spPr>
          <a:xfrm>
            <a:off x="6190488" y="3429000"/>
            <a:ext cx="2340864" cy="594359"/>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1100" u="none" cap="none" strike="noStrike">
                <a:solidFill>
                  <a:srgbClr val="500000"/>
                </a:solidFill>
                <a:latin typeface="Arial"/>
                <a:ea typeface="Arial"/>
                <a:cs typeface="Arial"/>
                <a:sym typeface="Arial"/>
              </a:rPr>
              <a:t>Argument 4</a:t>
            </a:r>
            <a:endParaRPr/>
          </a:p>
          <a:p>
            <a:pPr indent="0" lvl="0" marL="0" marR="0" rtl="0" algn="l">
              <a:lnSpc>
                <a:spcPct val="100000"/>
              </a:lnSpc>
              <a:spcBef>
                <a:spcPts val="300"/>
              </a:spcBef>
              <a:spcAft>
                <a:spcPts val="0"/>
              </a:spcAft>
              <a:buNone/>
            </a:pPr>
            <a:r>
              <a:rPr b="0" i="0" lang="en-US" sz="1000" u="none" cap="none" strike="noStrike">
                <a:solidFill>
                  <a:srgbClr val="2B2B2B"/>
                </a:solidFill>
                <a:latin typeface="Arial"/>
                <a:ea typeface="Arial"/>
                <a:cs typeface="Arial"/>
                <a:sym typeface="Arial"/>
              </a:rPr>
              <a:t>What to do to each value: our lambda op.</a:t>
            </a:r>
            <a:endParaRPr/>
          </a:p>
        </p:txBody>
      </p:sp>
      <p:sp>
        <p:nvSpPr>
          <p:cNvPr id="318" name="Google Shape;318;p4"/>
          <p:cNvSpPr/>
          <p:nvPr/>
        </p:nvSpPr>
        <p:spPr>
          <a:xfrm>
            <a:off x="457200" y="4224528"/>
            <a:ext cx="8229600" cy="411480"/>
          </a:xfrm>
          <a:prstGeom prst="roundRect">
            <a:avLst>
              <a:gd fmla="val 3500" name="adj"/>
            </a:avLst>
          </a:prstGeom>
          <a:solidFill>
            <a:srgbClr val="1B1B1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9" name="Google Shape;319;p4"/>
          <p:cNvSpPr txBox="1"/>
          <p:nvPr/>
        </p:nvSpPr>
        <p:spPr>
          <a:xfrm>
            <a:off x="621792" y="4224528"/>
            <a:ext cx="7955279" cy="411480"/>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1" i="0" lang="en-US" sz="1200" u="none" cap="none" strike="noStrike">
                <a:solidFill>
                  <a:srgbClr val="76B900"/>
                </a:solidFill>
                <a:latin typeface="Arial"/>
                <a:ea typeface="Arial"/>
                <a:cs typeface="Arial"/>
                <a:sym typeface="Arial"/>
              </a:rPr>
              <a:t>Why bother? </a:t>
            </a:r>
            <a:r>
              <a:rPr b="0" i="0" lang="en-US" sz="1200" u="none" cap="none" strike="noStrike">
                <a:solidFill>
                  <a:srgbClr val="FFFFFF"/>
                </a:solidFill>
                <a:latin typeface="Arial"/>
                <a:ea typeface="Arial"/>
                <a:cs typeface="Arial"/>
                <a:sym typeface="Arial"/>
              </a:rPr>
              <a:t>A loop says HOW, one step at a time. An algorithm says WHAT, so the library is free to do it in parallel.</a:t>
            </a:r>
            <a:endParaRPr/>
          </a:p>
        </p:txBody>
      </p:sp>
      <p:sp>
        <p:nvSpPr>
          <p:cNvPr id="320" name="Google Shape;320;p4"/>
          <p:cNvSpPr/>
          <p:nvPr/>
        </p:nvSpPr>
        <p:spPr>
          <a:xfrm>
            <a:off x="636879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4"/>
          <p:cNvSpPr/>
          <p:nvPr/>
        </p:nvSpPr>
        <p:spPr>
          <a:xfrm>
            <a:off x="644194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4"/>
          <p:cNvSpPr/>
          <p:nvPr/>
        </p:nvSpPr>
        <p:spPr>
          <a:xfrm>
            <a:off x="6515100"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4"/>
          <p:cNvSpPr/>
          <p:nvPr/>
        </p:nvSpPr>
        <p:spPr>
          <a:xfrm>
            <a:off x="6588252"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4"/>
          <p:cNvSpPr/>
          <p:nvPr/>
        </p:nvSpPr>
        <p:spPr>
          <a:xfrm>
            <a:off x="6661404"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4"/>
          <p:cNvSpPr/>
          <p:nvPr/>
        </p:nvSpPr>
        <p:spPr>
          <a:xfrm>
            <a:off x="6734556" y="4901184"/>
            <a:ext cx="50292" cy="50292"/>
          </a:xfrm>
          <a:prstGeom prst="rect">
            <a:avLst/>
          </a:prstGeom>
          <a:solidFill>
            <a:srgbClr val="5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4"/>
          <p:cNvSpPr/>
          <p:nvPr/>
        </p:nvSpPr>
        <p:spPr>
          <a:xfrm>
            <a:off x="680770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4"/>
          <p:cNvSpPr/>
          <p:nvPr/>
        </p:nvSpPr>
        <p:spPr>
          <a:xfrm>
            <a:off x="6880860"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4"/>
          <p:cNvSpPr/>
          <p:nvPr/>
        </p:nvSpPr>
        <p:spPr>
          <a:xfrm>
            <a:off x="695401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4"/>
          <p:cNvSpPr/>
          <p:nvPr/>
        </p:nvSpPr>
        <p:spPr>
          <a:xfrm>
            <a:off x="702716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4"/>
          <p:cNvSpPr/>
          <p:nvPr/>
        </p:nvSpPr>
        <p:spPr>
          <a:xfrm>
            <a:off x="710031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4"/>
          <p:cNvSpPr/>
          <p:nvPr/>
        </p:nvSpPr>
        <p:spPr>
          <a:xfrm>
            <a:off x="717346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4"/>
          <p:cNvSpPr/>
          <p:nvPr/>
        </p:nvSpPr>
        <p:spPr>
          <a:xfrm>
            <a:off x="7246620"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4"/>
          <p:cNvSpPr/>
          <p:nvPr/>
        </p:nvSpPr>
        <p:spPr>
          <a:xfrm>
            <a:off x="731977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4"/>
          <p:cNvSpPr/>
          <p:nvPr/>
        </p:nvSpPr>
        <p:spPr>
          <a:xfrm>
            <a:off x="739292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4"/>
          <p:cNvSpPr/>
          <p:nvPr/>
        </p:nvSpPr>
        <p:spPr>
          <a:xfrm>
            <a:off x="746607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4"/>
          <p:cNvSpPr/>
          <p:nvPr/>
        </p:nvSpPr>
        <p:spPr>
          <a:xfrm>
            <a:off x="753922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4"/>
          <p:cNvSpPr/>
          <p:nvPr/>
        </p:nvSpPr>
        <p:spPr>
          <a:xfrm>
            <a:off x="7612380"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4"/>
          <p:cNvSpPr/>
          <p:nvPr/>
        </p:nvSpPr>
        <p:spPr>
          <a:xfrm>
            <a:off x="768553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4"/>
          <p:cNvSpPr/>
          <p:nvPr/>
        </p:nvSpPr>
        <p:spPr>
          <a:xfrm>
            <a:off x="775868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4"/>
          <p:cNvSpPr/>
          <p:nvPr/>
        </p:nvSpPr>
        <p:spPr>
          <a:xfrm>
            <a:off x="783183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4"/>
          <p:cNvSpPr/>
          <p:nvPr/>
        </p:nvSpPr>
        <p:spPr>
          <a:xfrm>
            <a:off x="790498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4"/>
          <p:cNvSpPr/>
          <p:nvPr/>
        </p:nvSpPr>
        <p:spPr>
          <a:xfrm>
            <a:off x="7978140"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4"/>
          <p:cNvSpPr/>
          <p:nvPr/>
        </p:nvSpPr>
        <p:spPr>
          <a:xfrm>
            <a:off x="805129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4"/>
          <p:cNvSpPr/>
          <p:nvPr/>
        </p:nvSpPr>
        <p:spPr>
          <a:xfrm>
            <a:off x="812444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4"/>
          <p:cNvSpPr/>
          <p:nvPr/>
        </p:nvSpPr>
        <p:spPr>
          <a:xfrm>
            <a:off x="819759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4"/>
          <p:cNvSpPr/>
          <p:nvPr/>
        </p:nvSpPr>
        <p:spPr>
          <a:xfrm>
            <a:off x="827074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4"/>
          <p:cNvSpPr/>
          <p:nvPr/>
        </p:nvSpPr>
        <p:spPr>
          <a:xfrm>
            <a:off x="8343900"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4"/>
          <p:cNvSpPr/>
          <p:nvPr/>
        </p:nvSpPr>
        <p:spPr>
          <a:xfrm>
            <a:off x="841705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4"/>
          <p:cNvSpPr/>
          <p:nvPr/>
        </p:nvSpPr>
        <p:spPr>
          <a:xfrm>
            <a:off x="849020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4"/>
          <p:cNvSpPr/>
          <p:nvPr/>
        </p:nvSpPr>
        <p:spPr>
          <a:xfrm>
            <a:off x="856335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4"/>
          <p:cNvSpPr/>
          <p:nvPr/>
        </p:nvSpPr>
        <p:spPr>
          <a:xfrm>
            <a:off x="863650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4"/>
          <p:cNvSpPr txBox="1"/>
          <p:nvPr/>
        </p:nvSpPr>
        <p:spPr>
          <a:xfrm>
            <a:off x="5472684" y="4846320"/>
            <a:ext cx="822960" cy="15544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00" u="none" cap="none" strike="noStrike">
                <a:solidFill>
                  <a:srgbClr val="9A9AA0"/>
                </a:solidFill>
                <a:latin typeface="Consolas"/>
                <a:ea typeface="Consolas"/>
                <a:cs typeface="Consolas"/>
                <a:sym typeface="Consolas"/>
              </a:rPr>
              <a:t>slide[5]</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7" name="Shape 357"/>
        <p:cNvGrpSpPr/>
        <p:nvPr/>
      </p:nvGrpSpPr>
      <p:grpSpPr>
        <a:xfrm>
          <a:off x="0" y="0"/>
          <a:ext cx="0" cy="0"/>
          <a:chOff x="0" y="0"/>
          <a:chExt cx="0" cy="0"/>
        </a:xfrm>
      </p:grpSpPr>
      <p:sp>
        <p:nvSpPr>
          <p:cNvPr id="358" name="Google Shape;358;p5"/>
          <p:cNvSpPr txBox="1"/>
          <p:nvPr/>
        </p:nvSpPr>
        <p:spPr>
          <a:xfrm>
            <a:off x="457200" y="320040"/>
            <a:ext cx="8229600" cy="54864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2800" u="none" cap="none" strike="noStrike">
                <a:solidFill>
                  <a:srgbClr val="500000"/>
                </a:solidFill>
                <a:latin typeface="Arial"/>
                <a:ea typeface="Arial"/>
                <a:cs typeface="Arial"/>
                <a:sym typeface="Arial"/>
              </a:rPr>
              <a:t>The two GPU switches</a:t>
            </a:r>
            <a:endParaRPr/>
          </a:p>
        </p:txBody>
      </p:sp>
      <p:sp>
        <p:nvSpPr>
          <p:cNvPr id="359" name="Google Shape;359;p5"/>
          <p:cNvSpPr txBox="1"/>
          <p:nvPr/>
        </p:nvSpPr>
        <p:spPr>
          <a:xfrm>
            <a:off x="457200" y="868680"/>
            <a:ext cx="8229600" cy="27432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0" i="0" lang="en-US" sz="1200" u="none" cap="none" strike="noStrike">
                <a:solidFill>
                  <a:srgbClr val="6E6E6E"/>
                </a:solidFill>
                <a:latin typeface="Arial"/>
                <a:ea typeface="Arial"/>
                <a:cs typeface="Arial"/>
                <a:sym typeface="Arial"/>
              </a:rPr>
              <a:t>Every Thrust call needs both of these to agree</a:t>
            </a:r>
            <a:endParaRPr/>
          </a:p>
        </p:txBody>
      </p:sp>
      <p:sp>
        <p:nvSpPr>
          <p:cNvPr id="360" name="Google Shape;360;p5"/>
          <p:cNvSpPr/>
          <p:nvPr/>
        </p:nvSpPr>
        <p:spPr>
          <a:xfrm>
            <a:off x="457200" y="1234440"/>
            <a:ext cx="3931920" cy="1737360"/>
          </a:xfrm>
          <a:prstGeom prst="roundRect">
            <a:avLst>
              <a:gd fmla="val 3500" name="adj"/>
            </a:avLst>
          </a:prstGeom>
          <a:solidFill>
            <a:srgbClr val="F7EEEE"/>
          </a:solidFill>
          <a:ln cap="flat" cmpd="sng" w="9525">
            <a:solidFill>
              <a:srgbClr val="E6D2D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1" name="Google Shape;361;p5"/>
          <p:cNvSpPr txBox="1"/>
          <p:nvPr/>
        </p:nvSpPr>
        <p:spPr>
          <a:xfrm>
            <a:off x="612648" y="1325880"/>
            <a:ext cx="3621024" cy="155448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1300" u="none" cap="none" strike="noStrike">
                <a:solidFill>
                  <a:srgbClr val="500000"/>
                </a:solidFill>
                <a:latin typeface="Arial"/>
                <a:ea typeface="Arial"/>
                <a:cs typeface="Arial"/>
                <a:sym typeface="Arial"/>
              </a:rPr>
              <a:t>Switch 1: execution policy</a:t>
            </a:r>
            <a:endParaRPr/>
          </a:p>
          <a:p>
            <a:pPr indent="0" lvl="0" marL="0" marR="0" rtl="0" algn="l">
              <a:lnSpc>
                <a:spcPct val="100000"/>
              </a:lnSpc>
              <a:spcBef>
                <a:spcPts val="300"/>
              </a:spcBef>
              <a:spcAft>
                <a:spcPts val="0"/>
              </a:spcAft>
              <a:buNone/>
            </a:pPr>
            <a:r>
              <a:rPr b="1" i="0" lang="en-US" sz="1100" u="none" cap="none" strike="noStrike">
                <a:solidFill>
                  <a:srgbClr val="500000"/>
                </a:solidFill>
                <a:latin typeface="Consolas"/>
                <a:ea typeface="Consolas"/>
                <a:cs typeface="Consolas"/>
                <a:sym typeface="Consolas"/>
              </a:rPr>
              <a:t>thrust::host</a:t>
            </a:r>
            <a:r>
              <a:rPr b="0" i="0" lang="en-US" sz="1100" u="none" cap="none" strike="noStrike">
                <a:solidFill>
                  <a:srgbClr val="2B2B2B"/>
                </a:solidFill>
                <a:latin typeface="Arial"/>
                <a:ea typeface="Arial"/>
                <a:cs typeface="Arial"/>
                <a:sym typeface="Arial"/>
              </a:rPr>
              <a:t>  → run on the CPU</a:t>
            </a:r>
            <a:endParaRPr/>
          </a:p>
          <a:p>
            <a:pPr indent="0" lvl="0" marL="0" marR="0" rtl="0" algn="l">
              <a:lnSpc>
                <a:spcPct val="100000"/>
              </a:lnSpc>
              <a:spcBef>
                <a:spcPts val="300"/>
              </a:spcBef>
              <a:spcAft>
                <a:spcPts val="0"/>
              </a:spcAft>
              <a:buNone/>
            </a:pPr>
            <a:r>
              <a:rPr b="1" i="0" lang="en-US" sz="1100" u="none" cap="none" strike="noStrike">
                <a:solidFill>
                  <a:srgbClr val="4E7A00"/>
                </a:solidFill>
                <a:latin typeface="Consolas"/>
                <a:ea typeface="Consolas"/>
                <a:cs typeface="Consolas"/>
                <a:sym typeface="Consolas"/>
              </a:rPr>
              <a:t>thrust::device</a:t>
            </a:r>
            <a:r>
              <a:rPr b="0" i="0" lang="en-US" sz="1100" u="none" cap="none" strike="noStrike">
                <a:solidFill>
                  <a:srgbClr val="2B2B2B"/>
                </a:solidFill>
                <a:latin typeface="Arial"/>
                <a:ea typeface="Arial"/>
                <a:cs typeface="Arial"/>
                <a:sym typeface="Arial"/>
              </a:rPr>
              <a:t>  → run on the GPU</a:t>
            </a:r>
            <a:endParaRPr/>
          </a:p>
          <a:p>
            <a:pPr indent="0" lvl="0" marL="0" marR="0" rtl="0" algn="l">
              <a:lnSpc>
                <a:spcPct val="100000"/>
              </a:lnSpc>
              <a:spcBef>
                <a:spcPts val="300"/>
              </a:spcBef>
              <a:spcAft>
                <a:spcPts val="0"/>
              </a:spcAft>
              <a:buNone/>
            </a:pPr>
            <a:r>
              <a:rPr b="0" i="0" lang="en-US" sz="1100" u="none" cap="none" strike="noStrike">
                <a:solidFill>
                  <a:srgbClr val="2B2B2B"/>
                </a:solidFill>
                <a:latin typeface="Arial"/>
                <a:ea typeface="Arial"/>
                <a:cs typeface="Arial"/>
                <a:sym typeface="Arial"/>
              </a:rPr>
              <a:t>The first argument to a Thrust algorithm. Picks WHERE it runs, decided while the program runs.</a:t>
            </a:r>
            <a:endParaRPr/>
          </a:p>
        </p:txBody>
      </p:sp>
      <p:sp>
        <p:nvSpPr>
          <p:cNvPr id="362" name="Google Shape;362;p5"/>
          <p:cNvSpPr/>
          <p:nvPr/>
        </p:nvSpPr>
        <p:spPr>
          <a:xfrm>
            <a:off x="4754880" y="1234440"/>
            <a:ext cx="3931920" cy="1737360"/>
          </a:xfrm>
          <a:prstGeom prst="roundRect">
            <a:avLst>
              <a:gd fmla="val 3500" name="adj"/>
            </a:avLst>
          </a:prstGeom>
          <a:solidFill>
            <a:srgbClr val="F2F8E8"/>
          </a:solidFill>
          <a:ln cap="flat" cmpd="sng" w="9525">
            <a:solidFill>
              <a:srgbClr val="D8E8B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3" name="Google Shape;363;p5"/>
          <p:cNvSpPr txBox="1"/>
          <p:nvPr/>
        </p:nvSpPr>
        <p:spPr>
          <a:xfrm>
            <a:off x="4910328" y="1325880"/>
            <a:ext cx="3621024" cy="155448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1300" u="none" cap="none" strike="noStrike">
                <a:solidFill>
                  <a:srgbClr val="4E7A00"/>
                </a:solidFill>
                <a:latin typeface="Arial"/>
                <a:ea typeface="Arial"/>
                <a:cs typeface="Arial"/>
                <a:sym typeface="Arial"/>
              </a:rPr>
              <a:t>Switch 2: function specifier</a:t>
            </a:r>
            <a:endParaRPr/>
          </a:p>
          <a:p>
            <a:pPr indent="0" lvl="0" marL="0" marR="0" rtl="0" algn="l">
              <a:lnSpc>
                <a:spcPct val="100000"/>
              </a:lnSpc>
              <a:spcBef>
                <a:spcPts val="300"/>
              </a:spcBef>
              <a:spcAft>
                <a:spcPts val="0"/>
              </a:spcAft>
              <a:buNone/>
            </a:pPr>
            <a:r>
              <a:rPr b="1" i="0" lang="en-US" sz="1100" u="none" cap="none" strike="noStrike">
                <a:solidFill>
                  <a:srgbClr val="500000"/>
                </a:solidFill>
                <a:latin typeface="Consolas"/>
                <a:ea typeface="Consolas"/>
                <a:cs typeface="Consolas"/>
                <a:sym typeface="Consolas"/>
              </a:rPr>
              <a:t>__host__</a:t>
            </a:r>
            <a:r>
              <a:rPr b="0" i="0" lang="en-US" sz="1100" u="none" cap="none" strike="noStrike">
                <a:solidFill>
                  <a:srgbClr val="2B2B2B"/>
                </a:solidFill>
                <a:latin typeface="Arial"/>
                <a:ea typeface="Arial"/>
                <a:cs typeface="Arial"/>
                <a:sym typeface="Arial"/>
              </a:rPr>
              <a:t>  → build a CPU version</a:t>
            </a:r>
            <a:endParaRPr/>
          </a:p>
          <a:p>
            <a:pPr indent="0" lvl="0" marL="0" marR="0" rtl="0" algn="l">
              <a:lnSpc>
                <a:spcPct val="100000"/>
              </a:lnSpc>
              <a:spcBef>
                <a:spcPts val="300"/>
              </a:spcBef>
              <a:spcAft>
                <a:spcPts val="0"/>
              </a:spcAft>
              <a:buNone/>
            </a:pPr>
            <a:r>
              <a:rPr b="1" i="0" lang="en-US" sz="1100" u="none" cap="none" strike="noStrike">
                <a:solidFill>
                  <a:srgbClr val="4E7A00"/>
                </a:solidFill>
                <a:latin typeface="Consolas"/>
                <a:ea typeface="Consolas"/>
                <a:cs typeface="Consolas"/>
                <a:sym typeface="Consolas"/>
              </a:rPr>
              <a:t>__device__</a:t>
            </a:r>
            <a:r>
              <a:rPr b="0" i="0" lang="en-US" sz="1100" u="none" cap="none" strike="noStrike">
                <a:solidFill>
                  <a:srgbClr val="2B2B2B"/>
                </a:solidFill>
                <a:latin typeface="Arial"/>
                <a:ea typeface="Arial"/>
                <a:cs typeface="Arial"/>
                <a:sym typeface="Arial"/>
              </a:rPr>
              <a:t>  → build a GPU version</a:t>
            </a:r>
            <a:endParaRPr/>
          </a:p>
          <a:p>
            <a:pPr indent="0" lvl="0" marL="0" marR="0" rtl="0" algn="l">
              <a:lnSpc>
                <a:spcPct val="100000"/>
              </a:lnSpc>
              <a:spcBef>
                <a:spcPts val="300"/>
              </a:spcBef>
              <a:spcAft>
                <a:spcPts val="0"/>
              </a:spcAft>
              <a:buNone/>
            </a:pPr>
            <a:r>
              <a:rPr b="0" i="0" lang="en-US" sz="1100" u="none" cap="none" strike="noStrike">
                <a:solidFill>
                  <a:srgbClr val="2B2B2B"/>
                </a:solidFill>
                <a:latin typeface="Arial"/>
                <a:ea typeface="Arial"/>
                <a:cs typeface="Arial"/>
                <a:sym typeface="Arial"/>
              </a:rPr>
              <a:t>A label on the lambda. Picks WHAT gets built, decided when you compile. Use both to get both.</a:t>
            </a:r>
            <a:endParaRPr/>
          </a:p>
        </p:txBody>
      </p:sp>
      <p:sp>
        <p:nvSpPr>
          <p:cNvPr id="364" name="Google Shape;364;p5"/>
          <p:cNvSpPr txBox="1"/>
          <p:nvPr/>
        </p:nvSpPr>
        <p:spPr>
          <a:xfrm>
            <a:off x="457200" y="3108960"/>
            <a:ext cx="2011680" cy="310896"/>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5" name="Google Shape;365;p5"/>
          <p:cNvSpPr txBox="1"/>
          <p:nvPr/>
        </p:nvSpPr>
        <p:spPr>
          <a:xfrm>
            <a:off x="2532888" y="3108960"/>
            <a:ext cx="2011680" cy="310896"/>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950" u="none" cap="none" strike="noStrike">
                <a:solidFill>
                  <a:srgbClr val="6E6E6E"/>
                </a:solidFill>
                <a:latin typeface="Consolas"/>
                <a:ea typeface="Consolas"/>
                <a:cs typeface="Consolas"/>
                <a:sym typeface="Consolas"/>
              </a:rPr>
              <a:t>__host__ only</a:t>
            </a:r>
            <a:endParaRPr/>
          </a:p>
        </p:txBody>
      </p:sp>
      <p:sp>
        <p:nvSpPr>
          <p:cNvPr id="366" name="Google Shape;366;p5"/>
          <p:cNvSpPr txBox="1"/>
          <p:nvPr/>
        </p:nvSpPr>
        <p:spPr>
          <a:xfrm>
            <a:off x="4608576" y="3108960"/>
            <a:ext cx="2011680" cy="310896"/>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950" u="none" cap="none" strike="noStrike">
                <a:solidFill>
                  <a:srgbClr val="6E6E6E"/>
                </a:solidFill>
                <a:latin typeface="Consolas"/>
                <a:ea typeface="Consolas"/>
                <a:cs typeface="Consolas"/>
                <a:sym typeface="Consolas"/>
              </a:rPr>
              <a:t>__device__ only</a:t>
            </a:r>
            <a:endParaRPr/>
          </a:p>
        </p:txBody>
      </p:sp>
      <p:sp>
        <p:nvSpPr>
          <p:cNvPr id="367" name="Google Shape;367;p5"/>
          <p:cNvSpPr txBox="1"/>
          <p:nvPr/>
        </p:nvSpPr>
        <p:spPr>
          <a:xfrm>
            <a:off x="6684264" y="3108960"/>
            <a:ext cx="2011680" cy="310896"/>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950" u="none" cap="none" strike="noStrike">
                <a:solidFill>
                  <a:srgbClr val="6E6E6E"/>
                </a:solidFill>
                <a:latin typeface="Consolas"/>
                <a:ea typeface="Consolas"/>
                <a:cs typeface="Consolas"/>
                <a:sym typeface="Consolas"/>
              </a:rPr>
              <a:t>__host__ __device__</a:t>
            </a:r>
            <a:endParaRPr/>
          </a:p>
        </p:txBody>
      </p:sp>
      <p:sp>
        <p:nvSpPr>
          <p:cNvPr id="368" name="Google Shape;368;p5"/>
          <p:cNvSpPr txBox="1"/>
          <p:nvPr/>
        </p:nvSpPr>
        <p:spPr>
          <a:xfrm>
            <a:off x="457200" y="3438144"/>
            <a:ext cx="2011680" cy="310896"/>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1" i="0" lang="en-US" sz="950" u="none" cap="none" strike="noStrike">
                <a:solidFill>
                  <a:srgbClr val="6E6E6E"/>
                </a:solidFill>
                <a:latin typeface="Consolas"/>
                <a:ea typeface="Consolas"/>
                <a:cs typeface="Consolas"/>
                <a:sym typeface="Consolas"/>
              </a:rPr>
              <a:t>thrust::host</a:t>
            </a:r>
            <a:endParaRPr/>
          </a:p>
        </p:txBody>
      </p:sp>
      <p:sp>
        <p:nvSpPr>
          <p:cNvPr id="369" name="Google Shape;369;p5"/>
          <p:cNvSpPr/>
          <p:nvPr/>
        </p:nvSpPr>
        <p:spPr>
          <a:xfrm>
            <a:off x="2532888" y="3438144"/>
            <a:ext cx="2011680" cy="292608"/>
          </a:xfrm>
          <a:prstGeom prst="roundRect">
            <a:avLst>
              <a:gd fmla="val 3500" name="adj"/>
            </a:avLst>
          </a:prstGeom>
          <a:solidFill>
            <a:srgbClr val="F2F8E8"/>
          </a:solidFill>
          <a:ln cap="flat" cmpd="sng" w="9525">
            <a:solidFill>
              <a:srgbClr val="D8E8B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0" name="Google Shape;370;p5"/>
          <p:cNvSpPr txBox="1"/>
          <p:nvPr/>
        </p:nvSpPr>
        <p:spPr>
          <a:xfrm>
            <a:off x="2532888" y="3438144"/>
            <a:ext cx="2011680" cy="292608"/>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950" u="none" cap="none" strike="noStrike">
                <a:solidFill>
                  <a:srgbClr val="4E7A00"/>
                </a:solidFill>
                <a:latin typeface="Arial"/>
                <a:ea typeface="Arial"/>
                <a:cs typeface="Arial"/>
                <a:sym typeface="Arial"/>
              </a:rPr>
              <a:t>works (CPU)</a:t>
            </a:r>
            <a:endParaRPr/>
          </a:p>
        </p:txBody>
      </p:sp>
      <p:sp>
        <p:nvSpPr>
          <p:cNvPr id="371" name="Google Shape;371;p5"/>
          <p:cNvSpPr/>
          <p:nvPr/>
        </p:nvSpPr>
        <p:spPr>
          <a:xfrm>
            <a:off x="4608576" y="3438144"/>
            <a:ext cx="2011680" cy="292608"/>
          </a:xfrm>
          <a:prstGeom prst="roundRect">
            <a:avLst>
              <a:gd fmla="val 3500" name="adj"/>
            </a:avLst>
          </a:prstGeom>
          <a:solidFill>
            <a:srgbClr val="F7EEEE"/>
          </a:solidFill>
          <a:ln cap="flat" cmpd="sng" w="9525">
            <a:solidFill>
              <a:srgbClr val="E6D2D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2" name="Google Shape;372;p5"/>
          <p:cNvSpPr txBox="1"/>
          <p:nvPr/>
        </p:nvSpPr>
        <p:spPr>
          <a:xfrm>
            <a:off x="4608576" y="3438144"/>
            <a:ext cx="2011680" cy="292608"/>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950" u="none" cap="none" strike="noStrike">
                <a:solidFill>
                  <a:srgbClr val="500000"/>
                </a:solidFill>
                <a:latin typeface="Arial"/>
                <a:ea typeface="Arial"/>
                <a:cs typeface="Arial"/>
                <a:sym typeface="Arial"/>
              </a:rPr>
              <a:t>compile error</a:t>
            </a:r>
            <a:endParaRPr/>
          </a:p>
        </p:txBody>
      </p:sp>
      <p:sp>
        <p:nvSpPr>
          <p:cNvPr id="373" name="Google Shape;373;p5"/>
          <p:cNvSpPr/>
          <p:nvPr/>
        </p:nvSpPr>
        <p:spPr>
          <a:xfrm>
            <a:off x="6684264" y="3438144"/>
            <a:ext cx="2011680" cy="292608"/>
          </a:xfrm>
          <a:prstGeom prst="roundRect">
            <a:avLst>
              <a:gd fmla="val 3500" name="adj"/>
            </a:avLst>
          </a:prstGeom>
          <a:solidFill>
            <a:srgbClr val="F2F8E8"/>
          </a:solidFill>
          <a:ln cap="flat" cmpd="sng" w="9525">
            <a:solidFill>
              <a:srgbClr val="D8E8B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4" name="Google Shape;374;p5"/>
          <p:cNvSpPr txBox="1"/>
          <p:nvPr/>
        </p:nvSpPr>
        <p:spPr>
          <a:xfrm>
            <a:off x="6684264" y="3438144"/>
            <a:ext cx="2011680" cy="292608"/>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950" u="none" cap="none" strike="noStrike">
                <a:solidFill>
                  <a:srgbClr val="4E7A00"/>
                </a:solidFill>
                <a:latin typeface="Arial"/>
                <a:ea typeface="Arial"/>
                <a:cs typeface="Arial"/>
                <a:sym typeface="Arial"/>
              </a:rPr>
              <a:t>works (CPU)</a:t>
            </a:r>
            <a:endParaRPr/>
          </a:p>
        </p:txBody>
      </p:sp>
      <p:sp>
        <p:nvSpPr>
          <p:cNvPr id="375" name="Google Shape;375;p5"/>
          <p:cNvSpPr txBox="1"/>
          <p:nvPr/>
        </p:nvSpPr>
        <p:spPr>
          <a:xfrm>
            <a:off x="457200" y="3767328"/>
            <a:ext cx="2011680" cy="310896"/>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1" i="0" lang="en-US" sz="950" u="none" cap="none" strike="noStrike">
                <a:solidFill>
                  <a:srgbClr val="6E6E6E"/>
                </a:solidFill>
                <a:latin typeface="Consolas"/>
                <a:ea typeface="Consolas"/>
                <a:cs typeface="Consolas"/>
                <a:sym typeface="Consolas"/>
              </a:rPr>
              <a:t>thrust::device</a:t>
            </a:r>
            <a:endParaRPr/>
          </a:p>
        </p:txBody>
      </p:sp>
      <p:sp>
        <p:nvSpPr>
          <p:cNvPr id="376" name="Google Shape;376;p5"/>
          <p:cNvSpPr/>
          <p:nvPr/>
        </p:nvSpPr>
        <p:spPr>
          <a:xfrm>
            <a:off x="2532888" y="3767328"/>
            <a:ext cx="2011680" cy="292608"/>
          </a:xfrm>
          <a:prstGeom prst="roundRect">
            <a:avLst>
              <a:gd fmla="val 3500" name="adj"/>
            </a:avLst>
          </a:prstGeom>
          <a:solidFill>
            <a:srgbClr val="F7EEEE"/>
          </a:solidFill>
          <a:ln cap="flat" cmpd="sng" w="9525">
            <a:solidFill>
              <a:srgbClr val="E6D2D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7" name="Google Shape;377;p5"/>
          <p:cNvSpPr txBox="1"/>
          <p:nvPr/>
        </p:nvSpPr>
        <p:spPr>
          <a:xfrm>
            <a:off x="2532888" y="3767328"/>
            <a:ext cx="2011680" cy="292608"/>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950" u="none" cap="none" strike="noStrike">
                <a:solidFill>
                  <a:srgbClr val="500000"/>
                </a:solidFill>
                <a:latin typeface="Arial"/>
                <a:ea typeface="Arial"/>
                <a:cs typeface="Arial"/>
                <a:sym typeface="Arial"/>
              </a:rPr>
              <a:t>compile error</a:t>
            </a:r>
            <a:endParaRPr/>
          </a:p>
        </p:txBody>
      </p:sp>
      <p:sp>
        <p:nvSpPr>
          <p:cNvPr id="378" name="Google Shape;378;p5"/>
          <p:cNvSpPr/>
          <p:nvPr/>
        </p:nvSpPr>
        <p:spPr>
          <a:xfrm>
            <a:off x="4608576" y="3767328"/>
            <a:ext cx="2011680" cy="292608"/>
          </a:xfrm>
          <a:prstGeom prst="roundRect">
            <a:avLst>
              <a:gd fmla="val 3500" name="adj"/>
            </a:avLst>
          </a:prstGeom>
          <a:solidFill>
            <a:srgbClr val="F2F8E8"/>
          </a:solidFill>
          <a:ln cap="flat" cmpd="sng" w="9525">
            <a:solidFill>
              <a:srgbClr val="D8E8B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9" name="Google Shape;379;p5"/>
          <p:cNvSpPr txBox="1"/>
          <p:nvPr/>
        </p:nvSpPr>
        <p:spPr>
          <a:xfrm>
            <a:off x="4608576" y="3767328"/>
            <a:ext cx="2011680" cy="292608"/>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950" u="none" cap="none" strike="noStrike">
                <a:solidFill>
                  <a:srgbClr val="4E7A00"/>
                </a:solidFill>
                <a:latin typeface="Arial"/>
                <a:ea typeface="Arial"/>
                <a:cs typeface="Arial"/>
                <a:sym typeface="Arial"/>
              </a:rPr>
              <a:t>works (GPU)</a:t>
            </a:r>
            <a:endParaRPr/>
          </a:p>
        </p:txBody>
      </p:sp>
      <p:sp>
        <p:nvSpPr>
          <p:cNvPr id="380" name="Google Shape;380;p5"/>
          <p:cNvSpPr/>
          <p:nvPr/>
        </p:nvSpPr>
        <p:spPr>
          <a:xfrm>
            <a:off x="6684264" y="3767328"/>
            <a:ext cx="2011680" cy="292608"/>
          </a:xfrm>
          <a:prstGeom prst="roundRect">
            <a:avLst>
              <a:gd fmla="val 3500" name="adj"/>
            </a:avLst>
          </a:prstGeom>
          <a:solidFill>
            <a:srgbClr val="F2F8E8"/>
          </a:solidFill>
          <a:ln cap="flat" cmpd="sng" w="9525">
            <a:solidFill>
              <a:srgbClr val="D8E8B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1" name="Google Shape;381;p5"/>
          <p:cNvSpPr txBox="1"/>
          <p:nvPr/>
        </p:nvSpPr>
        <p:spPr>
          <a:xfrm>
            <a:off x="6684264" y="3767328"/>
            <a:ext cx="2011680" cy="292608"/>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950" u="none" cap="none" strike="noStrike">
                <a:solidFill>
                  <a:srgbClr val="4E7A00"/>
                </a:solidFill>
                <a:latin typeface="Arial"/>
                <a:ea typeface="Arial"/>
                <a:cs typeface="Arial"/>
                <a:sym typeface="Arial"/>
              </a:rPr>
              <a:t>works (GPU)</a:t>
            </a:r>
            <a:endParaRPr/>
          </a:p>
        </p:txBody>
      </p:sp>
      <p:sp>
        <p:nvSpPr>
          <p:cNvPr id="382" name="Google Shape;382;p5"/>
          <p:cNvSpPr/>
          <p:nvPr/>
        </p:nvSpPr>
        <p:spPr>
          <a:xfrm>
            <a:off x="457200" y="4160520"/>
            <a:ext cx="8229600" cy="457200"/>
          </a:xfrm>
          <a:prstGeom prst="roundRect">
            <a:avLst>
              <a:gd fmla="val 3500" name="adj"/>
            </a:avLst>
          </a:prstGeom>
          <a:solidFill>
            <a:srgbClr val="1B1B1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3" name="Google Shape;383;p5"/>
          <p:cNvSpPr txBox="1"/>
          <p:nvPr/>
        </p:nvSpPr>
        <p:spPr>
          <a:xfrm>
            <a:off x="621792" y="4160520"/>
            <a:ext cx="7955279" cy="457200"/>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1" i="0" lang="en-US" sz="1200" u="none" cap="none" strike="noStrike">
                <a:solidFill>
                  <a:srgbClr val="76B900"/>
                </a:solidFill>
                <a:latin typeface="Arial"/>
                <a:ea typeface="Arial"/>
                <a:cs typeface="Arial"/>
                <a:sym typeface="Arial"/>
              </a:rPr>
              <a:t>Kitchen analogy: </a:t>
            </a:r>
            <a:r>
              <a:rPr b="0" i="0" lang="en-US" sz="1200" u="none" cap="none" strike="noStrike">
                <a:solidFill>
                  <a:srgbClr val="FFFFFF"/>
                </a:solidFill>
                <a:latin typeface="Arial"/>
                <a:ea typeface="Arial"/>
                <a:cs typeface="Arial"/>
                <a:sym typeface="Arial"/>
              </a:rPr>
              <a:t>specifier = recipe a kitchen knows; policy = which kitchen gets the order.</a:t>
            </a:r>
            <a:endParaRPr/>
          </a:p>
        </p:txBody>
      </p:sp>
      <p:sp>
        <p:nvSpPr>
          <p:cNvPr id="384" name="Google Shape;384;p5"/>
          <p:cNvSpPr/>
          <p:nvPr/>
        </p:nvSpPr>
        <p:spPr>
          <a:xfrm>
            <a:off x="636879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5"/>
          <p:cNvSpPr/>
          <p:nvPr/>
        </p:nvSpPr>
        <p:spPr>
          <a:xfrm>
            <a:off x="644194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5"/>
          <p:cNvSpPr/>
          <p:nvPr/>
        </p:nvSpPr>
        <p:spPr>
          <a:xfrm>
            <a:off x="6515100"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5"/>
          <p:cNvSpPr/>
          <p:nvPr/>
        </p:nvSpPr>
        <p:spPr>
          <a:xfrm>
            <a:off x="6588252"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5"/>
          <p:cNvSpPr/>
          <p:nvPr/>
        </p:nvSpPr>
        <p:spPr>
          <a:xfrm>
            <a:off x="6661404"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5"/>
          <p:cNvSpPr/>
          <p:nvPr/>
        </p:nvSpPr>
        <p:spPr>
          <a:xfrm>
            <a:off x="673455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5"/>
          <p:cNvSpPr/>
          <p:nvPr/>
        </p:nvSpPr>
        <p:spPr>
          <a:xfrm>
            <a:off x="6807708" y="4901184"/>
            <a:ext cx="50292" cy="50292"/>
          </a:xfrm>
          <a:prstGeom prst="rect">
            <a:avLst/>
          </a:prstGeom>
          <a:solidFill>
            <a:srgbClr val="5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5"/>
          <p:cNvSpPr/>
          <p:nvPr/>
        </p:nvSpPr>
        <p:spPr>
          <a:xfrm>
            <a:off x="6880860"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5"/>
          <p:cNvSpPr/>
          <p:nvPr/>
        </p:nvSpPr>
        <p:spPr>
          <a:xfrm>
            <a:off x="695401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5"/>
          <p:cNvSpPr/>
          <p:nvPr/>
        </p:nvSpPr>
        <p:spPr>
          <a:xfrm>
            <a:off x="702716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5"/>
          <p:cNvSpPr/>
          <p:nvPr/>
        </p:nvSpPr>
        <p:spPr>
          <a:xfrm>
            <a:off x="710031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5"/>
          <p:cNvSpPr/>
          <p:nvPr/>
        </p:nvSpPr>
        <p:spPr>
          <a:xfrm>
            <a:off x="717346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5"/>
          <p:cNvSpPr/>
          <p:nvPr/>
        </p:nvSpPr>
        <p:spPr>
          <a:xfrm>
            <a:off x="7246620"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5"/>
          <p:cNvSpPr/>
          <p:nvPr/>
        </p:nvSpPr>
        <p:spPr>
          <a:xfrm>
            <a:off x="731977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5"/>
          <p:cNvSpPr/>
          <p:nvPr/>
        </p:nvSpPr>
        <p:spPr>
          <a:xfrm>
            <a:off x="739292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5"/>
          <p:cNvSpPr/>
          <p:nvPr/>
        </p:nvSpPr>
        <p:spPr>
          <a:xfrm>
            <a:off x="746607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5"/>
          <p:cNvSpPr/>
          <p:nvPr/>
        </p:nvSpPr>
        <p:spPr>
          <a:xfrm>
            <a:off x="753922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5"/>
          <p:cNvSpPr/>
          <p:nvPr/>
        </p:nvSpPr>
        <p:spPr>
          <a:xfrm>
            <a:off x="7612380"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5"/>
          <p:cNvSpPr/>
          <p:nvPr/>
        </p:nvSpPr>
        <p:spPr>
          <a:xfrm>
            <a:off x="768553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5"/>
          <p:cNvSpPr/>
          <p:nvPr/>
        </p:nvSpPr>
        <p:spPr>
          <a:xfrm>
            <a:off x="775868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5"/>
          <p:cNvSpPr/>
          <p:nvPr/>
        </p:nvSpPr>
        <p:spPr>
          <a:xfrm>
            <a:off x="783183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5"/>
          <p:cNvSpPr/>
          <p:nvPr/>
        </p:nvSpPr>
        <p:spPr>
          <a:xfrm>
            <a:off x="790498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5"/>
          <p:cNvSpPr/>
          <p:nvPr/>
        </p:nvSpPr>
        <p:spPr>
          <a:xfrm>
            <a:off x="7978140"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5"/>
          <p:cNvSpPr/>
          <p:nvPr/>
        </p:nvSpPr>
        <p:spPr>
          <a:xfrm>
            <a:off x="805129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5"/>
          <p:cNvSpPr/>
          <p:nvPr/>
        </p:nvSpPr>
        <p:spPr>
          <a:xfrm>
            <a:off x="812444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5"/>
          <p:cNvSpPr/>
          <p:nvPr/>
        </p:nvSpPr>
        <p:spPr>
          <a:xfrm>
            <a:off x="819759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5"/>
          <p:cNvSpPr/>
          <p:nvPr/>
        </p:nvSpPr>
        <p:spPr>
          <a:xfrm>
            <a:off x="827074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5"/>
          <p:cNvSpPr/>
          <p:nvPr/>
        </p:nvSpPr>
        <p:spPr>
          <a:xfrm>
            <a:off x="8343900"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5"/>
          <p:cNvSpPr/>
          <p:nvPr/>
        </p:nvSpPr>
        <p:spPr>
          <a:xfrm>
            <a:off x="841705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5"/>
          <p:cNvSpPr/>
          <p:nvPr/>
        </p:nvSpPr>
        <p:spPr>
          <a:xfrm>
            <a:off x="849020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5"/>
          <p:cNvSpPr/>
          <p:nvPr/>
        </p:nvSpPr>
        <p:spPr>
          <a:xfrm>
            <a:off x="856335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5"/>
          <p:cNvSpPr/>
          <p:nvPr/>
        </p:nvSpPr>
        <p:spPr>
          <a:xfrm>
            <a:off x="863650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5"/>
          <p:cNvSpPr txBox="1"/>
          <p:nvPr/>
        </p:nvSpPr>
        <p:spPr>
          <a:xfrm>
            <a:off x="5472684" y="4846320"/>
            <a:ext cx="822960" cy="15544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00" u="none" cap="none" strike="noStrike">
                <a:solidFill>
                  <a:srgbClr val="9A9AA0"/>
                </a:solidFill>
                <a:latin typeface="Consolas"/>
                <a:ea typeface="Consolas"/>
                <a:cs typeface="Consolas"/>
                <a:sym typeface="Consolas"/>
              </a:rPr>
              <a:t>slide[6]</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1" name="Shape 421"/>
        <p:cNvGrpSpPr/>
        <p:nvPr/>
      </p:nvGrpSpPr>
      <p:grpSpPr>
        <a:xfrm>
          <a:off x="0" y="0"/>
          <a:ext cx="0" cy="0"/>
          <a:chOff x="0" y="0"/>
          <a:chExt cx="0" cy="0"/>
        </a:xfrm>
      </p:grpSpPr>
      <p:sp>
        <p:nvSpPr>
          <p:cNvPr id="422" name="Google Shape;422;p21"/>
          <p:cNvSpPr txBox="1"/>
          <p:nvPr/>
        </p:nvSpPr>
        <p:spPr>
          <a:xfrm>
            <a:off x="457200" y="320040"/>
            <a:ext cx="8229600" cy="54864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2800" u="none" cap="none" strike="noStrike">
                <a:solidFill>
                  <a:srgbClr val="500000"/>
                </a:solidFill>
                <a:latin typeface="Arial"/>
                <a:ea typeface="Arial"/>
                <a:cs typeface="Arial"/>
                <a:sym typeface="Arial"/>
              </a:rPr>
              <a:t>Putting it together: Exercise 3, line by line</a:t>
            </a:r>
            <a:endParaRPr/>
          </a:p>
        </p:txBody>
      </p:sp>
      <p:sp>
        <p:nvSpPr>
          <p:cNvPr id="423" name="Google Shape;423;p21"/>
          <p:cNvSpPr txBox="1"/>
          <p:nvPr/>
        </p:nvSpPr>
        <p:spPr>
          <a:xfrm>
            <a:off x="457200" y="868680"/>
            <a:ext cx="8229600" cy="27432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0" i="0" lang="en-US" sz="1200" u="none" cap="none" strike="noStrike">
                <a:solidFill>
                  <a:srgbClr val="6E6E6E"/>
                </a:solidFill>
                <a:latin typeface="Arial"/>
                <a:ea typeface="Arial"/>
                <a:cs typeface="Arial"/>
                <a:sym typeface="Arial"/>
              </a:rPr>
              <a:t>A cooling simulation: every temperature moves halfway to room temperature</a:t>
            </a:r>
            <a:endParaRPr/>
          </a:p>
        </p:txBody>
      </p:sp>
      <p:sp>
        <p:nvSpPr>
          <p:cNvPr id="424" name="Google Shape;424;p21"/>
          <p:cNvSpPr/>
          <p:nvPr/>
        </p:nvSpPr>
        <p:spPr>
          <a:xfrm>
            <a:off x="457200" y="1234440"/>
            <a:ext cx="5120640" cy="2057400"/>
          </a:xfrm>
          <a:prstGeom prst="roundRect">
            <a:avLst>
              <a:gd fmla="val 3500" name="adj"/>
            </a:avLst>
          </a:prstGeom>
          <a:solidFill>
            <a:srgbClr val="1B1B1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5" name="Google Shape;425;p21"/>
          <p:cNvSpPr txBox="1"/>
          <p:nvPr/>
        </p:nvSpPr>
        <p:spPr>
          <a:xfrm>
            <a:off x="594360" y="1325880"/>
            <a:ext cx="4846320" cy="1874519"/>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0" i="0" lang="en-US" sz="950" u="none" cap="none" strike="noStrike">
                <a:solidFill>
                  <a:srgbClr val="6E6E6E"/>
                </a:solidFill>
                <a:latin typeface="Consolas"/>
                <a:ea typeface="Consolas"/>
                <a:cs typeface="Consolas"/>
                <a:sym typeface="Consolas"/>
              </a:rPr>
              <a:t> 1  </a:t>
            </a:r>
            <a:r>
              <a:rPr b="0" i="0" lang="en-US" sz="950" u="none" cap="none" strike="noStrike">
                <a:solidFill>
                  <a:srgbClr val="9CDCFE"/>
                </a:solidFill>
                <a:latin typeface="Consolas"/>
                <a:ea typeface="Consolas"/>
                <a:cs typeface="Consolas"/>
                <a:sym typeface="Consolas"/>
              </a:rPr>
              <a:t>thrust::universal_vector&lt;</a:t>
            </a:r>
            <a:r>
              <a:rPr b="0" i="0" lang="en-US" sz="950" u="none" cap="none" strike="noStrike">
                <a:solidFill>
                  <a:srgbClr val="C586C0"/>
                </a:solidFill>
                <a:latin typeface="Consolas"/>
                <a:ea typeface="Consolas"/>
                <a:cs typeface="Consolas"/>
                <a:sym typeface="Consolas"/>
              </a:rPr>
              <a:t>float</a:t>
            </a:r>
            <a:r>
              <a:rPr b="0" i="0" lang="en-US" sz="950" u="none" cap="none" strike="noStrike">
                <a:solidFill>
                  <a:srgbClr val="9CDCFE"/>
                </a:solidFill>
                <a:latin typeface="Consolas"/>
                <a:ea typeface="Consolas"/>
                <a:cs typeface="Consolas"/>
                <a:sym typeface="Consolas"/>
              </a:rPr>
              <a:t>&gt; temp{</a:t>
            </a:r>
            <a:r>
              <a:rPr b="0" i="0" lang="en-US" sz="950" u="none" cap="none" strike="noStrike">
                <a:solidFill>
                  <a:srgbClr val="B5CEA8"/>
                </a:solidFill>
                <a:latin typeface="Consolas"/>
                <a:ea typeface="Consolas"/>
                <a:cs typeface="Consolas"/>
                <a:sym typeface="Consolas"/>
              </a:rPr>
              <a:t>42</a:t>
            </a:r>
            <a:r>
              <a:rPr b="0" i="0" lang="en-US" sz="950" u="none" cap="none" strike="noStrike">
                <a:solidFill>
                  <a:srgbClr val="9CDCFE"/>
                </a:solidFill>
                <a:latin typeface="Consolas"/>
                <a:ea typeface="Consolas"/>
                <a:cs typeface="Consolas"/>
                <a:sym typeface="Consolas"/>
              </a:rPr>
              <a:t>, </a:t>
            </a:r>
            <a:r>
              <a:rPr b="0" i="0" lang="en-US" sz="950" u="none" cap="none" strike="noStrike">
                <a:solidFill>
                  <a:srgbClr val="B5CEA8"/>
                </a:solidFill>
                <a:latin typeface="Consolas"/>
                <a:ea typeface="Consolas"/>
                <a:cs typeface="Consolas"/>
                <a:sym typeface="Consolas"/>
              </a:rPr>
              <a:t>24</a:t>
            </a:r>
            <a:r>
              <a:rPr b="0" i="0" lang="en-US" sz="950" u="none" cap="none" strike="noStrike">
                <a:solidFill>
                  <a:srgbClr val="9CDCFE"/>
                </a:solidFill>
                <a:latin typeface="Consolas"/>
                <a:ea typeface="Consolas"/>
                <a:cs typeface="Consolas"/>
                <a:sym typeface="Consolas"/>
              </a:rPr>
              <a:t>, </a:t>
            </a:r>
            <a:r>
              <a:rPr b="0" i="0" lang="en-US" sz="950" u="none" cap="none" strike="noStrike">
                <a:solidFill>
                  <a:srgbClr val="B5CEA8"/>
                </a:solidFill>
                <a:latin typeface="Consolas"/>
                <a:ea typeface="Consolas"/>
                <a:cs typeface="Consolas"/>
                <a:sym typeface="Consolas"/>
              </a:rPr>
              <a:t>50</a:t>
            </a:r>
            <a:r>
              <a:rPr b="0" i="0" lang="en-US" sz="950" u="none" cap="none" strike="noStrike">
                <a:solidFill>
                  <a:srgbClr val="9CDCFE"/>
                </a:solidFill>
                <a:latin typeface="Consolas"/>
                <a:ea typeface="Consolas"/>
                <a:cs typeface="Consolas"/>
                <a:sym typeface="Consolas"/>
              </a:rPr>
              <a:t>};</a:t>
            </a:r>
            <a:endParaRPr/>
          </a:p>
          <a:p>
            <a:pPr indent="0" lvl="0" marL="0" marR="0" rtl="0" algn="l">
              <a:lnSpc>
                <a:spcPct val="100000"/>
              </a:lnSpc>
              <a:spcBef>
                <a:spcPts val="0"/>
              </a:spcBef>
              <a:spcAft>
                <a:spcPts val="0"/>
              </a:spcAft>
              <a:buNone/>
            </a:pPr>
            <a:r>
              <a:rPr b="0" i="0" lang="en-US" sz="950" u="none" cap="none" strike="noStrike">
                <a:solidFill>
                  <a:srgbClr val="6E6E6E"/>
                </a:solidFill>
                <a:latin typeface="Consolas"/>
                <a:ea typeface="Consolas"/>
                <a:cs typeface="Consolas"/>
                <a:sym typeface="Consolas"/>
              </a:rPr>
              <a:t> 2  </a:t>
            </a:r>
            <a:r>
              <a:rPr b="0" i="0" lang="en-US" sz="950" u="none" cap="none" strike="noStrike">
                <a:solidFill>
                  <a:srgbClr val="C586C0"/>
                </a:solidFill>
                <a:latin typeface="Consolas"/>
                <a:ea typeface="Consolas"/>
                <a:cs typeface="Consolas"/>
                <a:sym typeface="Consolas"/>
              </a:rPr>
              <a:t>float</a:t>
            </a:r>
            <a:r>
              <a:rPr b="0" i="0" lang="en-US" sz="950" u="none" cap="none" strike="noStrike">
                <a:solidFill>
                  <a:srgbClr val="9CDCFE"/>
                </a:solidFill>
                <a:latin typeface="Consolas"/>
                <a:ea typeface="Consolas"/>
                <a:cs typeface="Consolas"/>
                <a:sym typeface="Consolas"/>
              </a:rPr>
              <a:t> k = </a:t>
            </a:r>
            <a:r>
              <a:rPr b="0" i="0" lang="en-US" sz="950" u="none" cap="none" strike="noStrike">
                <a:solidFill>
                  <a:srgbClr val="B5CEA8"/>
                </a:solidFill>
                <a:latin typeface="Consolas"/>
                <a:ea typeface="Consolas"/>
                <a:cs typeface="Consolas"/>
                <a:sym typeface="Consolas"/>
              </a:rPr>
              <a:t>0.5f</a:t>
            </a:r>
            <a:r>
              <a:rPr b="0" i="0" lang="en-US" sz="950" u="none" cap="none" strike="noStrike">
                <a:solidFill>
                  <a:srgbClr val="9CDCFE"/>
                </a:solidFill>
                <a:latin typeface="Consolas"/>
                <a:ea typeface="Consolas"/>
                <a:cs typeface="Consolas"/>
                <a:sym typeface="Consolas"/>
              </a:rPr>
              <a:t>, room = </a:t>
            </a:r>
            <a:r>
              <a:rPr b="0" i="0" lang="en-US" sz="950" u="none" cap="none" strike="noStrike">
                <a:solidFill>
                  <a:srgbClr val="B5CEA8"/>
                </a:solidFill>
                <a:latin typeface="Consolas"/>
                <a:ea typeface="Consolas"/>
                <a:cs typeface="Consolas"/>
                <a:sym typeface="Consolas"/>
              </a:rPr>
              <a:t>20</a:t>
            </a:r>
            <a:r>
              <a:rPr b="0" i="0" lang="en-US" sz="950" u="none" cap="none" strike="noStrike">
                <a:solidFill>
                  <a:srgbClr val="9CDCFE"/>
                </a:solidFill>
                <a:latin typeface="Consolas"/>
                <a:ea typeface="Consolas"/>
                <a:cs typeface="Consolas"/>
                <a:sym typeface="Consolas"/>
              </a:rPr>
              <a:t>;</a:t>
            </a:r>
            <a:endParaRPr/>
          </a:p>
          <a:p>
            <a:pPr indent="0" lvl="0" marL="0" marR="0" rtl="0" algn="l">
              <a:lnSpc>
                <a:spcPct val="100000"/>
              </a:lnSpc>
              <a:spcBef>
                <a:spcPts val="0"/>
              </a:spcBef>
              <a:spcAft>
                <a:spcPts val="0"/>
              </a:spcAft>
              <a:buNone/>
            </a:pPr>
            <a:r>
              <a:rPr b="0" i="0" lang="en-US" sz="950" u="none" cap="none" strike="noStrike">
                <a:solidFill>
                  <a:srgbClr val="6E6E6E"/>
                </a:solidFill>
                <a:latin typeface="Consolas"/>
                <a:ea typeface="Consolas"/>
                <a:cs typeface="Consolas"/>
                <a:sym typeface="Consolas"/>
              </a:rPr>
              <a:t> 3  </a:t>
            </a:r>
            <a:r>
              <a:rPr b="0" i="0" lang="en-US" sz="950" u="none" cap="none" strike="noStrike">
                <a:solidFill>
                  <a:srgbClr val="2B2B2B"/>
                </a:solidFill>
                <a:latin typeface="Consolas"/>
                <a:ea typeface="Consolas"/>
                <a:cs typeface="Consolas"/>
                <a:sym typeface="Consolas"/>
              </a:rPr>
              <a:t> </a:t>
            </a:r>
            <a:endParaRPr/>
          </a:p>
          <a:p>
            <a:pPr indent="0" lvl="0" marL="0" marR="0" rtl="0" algn="l">
              <a:lnSpc>
                <a:spcPct val="100000"/>
              </a:lnSpc>
              <a:spcBef>
                <a:spcPts val="0"/>
              </a:spcBef>
              <a:spcAft>
                <a:spcPts val="0"/>
              </a:spcAft>
              <a:buNone/>
            </a:pPr>
            <a:r>
              <a:rPr b="0" i="0" lang="en-US" sz="950" u="none" cap="none" strike="noStrike">
                <a:solidFill>
                  <a:srgbClr val="6E6E6E"/>
                </a:solidFill>
                <a:latin typeface="Consolas"/>
                <a:ea typeface="Consolas"/>
                <a:cs typeface="Consolas"/>
                <a:sym typeface="Consolas"/>
              </a:rPr>
              <a:t> 4  </a:t>
            </a:r>
            <a:r>
              <a:rPr b="0" i="0" lang="en-US" sz="950" u="none" cap="none" strike="noStrike">
                <a:solidFill>
                  <a:srgbClr val="C586C0"/>
                </a:solidFill>
                <a:latin typeface="Consolas"/>
                <a:ea typeface="Consolas"/>
                <a:cs typeface="Consolas"/>
                <a:sym typeface="Consolas"/>
              </a:rPr>
              <a:t>auto</a:t>
            </a:r>
            <a:r>
              <a:rPr b="0" i="0" lang="en-US" sz="950" u="none" cap="none" strike="noStrike">
                <a:solidFill>
                  <a:srgbClr val="9CDCFE"/>
                </a:solidFill>
                <a:latin typeface="Consolas"/>
                <a:ea typeface="Consolas"/>
                <a:cs typeface="Consolas"/>
                <a:sym typeface="Consolas"/>
              </a:rPr>
              <a:t> op = [=] </a:t>
            </a:r>
            <a:r>
              <a:rPr b="0" i="0" lang="en-US" sz="950" u="none" cap="none" strike="noStrike">
                <a:solidFill>
                  <a:srgbClr val="C586C0"/>
                </a:solidFill>
                <a:latin typeface="Consolas"/>
                <a:ea typeface="Consolas"/>
                <a:cs typeface="Consolas"/>
                <a:sym typeface="Consolas"/>
              </a:rPr>
              <a:t>__host__</a:t>
            </a:r>
            <a:r>
              <a:rPr b="0" i="0" lang="en-US" sz="950" u="none" cap="none" strike="noStrike">
                <a:solidFill>
                  <a:srgbClr val="9CDCFE"/>
                </a:solidFill>
                <a:latin typeface="Consolas"/>
                <a:ea typeface="Consolas"/>
                <a:cs typeface="Consolas"/>
                <a:sym typeface="Consolas"/>
              </a:rPr>
              <a:t> </a:t>
            </a:r>
            <a:r>
              <a:rPr b="0" i="0" lang="en-US" sz="950" u="none" cap="none" strike="noStrike">
                <a:solidFill>
                  <a:srgbClr val="C586C0"/>
                </a:solidFill>
                <a:latin typeface="Consolas"/>
                <a:ea typeface="Consolas"/>
                <a:cs typeface="Consolas"/>
                <a:sym typeface="Consolas"/>
              </a:rPr>
              <a:t>__device__</a:t>
            </a:r>
            <a:r>
              <a:rPr b="0" i="0" lang="en-US" sz="950" u="none" cap="none" strike="noStrike">
                <a:solidFill>
                  <a:srgbClr val="9CDCFE"/>
                </a:solidFill>
                <a:latin typeface="Consolas"/>
                <a:ea typeface="Consolas"/>
                <a:cs typeface="Consolas"/>
                <a:sym typeface="Consolas"/>
              </a:rPr>
              <a:t> (</a:t>
            </a:r>
            <a:r>
              <a:rPr b="0" i="0" lang="en-US" sz="950" u="none" cap="none" strike="noStrike">
                <a:solidFill>
                  <a:srgbClr val="C586C0"/>
                </a:solidFill>
                <a:latin typeface="Consolas"/>
                <a:ea typeface="Consolas"/>
                <a:cs typeface="Consolas"/>
                <a:sym typeface="Consolas"/>
              </a:rPr>
              <a:t>float</a:t>
            </a:r>
            <a:r>
              <a:rPr b="0" i="0" lang="en-US" sz="950" u="none" cap="none" strike="noStrike">
                <a:solidFill>
                  <a:srgbClr val="9CDCFE"/>
                </a:solidFill>
                <a:latin typeface="Consolas"/>
                <a:ea typeface="Consolas"/>
                <a:cs typeface="Consolas"/>
                <a:sym typeface="Consolas"/>
              </a:rPr>
              <a:t> t) {</a:t>
            </a:r>
            <a:endParaRPr/>
          </a:p>
          <a:p>
            <a:pPr indent="0" lvl="0" marL="0" marR="0" rtl="0" algn="l">
              <a:lnSpc>
                <a:spcPct val="100000"/>
              </a:lnSpc>
              <a:spcBef>
                <a:spcPts val="0"/>
              </a:spcBef>
              <a:spcAft>
                <a:spcPts val="0"/>
              </a:spcAft>
              <a:buNone/>
            </a:pPr>
            <a:r>
              <a:rPr b="0" i="0" lang="en-US" sz="950" u="none" cap="none" strike="noStrike">
                <a:solidFill>
                  <a:srgbClr val="6E6E6E"/>
                </a:solidFill>
                <a:latin typeface="Consolas"/>
                <a:ea typeface="Consolas"/>
                <a:cs typeface="Consolas"/>
                <a:sym typeface="Consolas"/>
              </a:rPr>
              <a:t> 5  </a:t>
            </a:r>
            <a:r>
              <a:rPr b="0" i="0" lang="en-US" sz="950" u="none" cap="none" strike="noStrike">
                <a:solidFill>
                  <a:srgbClr val="9CDCFE"/>
                </a:solidFill>
                <a:latin typeface="Consolas"/>
                <a:ea typeface="Consolas"/>
                <a:cs typeface="Consolas"/>
                <a:sym typeface="Consolas"/>
              </a:rPr>
              <a:t>  </a:t>
            </a:r>
            <a:r>
              <a:rPr b="0" i="0" lang="en-US" sz="950" u="none" cap="none" strike="noStrike">
                <a:solidFill>
                  <a:srgbClr val="C586C0"/>
                </a:solidFill>
                <a:latin typeface="Consolas"/>
                <a:ea typeface="Consolas"/>
                <a:cs typeface="Consolas"/>
                <a:sym typeface="Consolas"/>
              </a:rPr>
              <a:t>return</a:t>
            </a:r>
            <a:r>
              <a:rPr b="0" i="0" lang="en-US" sz="950" u="none" cap="none" strike="noStrike">
                <a:solidFill>
                  <a:srgbClr val="9CDCFE"/>
                </a:solidFill>
                <a:latin typeface="Consolas"/>
                <a:ea typeface="Consolas"/>
                <a:cs typeface="Consolas"/>
                <a:sym typeface="Consolas"/>
              </a:rPr>
              <a:t> t + k * (room - t);</a:t>
            </a:r>
            <a:endParaRPr/>
          </a:p>
          <a:p>
            <a:pPr indent="0" lvl="0" marL="0" marR="0" rtl="0" algn="l">
              <a:lnSpc>
                <a:spcPct val="100000"/>
              </a:lnSpc>
              <a:spcBef>
                <a:spcPts val="0"/>
              </a:spcBef>
              <a:spcAft>
                <a:spcPts val="0"/>
              </a:spcAft>
              <a:buNone/>
            </a:pPr>
            <a:r>
              <a:rPr b="0" i="0" lang="en-US" sz="950" u="none" cap="none" strike="noStrike">
                <a:solidFill>
                  <a:srgbClr val="6E6E6E"/>
                </a:solidFill>
                <a:latin typeface="Consolas"/>
                <a:ea typeface="Consolas"/>
                <a:cs typeface="Consolas"/>
                <a:sym typeface="Consolas"/>
              </a:rPr>
              <a:t> 6  </a:t>
            </a:r>
            <a:r>
              <a:rPr b="0" i="0" lang="en-US" sz="950" u="none" cap="none" strike="noStrike">
                <a:solidFill>
                  <a:srgbClr val="9CDCFE"/>
                </a:solidFill>
                <a:latin typeface="Consolas"/>
                <a:ea typeface="Consolas"/>
                <a:cs typeface="Consolas"/>
                <a:sym typeface="Consolas"/>
              </a:rPr>
              <a:t>};</a:t>
            </a:r>
            <a:endParaRPr/>
          </a:p>
          <a:p>
            <a:pPr indent="0" lvl="0" marL="0" marR="0" rtl="0" algn="l">
              <a:lnSpc>
                <a:spcPct val="100000"/>
              </a:lnSpc>
              <a:spcBef>
                <a:spcPts val="0"/>
              </a:spcBef>
              <a:spcAft>
                <a:spcPts val="0"/>
              </a:spcAft>
              <a:buNone/>
            </a:pPr>
            <a:r>
              <a:rPr b="0" i="0" lang="en-US" sz="950" u="none" cap="none" strike="noStrike">
                <a:solidFill>
                  <a:srgbClr val="6E6E6E"/>
                </a:solidFill>
                <a:latin typeface="Consolas"/>
                <a:ea typeface="Consolas"/>
                <a:cs typeface="Consolas"/>
                <a:sym typeface="Consolas"/>
              </a:rPr>
              <a:t> 7  </a:t>
            </a:r>
            <a:r>
              <a:rPr b="0" i="0" lang="en-US" sz="950" u="none" cap="none" strike="noStrike">
                <a:solidFill>
                  <a:srgbClr val="2B2B2B"/>
                </a:solidFill>
                <a:latin typeface="Consolas"/>
                <a:ea typeface="Consolas"/>
                <a:cs typeface="Consolas"/>
                <a:sym typeface="Consolas"/>
              </a:rPr>
              <a:t> </a:t>
            </a:r>
            <a:endParaRPr/>
          </a:p>
          <a:p>
            <a:pPr indent="0" lvl="0" marL="0" marR="0" rtl="0" algn="l">
              <a:lnSpc>
                <a:spcPct val="100000"/>
              </a:lnSpc>
              <a:spcBef>
                <a:spcPts val="0"/>
              </a:spcBef>
              <a:spcAft>
                <a:spcPts val="0"/>
              </a:spcAft>
              <a:buNone/>
            </a:pPr>
            <a:r>
              <a:rPr b="0" i="0" lang="en-US" sz="950" u="none" cap="none" strike="noStrike">
                <a:solidFill>
                  <a:srgbClr val="6E6E6E"/>
                </a:solidFill>
                <a:latin typeface="Consolas"/>
                <a:ea typeface="Consolas"/>
                <a:cs typeface="Consolas"/>
                <a:sym typeface="Consolas"/>
              </a:rPr>
              <a:t> 8  </a:t>
            </a:r>
            <a:r>
              <a:rPr b="0" i="0" lang="en-US" sz="950" u="none" cap="none" strike="noStrike">
                <a:solidFill>
                  <a:srgbClr val="9CDCFE"/>
                </a:solidFill>
                <a:latin typeface="Consolas"/>
                <a:ea typeface="Consolas"/>
                <a:cs typeface="Consolas"/>
                <a:sym typeface="Consolas"/>
              </a:rPr>
              <a:t>thrust::transform(thrust::device,</a:t>
            </a:r>
            <a:endParaRPr/>
          </a:p>
          <a:p>
            <a:pPr indent="0" lvl="0" marL="0" marR="0" rtl="0" algn="l">
              <a:lnSpc>
                <a:spcPct val="100000"/>
              </a:lnSpc>
              <a:spcBef>
                <a:spcPts val="0"/>
              </a:spcBef>
              <a:spcAft>
                <a:spcPts val="0"/>
              </a:spcAft>
              <a:buNone/>
            </a:pPr>
            <a:r>
              <a:rPr b="0" i="0" lang="en-US" sz="950" u="none" cap="none" strike="noStrike">
                <a:solidFill>
                  <a:srgbClr val="6E6E6E"/>
                </a:solidFill>
                <a:latin typeface="Consolas"/>
                <a:ea typeface="Consolas"/>
                <a:cs typeface="Consolas"/>
                <a:sym typeface="Consolas"/>
              </a:rPr>
              <a:t> 9  </a:t>
            </a:r>
            <a:r>
              <a:rPr b="0" i="0" lang="en-US" sz="950" u="none" cap="none" strike="noStrike">
                <a:solidFill>
                  <a:srgbClr val="9CDCFE"/>
                </a:solidFill>
                <a:latin typeface="Consolas"/>
                <a:ea typeface="Consolas"/>
                <a:cs typeface="Consolas"/>
                <a:sym typeface="Consolas"/>
              </a:rPr>
              <a:t>    temp.begin(), temp.end(), temp.begin(), op);</a:t>
            </a:r>
            <a:endParaRPr/>
          </a:p>
          <a:p>
            <a:pPr indent="0" lvl="0" marL="0" marR="0" rtl="0" algn="l">
              <a:lnSpc>
                <a:spcPct val="100000"/>
              </a:lnSpc>
              <a:spcBef>
                <a:spcPts val="0"/>
              </a:spcBef>
              <a:spcAft>
                <a:spcPts val="0"/>
              </a:spcAft>
              <a:buNone/>
            </a:pPr>
            <a:r>
              <a:rPr b="0" i="0" lang="en-US" sz="950" u="none" cap="none" strike="noStrike">
                <a:solidFill>
                  <a:srgbClr val="6E6E6E"/>
                </a:solidFill>
                <a:latin typeface="Consolas"/>
                <a:ea typeface="Consolas"/>
                <a:cs typeface="Consolas"/>
                <a:sym typeface="Consolas"/>
              </a:rPr>
              <a:t>10  </a:t>
            </a:r>
            <a:r>
              <a:rPr b="0" i="0" lang="en-US" sz="950" u="none" cap="none" strike="noStrike">
                <a:solidFill>
                  <a:srgbClr val="6A9955"/>
                </a:solidFill>
                <a:latin typeface="Consolas"/>
                <a:ea typeface="Consolas"/>
                <a:cs typeface="Consolas"/>
                <a:sym typeface="Consolas"/>
              </a:rPr>
              <a:t>// temp is now {31, 22, 35}</a:t>
            </a:r>
            <a:endParaRPr/>
          </a:p>
        </p:txBody>
      </p:sp>
      <p:sp>
        <p:nvSpPr>
          <p:cNvPr id="426" name="Google Shape;426;p21"/>
          <p:cNvSpPr/>
          <p:nvPr/>
        </p:nvSpPr>
        <p:spPr>
          <a:xfrm>
            <a:off x="5760720" y="1234440"/>
            <a:ext cx="566928" cy="292608"/>
          </a:xfrm>
          <a:prstGeom prst="roundRect">
            <a:avLst>
              <a:gd fmla="val 8000" name="adj"/>
            </a:avLst>
          </a:prstGeom>
          <a:solidFill>
            <a:srgbClr val="5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7" name="Google Shape;427;p21"/>
          <p:cNvSpPr txBox="1"/>
          <p:nvPr/>
        </p:nvSpPr>
        <p:spPr>
          <a:xfrm>
            <a:off x="5760720" y="1234440"/>
            <a:ext cx="566928" cy="292608"/>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950" u="none" cap="none" strike="noStrike">
                <a:solidFill>
                  <a:srgbClr val="FFFFFF"/>
                </a:solidFill>
                <a:latin typeface="Arial"/>
                <a:ea typeface="Arial"/>
                <a:cs typeface="Arial"/>
                <a:sym typeface="Arial"/>
              </a:rPr>
              <a:t>1</a:t>
            </a:r>
            <a:endParaRPr/>
          </a:p>
        </p:txBody>
      </p:sp>
      <p:sp>
        <p:nvSpPr>
          <p:cNvPr id="428" name="Google Shape;428;p21"/>
          <p:cNvSpPr txBox="1"/>
          <p:nvPr/>
        </p:nvSpPr>
        <p:spPr>
          <a:xfrm>
            <a:off x="6400800" y="1197864"/>
            <a:ext cx="2286000" cy="50292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0" i="0" lang="en-US" sz="950" u="none" cap="none" strike="noStrike">
                <a:solidFill>
                  <a:srgbClr val="2B2B2B"/>
                </a:solidFill>
                <a:latin typeface="Arial"/>
                <a:ea typeface="Arial"/>
                <a:cs typeface="Arial"/>
                <a:sym typeface="Arial"/>
              </a:rPr>
              <a:t>Make a list of 3 temperatures that both CPU and GPU can read.</a:t>
            </a:r>
            <a:endParaRPr/>
          </a:p>
        </p:txBody>
      </p:sp>
      <p:sp>
        <p:nvSpPr>
          <p:cNvPr id="429" name="Google Shape;429;p21"/>
          <p:cNvSpPr/>
          <p:nvPr/>
        </p:nvSpPr>
        <p:spPr>
          <a:xfrm>
            <a:off x="5760720" y="1755648"/>
            <a:ext cx="566928" cy="292608"/>
          </a:xfrm>
          <a:prstGeom prst="roundRect">
            <a:avLst>
              <a:gd fmla="val 8000" name="adj"/>
            </a:avLst>
          </a:prstGeom>
          <a:solidFill>
            <a:srgbClr val="5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0" name="Google Shape;430;p21"/>
          <p:cNvSpPr txBox="1"/>
          <p:nvPr/>
        </p:nvSpPr>
        <p:spPr>
          <a:xfrm>
            <a:off x="5760720" y="1755648"/>
            <a:ext cx="566928" cy="292608"/>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950" u="none" cap="none" strike="noStrike">
                <a:solidFill>
                  <a:srgbClr val="FFFFFF"/>
                </a:solidFill>
                <a:latin typeface="Arial"/>
                <a:ea typeface="Arial"/>
                <a:cs typeface="Arial"/>
                <a:sym typeface="Arial"/>
              </a:rPr>
              <a:t>2</a:t>
            </a:r>
            <a:endParaRPr/>
          </a:p>
        </p:txBody>
      </p:sp>
      <p:sp>
        <p:nvSpPr>
          <p:cNvPr id="431" name="Google Shape;431;p21"/>
          <p:cNvSpPr txBox="1"/>
          <p:nvPr/>
        </p:nvSpPr>
        <p:spPr>
          <a:xfrm>
            <a:off x="6400800" y="1719072"/>
            <a:ext cx="2286000" cy="50292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0" i="0" lang="en-US" sz="950" u="none" cap="none" strike="noStrike">
                <a:solidFill>
                  <a:srgbClr val="2B2B2B"/>
                </a:solidFill>
                <a:latin typeface="Arial"/>
                <a:ea typeface="Arial"/>
                <a:cs typeface="Arial"/>
                <a:sym typeface="Arial"/>
              </a:rPr>
              <a:t>Two plain numbers. The lambda captures them with [=].</a:t>
            </a:r>
            <a:endParaRPr/>
          </a:p>
        </p:txBody>
      </p:sp>
      <p:sp>
        <p:nvSpPr>
          <p:cNvPr id="432" name="Google Shape;432;p21"/>
          <p:cNvSpPr/>
          <p:nvPr/>
        </p:nvSpPr>
        <p:spPr>
          <a:xfrm>
            <a:off x="5760720" y="2276856"/>
            <a:ext cx="566928" cy="292608"/>
          </a:xfrm>
          <a:prstGeom prst="roundRect">
            <a:avLst>
              <a:gd fmla="val 8000" name="adj"/>
            </a:avLst>
          </a:prstGeom>
          <a:solidFill>
            <a:srgbClr val="5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3" name="Google Shape;433;p21"/>
          <p:cNvSpPr txBox="1"/>
          <p:nvPr/>
        </p:nvSpPr>
        <p:spPr>
          <a:xfrm>
            <a:off x="5760720" y="2276856"/>
            <a:ext cx="566928" cy="292608"/>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950" u="none" cap="none" strike="noStrike">
                <a:solidFill>
                  <a:srgbClr val="FFFFFF"/>
                </a:solidFill>
                <a:latin typeface="Arial"/>
                <a:ea typeface="Arial"/>
                <a:cs typeface="Arial"/>
                <a:sym typeface="Arial"/>
              </a:rPr>
              <a:t>4–6</a:t>
            </a:r>
            <a:endParaRPr/>
          </a:p>
        </p:txBody>
      </p:sp>
      <p:sp>
        <p:nvSpPr>
          <p:cNvPr id="434" name="Google Shape;434;p21"/>
          <p:cNvSpPr txBox="1"/>
          <p:nvPr/>
        </p:nvSpPr>
        <p:spPr>
          <a:xfrm>
            <a:off x="6400800" y="2240280"/>
            <a:ext cx="2286000" cy="50292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0" i="0" lang="en-US" sz="950" u="none" cap="none" strike="noStrike">
                <a:solidFill>
                  <a:srgbClr val="2B2B2B"/>
                </a:solidFill>
                <a:latin typeface="Arial"/>
                <a:ea typeface="Arial"/>
                <a:cs typeface="Arial"/>
                <a:sym typeface="Arial"/>
              </a:rPr>
              <a:t>The rule for one value. __host__ __device__ = build a GPU copy.</a:t>
            </a:r>
            <a:endParaRPr/>
          </a:p>
        </p:txBody>
      </p:sp>
      <p:sp>
        <p:nvSpPr>
          <p:cNvPr id="435" name="Google Shape;435;p21"/>
          <p:cNvSpPr/>
          <p:nvPr/>
        </p:nvSpPr>
        <p:spPr>
          <a:xfrm>
            <a:off x="5760720" y="2798064"/>
            <a:ext cx="566928" cy="292608"/>
          </a:xfrm>
          <a:prstGeom prst="roundRect">
            <a:avLst>
              <a:gd fmla="val 8000" name="adj"/>
            </a:avLst>
          </a:prstGeom>
          <a:solidFill>
            <a:srgbClr val="5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6" name="Google Shape;436;p21"/>
          <p:cNvSpPr txBox="1"/>
          <p:nvPr/>
        </p:nvSpPr>
        <p:spPr>
          <a:xfrm>
            <a:off x="5760720" y="2798064"/>
            <a:ext cx="566928" cy="292608"/>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950" u="none" cap="none" strike="noStrike">
                <a:solidFill>
                  <a:srgbClr val="FFFFFF"/>
                </a:solidFill>
                <a:latin typeface="Arial"/>
                <a:ea typeface="Arial"/>
                <a:cs typeface="Arial"/>
                <a:sym typeface="Arial"/>
              </a:rPr>
              <a:t>8–9</a:t>
            </a:r>
            <a:endParaRPr/>
          </a:p>
        </p:txBody>
      </p:sp>
      <p:sp>
        <p:nvSpPr>
          <p:cNvPr id="437" name="Google Shape;437;p21"/>
          <p:cNvSpPr txBox="1"/>
          <p:nvPr/>
        </p:nvSpPr>
        <p:spPr>
          <a:xfrm>
            <a:off x="6400800" y="2761488"/>
            <a:ext cx="2286000" cy="50292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0" i="0" lang="en-US" sz="950" u="none" cap="none" strike="noStrike">
                <a:solidFill>
                  <a:srgbClr val="2B2B2B"/>
                </a:solidFill>
                <a:latin typeface="Arial"/>
                <a:ea typeface="Arial"/>
                <a:cs typeface="Arial"/>
                <a:sym typeface="Arial"/>
              </a:rPr>
              <a:t>Run op on every value, on the GPU, writing back in place.</a:t>
            </a:r>
            <a:endParaRPr/>
          </a:p>
        </p:txBody>
      </p:sp>
      <p:sp>
        <p:nvSpPr>
          <p:cNvPr id="438" name="Google Shape;438;p21"/>
          <p:cNvSpPr txBox="1"/>
          <p:nvPr/>
        </p:nvSpPr>
        <p:spPr>
          <a:xfrm>
            <a:off x="457200" y="3401568"/>
            <a:ext cx="8229600" cy="27432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1100" u="none" cap="none" strike="noStrike">
                <a:solidFill>
                  <a:srgbClr val="500000"/>
                </a:solidFill>
                <a:latin typeface="Arial"/>
                <a:ea typeface="Arial"/>
                <a:cs typeface="Arial"/>
                <a:sym typeface="Arial"/>
              </a:rPr>
              <a:t>To build and run it (in a Colab cell, start each line with !):</a:t>
            </a:r>
            <a:endParaRPr/>
          </a:p>
        </p:txBody>
      </p:sp>
      <p:sp>
        <p:nvSpPr>
          <p:cNvPr id="439" name="Google Shape;439;p21"/>
          <p:cNvSpPr/>
          <p:nvPr/>
        </p:nvSpPr>
        <p:spPr>
          <a:xfrm>
            <a:off x="457200" y="3657600"/>
            <a:ext cx="8229600" cy="548640"/>
          </a:xfrm>
          <a:prstGeom prst="roundRect">
            <a:avLst>
              <a:gd fmla="val 3500" name="adj"/>
            </a:avLst>
          </a:prstGeom>
          <a:solidFill>
            <a:srgbClr val="1B1B1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0" name="Google Shape;440;p21"/>
          <p:cNvSpPr txBox="1"/>
          <p:nvPr/>
        </p:nvSpPr>
        <p:spPr>
          <a:xfrm>
            <a:off x="594360" y="3749039"/>
            <a:ext cx="7955279" cy="365759"/>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0" i="0" lang="en-US" sz="1050" u="none" cap="none" strike="noStrike">
                <a:solidFill>
                  <a:srgbClr val="9CDCFE"/>
                </a:solidFill>
                <a:latin typeface="Consolas"/>
                <a:ea typeface="Consolas"/>
                <a:cs typeface="Consolas"/>
                <a:sym typeface="Consolas"/>
              </a:rPr>
              <a:t>nvcc --extended-lambda -o ex3 ex3.cu      # </a:t>
            </a:r>
            <a:r>
              <a:rPr b="0" i="0" lang="en-US" sz="1050" u="none" cap="none" strike="noStrike">
                <a:solidFill>
                  <a:srgbClr val="B5CEA8"/>
                </a:solidFill>
                <a:latin typeface="Consolas"/>
                <a:ea typeface="Consolas"/>
                <a:cs typeface="Consolas"/>
                <a:sym typeface="Consolas"/>
              </a:rPr>
              <a:t>1</a:t>
            </a:r>
            <a:r>
              <a:rPr b="0" i="0" lang="en-US" sz="1050" u="none" cap="none" strike="noStrike">
                <a:solidFill>
                  <a:srgbClr val="9CDCFE"/>
                </a:solidFill>
                <a:latin typeface="Consolas"/>
                <a:ea typeface="Consolas"/>
                <a:cs typeface="Consolas"/>
                <a:sym typeface="Consolas"/>
              </a:rPr>
              <a:t>. build</a:t>
            </a:r>
            <a:endParaRPr/>
          </a:p>
          <a:p>
            <a:pPr indent="0" lvl="0" marL="0" marR="0" rtl="0" algn="l">
              <a:lnSpc>
                <a:spcPct val="100000"/>
              </a:lnSpc>
              <a:spcBef>
                <a:spcPts val="0"/>
              </a:spcBef>
              <a:spcAft>
                <a:spcPts val="0"/>
              </a:spcAft>
              <a:buNone/>
            </a:pPr>
            <a:r>
              <a:rPr b="0" i="0" lang="en-US" sz="1050" u="none" cap="none" strike="noStrike">
                <a:solidFill>
                  <a:srgbClr val="9CDCFE"/>
                </a:solidFill>
                <a:latin typeface="Consolas"/>
                <a:ea typeface="Consolas"/>
                <a:cs typeface="Consolas"/>
                <a:sym typeface="Consolas"/>
              </a:rPr>
              <a:t>./ex3                                     # </a:t>
            </a:r>
            <a:r>
              <a:rPr b="0" i="0" lang="en-US" sz="1050" u="none" cap="none" strike="noStrike">
                <a:solidFill>
                  <a:srgbClr val="B5CEA8"/>
                </a:solidFill>
                <a:latin typeface="Consolas"/>
                <a:ea typeface="Consolas"/>
                <a:cs typeface="Consolas"/>
                <a:sym typeface="Consolas"/>
              </a:rPr>
              <a:t>2</a:t>
            </a:r>
            <a:r>
              <a:rPr b="0" i="0" lang="en-US" sz="1050" u="none" cap="none" strike="noStrike">
                <a:solidFill>
                  <a:srgbClr val="9CDCFE"/>
                </a:solidFill>
                <a:latin typeface="Consolas"/>
                <a:ea typeface="Consolas"/>
                <a:cs typeface="Consolas"/>
                <a:sym typeface="Consolas"/>
              </a:rPr>
              <a:t>. run</a:t>
            </a:r>
            <a:endParaRPr/>
          </a:p>
        </p:txBody>
      </p:sp>
      <p:sp>
        <p:nvSpPr>
          <p:cNvPr id="441" name="Google Shape;441;p21"/>
          <p:cNvSpPr txBox="1"/>
          <p:nvPr/>
        </p:nvSpPr>
        <p:spPr>
          <a:xfrm>
            <a:off x="457200" y="4279392"/>
            <a:ext cx="8229600" cy="41148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1000" u="none" cap="none" strike="noStrike">
                <a:solidFill>
                  <a:srgbClr val="500000"/>
                </a:solidFill>
                <a:latin typeface="Consolas"/>
                <a:ea typeface="Consolas"/>
                <a:cs typeface="Consolas"/>
                <a:sym typeface="Consolas"/>
              </a:rPr>
              <a:t>nvcc</a:t>
            </a:r>
            <a:r>
              <a:rPr b="0" i="0" lang="en-US" sz="1000" u="none" cap="none" strike="noStrike">
                <a:solidFill>
                  <a:srgbClr val="2B2B2B"/>
                </a:solidFill>
                <a:latin typeface="Arial"/>
                <a:ea typeface="Arial"/>
                <a:cs typeface="Arial"/>
                <a:sym typeface="Arial"/>
              </a:rPr>
              <a:t> = NVIDIA's compiler (like g++).  </a:t>
            </a:r>
            <a:r>
              <a:rPr b="1" i="0" lang="en-US" sz="1000" u="none" cap="none" strike="noStrike">
                <a:solidFill>
                  <a:srgbClr val="500000"/>
                </a:solidFill>
                <a:latin typeface="Consolas"/>
                <a:ea typeface="Consolas"/>
                <a:cs typeface="Consolas"/>
                <a:sym typeface="Consolas"/>
              </a:rPr>
              <a:t>--extended-lambda</a:t>
            </a:r>
            <a:r>
              <a:rPr b="0" i="0" lang="en-US" sz="1000" u="none" cap="none" strike="noStrike">
                <a:solidFill>
                  <a:srgbClr val="2B2B2B"/>
                </a:solidFill>
                <a:latin typeface="Arial"/>
                <a:ea typeface="Arial"/>
                <a:cs typeface="Arial"/>
                <a:sym typeface="Arial"/>
              </a:rPr>
              <a:t> = allow __device__ lambdas.  </a:t>
            </a:r>
            <a:r>
              <a:rPr b="1" i="0" lang="en-US" sz="1000" u="none" cap="none" strike="noStrike">
                <a:solidFill>
                  <a:srgbClr val="500000"/>
                </a:solidFill>
                <a:latin typeface="Consolas"/>
                <a:ea typeface="Consolas"/>
                <a:cs typeface="Consolas"/>
                <a:sym typeface="Consolas"/>
              </a:rPr>
              <a:t>-o ex3</a:t>
            </a:r>
            <a:r>
              <a:rPr b="0" i="0" lang="en-US" sz="1000" u="none" cap="none" strike="noStrike">
                <a:solidFill>
                  <a:srgbClr val="2B2B2B"/>
                </a:solidFill>
                <a:latin typeface="Arial"/>
                <a:ea typeface="Arial"/>
                <a:cs typeface="Arial"/>
                <a:sym typeface="Arial"/>
              </a:rPr>
              <a:t> = name of the program it builds.</a:t>
            </a:r>
            <a:endParaRPr/>
          </a:p>
        </p:txBody>
      </p:sp>
      <p:sp>
        <p:nvSpPr>
          <p:cNvPr id="442" name="Google Shape;442;p21"/>
          <p:cNvSpPr/>
          <p:nvPr/>
        </p:nvSpPr>
        <p:spPr>
          <a:xfrm>
            <a:off x="636879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21"/>
          <p:cNvSpPr/>
          <p:nvPr/>
        </p:nvSpPr>
        <p:spPr>
          <a:xfrm>
            <a:off x="644194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21"/>
          <p:cNvSpPr/>
          <p:nvPr/>
        </p:nvSpPr>
        <p:spPr>
          <a:xfrm>
            <a:off x="6515100"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21"/>
          <p:cNvSpPr/>
          <p:nvPr/>
        </p:nvSpPr>
        <p:spPr>
          <a:xfrm>
            <a:off x="6588252"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21"/>
          <p:cNvSpPr/>
          <p:nvPr/>
        </p:nvSpPr>
        <p:spPr>
          <a:xfrm>
            <a:off x="6661404"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21"/>
          <p:cNvSpPr/>
          <p:nvPr/>
        </p:nvSpPr>
        <p:spPr>
          <a:xfrm>
            <a:off x="673455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21"/>
          <p:cNvSpPr/>
          <p:nvPr/>
        </p:nvSpPr>
        <p:spPr>
          <a:xfrm>
            <a:off x="680770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21"/>
          <p:cNvSpPr/>
          <p:nvPr/>
        </p:nvSpPr>
        <p:spPr>
          <a:xfrm>
            <a:off x="6880860" y="4901184"/>
            <a:ext cx="50292" cy="50292"/>
          </a:xfrm>
          <a:prstGeom prst="rect">
            <a:avLst/>
          </a:prstGeom>
          <a:solidFill>
            <a:srgbClr val="5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21"/>
          <p:cNvSpPr/>
          <p:nvPr/>
        </p:nvSpPr>
        <p:spPr>
          <a:xfrm>
            <a:off x="695401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21"/>
          <p:cNvSpPr/>
          <p:nvPr/>
        </p:nvSpPr>
        <p:spPr>
          <a:xfrm>
            <a:off x="702716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21"/>
          <p:cNvSpPr/>
          <p:nvPr/>
        </p:nvSpPr>
        <p:spPr>
          <a:xfrm>
            <a:off x="710031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21"/>
          <p:cNvSpPr/>
          <p:nvPr/>
        </p:nvSpPr>
        <p:spPr>
          <a:xfrm>
            <a:off x="717346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21"/>
          <p:cNvSpPr/>
          <p:nvPr/>
        </p:nvSpPr>
        <p:spPr>
          <a:xfrm>
            <a:off x="7246620"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21"/>
          <p:cNvSpPr/>
          <p:nvPr/>
        </p:nvSpPr>
        <p:spPr>
          <a:xfrm>
            <a:off x="731977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21"/>
          <p:cNvSpPr/>
          <p:nvPr/>
        </p:nvSpPr>
        <p:spPr>
          <a:xfrm>
            <a:off x="739292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21"/>
          <p:cNvSpPr/>
          <p:nvPr/>
        </p:nvSpPr>
        <p:spPr>
          <a:xfrm>
            <a:off x="746607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21"/>
          <p:cNvSpPr/>
          <p:nvPr/>
        </p:nvSpPr>
        <p:spPr>
          <a:xfrm>
            <a:off x="753922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21"/>
          <p:cNvSpPr/>
          <p:nvPr/>
        </p:nvSpPr>
        <p:spPr>
          <a:xfrm>
            <a:off x="7612380"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21"/>
          <p:cNvSpPr/>
          <p:nvPr/>
        </p:nvSpPr>
        <p:spPr>
          <a:xfrm>
            <a:off x="768553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21"/>
          <p:cNvSpPr/>
          <p:nvPr/>
        </p:nvSpPr>
        <p:spPr>
          <a:xfrm>
            <a:off x="775868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21"/>
          <p:cNvSpPr/>
          <p:nvPr/>
        </p:nvSpPr>
        <p:spPr>
          <a:xfrm>
            <a:off x="783183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21"/>
          <p:cNvSpPr/>
          <p:nvPr/>
        </p:nvSpPr>
        <p:spPr>
          <a:xfrm>
            <a:off x="790498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21"/>
          <p:cNvSpPr/>
          <p:nvPr/>
        </p:nvSpPr>
        <p:spPr>
          <a:xfrm>
            <a:off x="7978140"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21"/>
          <p:cNvSpPr/>
          <p:nvPr/>
        </p:nvSpPr>
        <p:spPr>
          <a:xfrm>
            <a:off x="805129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21"/>
          <p:cNvSpPr/>
          <p:nvPr/>
        </p:nvSpPr>
        <p:spPr>
          <a:xfrm>
            <a:off x="812444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21"/>
          <p:cNvSpPr/>
          <p:nvPr/>
        </p:nvSpPr>
        <p:spPr>
          <a:xfrm>
            <a:off x="819759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21"/>
          <p:cNvSpPr/>
          <p:nvPr/>
        </p:nvSpPr>
        <p:spPr>
          <a:xfrm>
            <a:off x="827074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21"/>
          <p:cNvSpPr/>
          <p:nvPr/>
        </p:nvSpPr>
        <p:spPr>
          <a:xfrm>
            <a:off x="8343900"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21"/>
          <p:cNvSpPr/>
          <p:nvPr/>
        </p:nvSpPr>
        <p:spPr>
          <a:xfrm>
            <a:off x="841705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21"/>
          <p:cNvSpPr/>
          <p:nvPr/>
        </p:nvSpPr>
        <p:spPr>
          <a:xfrm>
            <a:off x="849020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21"/>
          <p:cNvSpPr/>
          <p:nvPr/>
        </p:nvSpPr>
        <p:spPr>
          <a:xfrm>
            <a:off x="856335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21"/>
          <p:cNvSpPr/>
          <p:nvPr/>
        </p:nvSpPr>
        <p:spPr>
          <a:xfrm>
            <a:off x="863650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21"/>
          <p:cNvSpPr txBox="1"/>
          <p:nvPr/>
        </p:nvSpPr>
        <p:spPr>
          <a:xfrm>
            <a:off x="5472684" y="4846320"/>
            <a:ext cx="822960" cy="15544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00" u="none" cap="none" strike="noStrike">
                <a:solidFill>
                  <a:srgbClr val="9A9AA0"/>
                </a:solidFill>
                <a:latin typeface="Consolas"/>
                <a:ea typeface="Consolas"/>
                <a:cs typeface="Consolas"/>
                <a:sym typeface="Consolas"/>
              </a:rPr>
              <a:t>slide[7]</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9" name="Shape 479"/>
        <p:cNvGrpSpPr/>
        <p:nvPr/>
      </p:nvGrpSpPr>
      <p:grpSpPr>
        <a:xfrm>
          <a:off x="0" y="0"/>
          <a:ext cx="0" cy="0"/>
          <a:chOff x="0" y="0"/>
          <a:chExt cx="0" cy="0"/>
        </a:xfrm>
      </p:grpSpPr>
      <p:sp>
        <p:nvSpPr>
          <p:cNvPr id="480" name="Google Shape;480;p6"/>
          <p:cNvSpPr txBox="1"/>
          <p:nvPr/>
        </p:nvSpPr>
        <p:spPr>
          <a:xfrm>
            <a:off x="457200" y="320040"/>
            <a:ext cx="8229600" cy="54864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2800" u="none" cap="none" strike="noStrike">
                <a:solidFill>
                  <a:srgbClr val="500000"/>
                </a:solidFill>
                <a:latin typeface="Arial"/>
                <a:ea typeface="Arial"/>
                <a:cs typeface="Arial"/>
                <a:sym typeface="Arial"/>
              </a:rPr>
              <a:t>Cheat sheet: words we use every meeting</a:t>
            </a:r>
            <a:endParaRPr/>
          </a:p>
        </p:txBody>
      </p:sp>
      <p:sp>
        <p:nvSpPr>
          <p:cNvPr id="481" name="Google Shape;481;p6"/>
          <p:cNvSpPr txBox="1"/>
          <p:nvPr/>
        </p:nvSpPr>
        <p:spPr>
          <a:xfrm>
            <a:off x="457200" y="868680"/>
            <a:ext cx="8229600" cy="27432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0" i="0" lang="en-US" sz="1200" u="none" cap="none" strike="noStrike">
                <a:solidFill>
                  <a:srgbClr val="6E6E6E"/>
                </a:solidFill>
                <a:latin typeface="Arial"/>
                <a:ea typeface="Arial"/>
                <a:cs typeface="Arial"/>
                <a:sym typeface="Arial"/>
              </a:rPr>
              <a:t>Screenshot this one</a:t>
            </a:r>
            <a:endParaRPr/>
          </a:p>
        </p:txBody>
      </p:sp>
      <p:sp>
        <p:nvSpPr>
          <p:cNvPr id="482" name="Google Shape;482;p6"/>
          <p:cNvSpPr/>
          <p:nvPr/>
        </p:nvSpPr>
        <p:spPr>
          <a:xfrm>
            <a:off x="457200" y="1188720"/>
            <a:ext cx="4023360" cy="475488"/>
          </a:xfrm>
          <a:prstGeom prst="roundRect">
            <a:avLst>
              <a:gd fmla="val 3500" name="adj"/>
            </a:avLst>
          </a:prstGeom>
          <a:solidFill>
            <a:srgbClr val="F7EEEE"/>
          </a:solidFill>
          <a:ln cap="flat" cmpd="sng" w="9525">
            <a:solidFill>
              <a:srgbClr val="E6D2D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3" name="Google Shape;483;p6"/>
          <p:cNvSpPr txBox="1"/>
          <p:nvPr/>
        </p:nvSpPr>
        <p:spPr>
          <a:xfrm>
            <a:off x="548640" y="1188720"/>
            <a:ext cx="1600200" cy="475488"/>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1" i="0" lang="en-US" sz="1000" u="none" cap="none" strike="noStrike">
                <a:solidFill>
                  <a:srgbClr val="500000"/>
                </a:solidFill>
                <a:latin typeface="Consolas"/>
                <a:ea typeface="Consolas"/>
                <a:cs typeface="Consolas"/>
                <a:sym typeface="Consolas"/>
              </a:rPr>
              <a:t>host / device</a:t>
            </a:r>
            <a:endParaRPr/>
          </a:p>
        </p:txBody>
      </p:sp>
      <p:sp>
        <p:nvSpPr>
          <p:cNvPr id="484" name="Google Shape;484;p6"/>
          <p:cNvSpPr txBox="1"/>
          <p:nvPr/>
        </p:nvSpPr>
        <p:spPr>
          <a:xfrm>
            <a:off x="2148840" y="1188720"/>
            <a:ext cx="2286000" cy="475488"/>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0" i="0" lang="en-US" sz="1000" u="none" cap="none" strike="noStrike">
                <a:solidFill>
                  <a:srgbClr val="2B2B2B"/>
                </a:solidFill>
                <a:latin typeface="Arial"/>
                <a:ea typeface="Arial"/>
                <a:cs typeface="Arial"/>
                <a:sym typeface="Arial"/>
              </a:rPr>
              <a:t>CPU / GPU</a:t>
            </a:r>
            <a:endParaRPr/>
          </a:p>
        </p:txBody>
      </p:sp>
      <p:sp>
        <p:nvSpPr>
          <p:cNvPr id="485" name="Google Shape;485;p6"/>
          <p:cNvSpPr/>
          <p:nvPr/>
        </p:nvSpPr>
        <p:spPr>
          <a:xfrm>
            <a:off x="457200" y="1737360"/>
            <a:ext cx="4023360" cy="475488"/>
          </a:xfrm>
          <a:prstGeom prst="roundRect">
            <a:avLst>
              <a:gd fmla="val 3500" name="adj"/>
            </a:avLst>
          </a:prstGeom>
          <a:solidFill>
            <a:srgbClr val="F5F5F6"/>
          </a:solidFill>
          <a:ln cap="flat" cmpd="sng" w="9525">
            <a:solidFill>
              <a:srgbClr val="E2E2E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6" name="Google Shape;486;p6"/>
          <p:cNvSpPr txBox="1"/>
          <p:nvPr/>
        </p:nvSpPr>
        <p:spPr>
          <a:xfrm>
            <a:off x="548640" y="1737360"/>
            <a:ext cx="1600200" cy="475488"/>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1" i="0" lang="en-US" sz="1000" u="none" cap="none" strike="noStrike">
                <a:solidFill>
                  <a:srgbClr val="500000"/>
                </a:solidFill>
                <a:latin typeface="Consolas"/>
                <a:ea typeface="Consolas"/>
                <a:cs typeface="Consolas"/>
                <a:sym typeface="Consolas"/>
              </a:rPr>
              <a:t>thread</a:t>
            </a:r>
            <a:endParaRPr/>
          </a:p>
        </p:txBody>
      </p:sp>
      <p:sp>
        <p:nvSpPr>
          <p:cNvPr id="487" name="Google Shape;487;p6"/>
          <p:cNvSpPr txBox="1"/>
          <p:nvPr/>
        </p:nvSpPr>
        <p:spPr>
          <a:xfrm>
            <a:off x="2148840" y="1737360"/>
            <a:ext cx="2286000" cy="475488"/>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0" i="0" lang="en-US" sz="1000" u="none" cap="none" strike="noStrike">
                <a:solidFill>
                  <a:srgbClr val="2B2B2B"/>
                </a:solidFill>
                <a:latin typeface="Arial"/>
                <a:ea typeface="Arial"/>
                <a:cs typeface="Arial"/>
                <a:sym typeface="Arial"/>
              </a:rPr>
              <a:t>One worker doing one small piece of the job</a:t>
            </a:r>
            <a:endParaRPr/>
          </a:p>
        </p:txBody>
      </p:sp>
      <p:sp>
        <p:nvSpPr>
          <p:cNvPr id="488" name="Google Shape;488;p6"/>
          <p:cNvSpPr/>
          <p:nvPr/>
        </p:nvSpPr>
        <p:spPr>
          <a:xfrm>
            <a:off x="457200" y="2286000"/>
            <a:ext cx="4023360" cy="475488"/>
          </a:xfrm>
          <a:prstGeom prst="roundRect">
            <a:avLst>
              <a:gd fmla="val 3500" name="adj"/>
            </a:avLst>
          </a:prstGeom>
          <a:solidFill>
            <a:srgbClr val="F7EEEE"/>
          </a:solidFill>
          <a:ln cap="flat" cmpd="sng" w="9525">
            <a:solidFill>
              <a:srgbClr val="E6D2D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9" name="Google Shape;489;p6"/>
          <p:cNvSpPr txBox="1"/>
          <p:nvPr/>
        </p:nvSpPr>
        <p:spPr>
          <a:xfrm>
            <a:off x="548640" y="2286000"/>
            <a:ext cx="1600200" cy="475488"/>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1" i="0" lang="en-US" sz="1000" u="none" cap="none" strike="noStrike">
                <a:solidFill>
                  <a:srgbClr val="500000"/>
                </a:solidFill>
                <a:latin typeface="Consolas"/>
                <a:ea typeface="Consolas"/>
                <a:cs typeface="Consolas"/>
                <a:sym typeface="Consolas"/>
              </a:rPr>
              <a:t>nvcc</a:t>
            </a:r>
            <a:endParaRPr/>
          </a:p>
        </p:txBody>
      </p:sp>
      <p:sp>
        <p:nvSpPr>
          <p:cNvPr id="490" name="Google Shape;490;p6"/>
          <p:cNvSpPr txBox="1"/>
          <p:nvPr/>
        </p:nvSpPr>
        <p:spPr>
          <a:xfrm>
            <a:off x="2148840" y="2286000"/>
            <a:ext cx="2286000" cy="475488"/>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0" i="0" lang="en-US" sz="1000" u="none" cap="none" strike="noStrike">
                <a:solidFill>
                  <a:srgbClr val="2B2B2B"/>
                </a:solidFill>
                <a:latin typeface="Arial"/>
                <a:ea typeface="Arial"/>
                <a:cs typeface="Arial"/>
                <a:sym typeface="Arial"/>
              </a:rPr>
              <a:t>NVIDIA's C++ compiler, turns .cu files into programs</a:t>
            </a:r>
            <a:endParaRPr/>
          </a:p>
        </p:txBody>
      </p:sp>
      <p:sp>
        <p:nvSpPr>
          <p:cNvPr id="491" name="Google Shape;491;p6"/>
          <p:cNvSpPr/>
          <p:nvPr/>
        </p:nvSpPr>
        <p:spPr>
          <a:xfrm>
            <a:off x="457200" y="2834639"/>
            <a:ext cx="4023360" cy="475488"/>
          </a:xfrm>
          <a:prstGeom prst="roundRect">
            <a:avLst>
              <a:gd fmla="val 3500" name="adj"/>
            </a:avLst>
          </a:prstGeom>
          <a:solidFill>
            <a:srgbClr val="F5F5F6"/>
          </a:solidFill>
          <a:ln cap="flat" cmpd="sng" w="9525">
            <a:solidFill>
              <a:srgbClr val="E2E2E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2" name="Google Shape;492;p6"/>
          <p:cNvSpPr txBox="1"/>
          <p:nvPr/>
        </p:nvSpPr>
        <p:spPr>
          <a:xfrm>
            <a:off x="548640" y="2834639"/>
            <a:ext cx="1600200" cy="475488"/>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1" i="0" lang="en-US" sz="1000" u="none" cap="none" strike="noStrike">
                <a:solidFill>
                  <a:srgbClr val="500000"/>
                </a:solidFill>
                <a:latin typeface="Consolas"/>
                <a:ea typeface="Consolas"/>
                <a:cs typeface="Consolas"/>
                <a:sym typeface="Consolas"/>
              </a:rPr>
              <a:t>namespace (std::)</a:t>
            </a:r>
            <a:endParaRPr/>
          </a:p>
        </p:txBody>
      </p:sp>
      <p:sp>
        <p:nvSpPr>
          <p:cNvPr id="493" name="Google Shape;493;p6"/>
          <p:cNvSpPr txBox="1"/>
          <p:nvPr/>
        </p:nvSpPr>
        <p:spPr>
          <a:xfrm>
            <a:off x="2148840" y="2834639"/>
            <a:ext cx="2286000" cy="475488"/>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0" i="0" lang="en-US" sz="1000" u="none" cap="none" strike="noStrike">
                <a:solidFill>
                  <a:srgbClr val="2B2B2B"/>
                </a:solidFill>
                <a:latin typeface="Arial"/>
                <a:ea typeface="Arial"/>
                <a:cs typeface="Arial"/>
                <a:sym typeface="Arial"/>
              </a:rPr>
              <a:t>A "last name" saying which library a name is from</a:t>
            </a:r>
            <a:endParaRPr/>
          </a:p>
        </p:txBody>
      </p:sp>
      <p:sp>
        <p:nvSpPr>
          <p:cNvPr id="494" name="Google Shape;494;p6"/>
          <p:cNvSpPr/>
          <p:nvPr/>
        </p:nvSpPr>
        <p:spPr>
          <a:xfrm>
            <a:off x="457200" y="3383280"/>
            <a:ext cx="4023360" cy="475488"/>
          </a:xfrm>
          <a:prstGeom prst="roundRect">
            <a:avLst>
              <a:gd fmla="val 3500" name="adj"/>
            </a:avLst>
          </a:prstGeom>
          <a:solidFill>
            <a:srgbClr val="F7EEEE"/>
          </a:solidFill>
          <a:ln cap="flat" cmpd="sng" w="9525">
            <a:solidFill>
              <a:srgbClr val="E6D2D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5" name="Google Shape;495;p6"/>
          <p:cNvSpPr txBox="1"/>
          <p:nvPr/>
        </p:nvSpPr>
        <p:spPr>
          <a:xfrm>
            <a:off x="548640" y="3383280"/>
            <a:ext cx="1600200" cy="475488"/>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1" i="0" lang="en-US" sz="1000" u="none" cap="none" strike="noStrike">
                <a:solidFill>
                  <a:srgbClr val="500000"/>
                </a:solidFill>
                <a:latin typeface="Consolas"/>
                <a:ea typeface="Consolas"/>
                <a:cs typeface="Consolas"/>
                <a:sym typeface="Consolas"/>
              </a:rPr>
              <a:t>template (&lt;float&gt;)</a:t>
            </a:r>
            <a:endParaRPr/>
          </a:p>
        </p:txBody>
      </p:sp>
      <p:sp>
        <p:nvSpPr>
          <p:cNvPr id="496" name="Google Shape;496;p6"/>
          <p:cNvSpPr txBox="1"/>
          <p:nvPr/>
        </p:nvSpPr>
        <p:spPr>
          <a:xfrm>
            <a:off x="2148840" y="3383280"/>
            <a:ext cx="2286000" cy="475488"/>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0" i="0" lang="en-US" sz="1000" u="none" cap="none" strike="noStrike">
                <a:solidFill>
                  <a:srgbClr val="2B2B2B"/>
                </a:solidFill>
                <a:latin typeface="Arial"/>
                <a:ea typeface="Arial"/>
                <a:cs typeface="Arial"/>
                <a:sym typeface="Arial"/>
              </a:rPr>
              <a:t>Fills in a type, like what a vector holds</a:t>
            </a:r>
            <a:endParaRPr/>
          </a:p>
        </p:txBody>
      </p:sp>
      <p:sp>
        <p:nvSpPr>
          <p:cNvPr id="497" name="Google Shape;497;p6"/>
          <p:cNvSpPr/>
          <p:nvPr/>
        </p:nvSpPr>
        <p:spPr>
          <a:xfrm>
            <a:off x="457200" y="3931920"/>
            <a:ext cx="4023360" cy="475488"/>
          </a:xfrm>
          <a:prstGeom prst="roundRect">
            <a:avLst>
              <a:gd fmla="val 3500" name="adj"/>
            </a:avLst>
          </a:prstGeom>
          <a:solidFill>
            <a:srgbClr val="F5F5F6"/>
          </a:solidFill>
          <a:ln cap="flat" cmpd="sng" w="9525">
            <a:solidFill>
              <a:srgbClr val="E2E2E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8" name="Google Shape;498;p6"/>
          <p:cNvSpPr txBox="1"/>
          <p:nvPr/>
        </p:nvSpPr>
        <p:spPr>
          <a:xfrm>
            <a:off x="548640" y="3931920"/>
            <a:ext cx="1600200" cy="475488"/>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1" i="0" lang="en-US" sz="1000" u="none" cap="none" strike="noStrike">
                <a:solidFill>
                  <a:srgbClr val="500000"/>
                </a:solidFill>
                <a:latin typeface="Consolas"/>
                <a:ea typeface="Consolas"/>
                <a:cs typeface="Consolas"/>
                <a:sym typeface="Consolas"/>
              </a:rPr>
              <a:t>lambda</a:t>
            </a:r>
            <a:endParaRPr/>
          </a:p>
        </p:txBody>
      </p:sp>
      <p:sp>
        <p:nvSpPr>
          <p:cNvPr id="499" name="Google Shape;499;p6"/>
          <p:cNvSpPr txBox="1"/>
          <p:nvPr/>
        </p:nvSpPr>
        <p:spPr>
          <a:xfrm>
            <a:off x="2148840" y="3931920"/>
            <a:ext cx="2286000" cy="475488"/>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0" i="0" lang="en-US" sz="1000" u="none" cap="none" strike="noStrike">
                <a:solidFill>
                  <a:srgbClr val="2B2B2B"/>
                </a:solidFill>
                <a:latin typeface="Arial"/>
                <a:ea typeface="Arial"/>
                <a:cs typeface="Arial"/>
                <a:sym typeface="Arial"/>
              </a:rPr>
              <a:t>A small unnamed function you write inline</a:t>
            </a:r>
            <a:endParaRPr/>
          </a:p>
        </p:txBody>
      </p:sp>
      <p:sp>
        <p:nvSpPr>
          <p:cNvPr id="500" name="Google Shape;500;p6"/>
          <p:cNvSpPr/>
          <p:nvPr/>
        </p:nvSpPr>
        <p:spPr>
          <a:xfrm>
            <a:off x="4663440" y="1188720"/>
            <a:ext cx="4023360" cy="475488"/>
          </a:xfrm>
          <a:prstGeom prst="roundRect">
            <a:avLst>
              <a:gd fmla="val 3500" name="adj"/>
            </a:avLst>
          </a:prstGeom>
          <a:solidFill>
            <a:srgbClr val="F7EEEE"/>
          </a:solidFill>
          <a:ln cap="flat" cmpd="sng" w="9525">
            <a:solidFill>
              <a:srgbClr val="E6D2D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1" name="Google Shape;501;p6"/>
          <p:cNvSpPr txBox="1"/>
          <p:nvPr/>
        </p:nvSpPr>
        <p:spPr>
          <a:xfrm>
            <a:off x="4754879" y="1188720"/>
            <a:ext cx="1600200" cy="475488"/>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1" i="0" lang="en-US" sz="1000" u="none" cap="none" strike="noStrike">
                <a:solidFill>
                  <a:srgbClr val="500000"/>
                </a:solidFill>
                <a:latin typeface="Consolas"/>
                <a:ea typeface="Consolas"/>
                <a:cs typeface="Consolas"/>
                <a:sym typeface="Consolas"/>
              </a:rPr>
              <a:t>capture ([=])</a:t>
            </a:r>
            <a:endParaRPr/>
          </a:p>
        </p:txBody>
      </p:sp>
      <p:sp>
        <p:nvSpPr>
          <p:cNvPr id="502" name="Google Shape;502;p6"/>
          <p:cNvSpPr txBox="1"/>
          <p:nvPr/>
        </p:nvSpPr>
        <p:spPr>
          <a:xfrm>
            <a:off x="6355079" y="1188720"/>
            <a:ext cx="2286000" cy="475488"/>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0" i="0" lang="en-US" sz="1000" u="none" cap="none" strike="noStrike">
                <a:solidFill>
                  <a:srgbClr val="2B2B2B"/>
                </a:solidFill>
                <a:latin typeface="Arial"/>
                <a:ea typeface="Arial"/>
                <a:cs typeface="Arial"/>
                <a:sym typeface="Arial"/>
              </a:rPr>
              <a:t>Copies outside variables into a lambda</a:t>
            </a:r>
            <a:endParaRPr/>
          </a:p>
        </p:txBody>
      </p:sp>
      <p:sp>
        <p:nvSpPr>
          <p:cNvPr id="503" name="Google Shape;503;p6"/>
          <p:cNvSpPr/>
          <p:nvPr/>
        </p:nvSpPr>
        <p:spPr>
          <a:xfrm>
            <a:off x="4663440" y="1737360"/>
            <a:ext cx="4023360" cy="475488"/>
          </a:xfrm>
          <a:prstGeom prst="roundRect">
            <a:avLst>
              <a:gd fmla="val 3500" name="adj"/>
            </a:avLst>
          </a:prstGeom>
          <a:solidFill>
            <a:srgbClr val="F5F5F6"/>
          </a:solidFill>
          <a:ln cap="flat" cmpd="sng" w="9525">
            <a:solidFill>
              <a:srgbClr val="E2E2E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4" name="Google Shape;504;p6"/>
          <p:cNvSpPr txBox="1"/>
          <p:nvPr/>
        </p:nvSpPr>
        <p:spPr>
          <a:xfrm>
            <a:off x="4754879" y="1737360"/>
            <a:ext cx="1600200" cy="475488"/>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1" i="0" lang="en-US" sz="1000" u="none" cap="none" strike="noStrike">
                <a:solidFill>
                  <a:srgbClr val="500000"/>
                </a:solidFill>
                <a:latin typeface="Consolas"/>
                <a:ea typeface="Consolas"/>
                <a:cs typeface="Consolas"/>
                <a:sym typeface="Consolas"/>
              </a:rPr>
              <a:t>iterator</a:t>
            </a:r>
            <a:endParaRPr/>
          </a:p>
        </p:txBody>
      </p:sp>
      <p:sp>
        <p:nvSpPr>
          <p:cNvPr id="505" name="Google Shape;505;p6"/>
          <p:cNvSpPr txBox="1"/>
          <p:nvPr/>
        </p:nvSpPr>
        <p:spPr>
          <a:xfrm>
            <a:off x="6355079" y="1737360"/>
            <a:ext cx="2286000" cy="475488"/>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0" i="0" lang="en-US" sz="1000" u="none" cap="none" strike="noStrike">
                <a:solidFill>
                  <a:srgbClr val="2B2B2B"/>
                </a:solidFill>
                <a:latin typeface="Arial"/>
                <a:ea typeface="Arial"/>
                <a:cs typeface="Arial"/>
                <a:sym typeface="Arial"/>
              </a:rPr>
              <a:t>A bookmark into a list: begin(), end()</a:t>
            </a:r>
            <a:endParaRPr/>
          </a:p>
        </p:txBody>
      </p:sp>
      <p:sp>
        <p:nvSpPr>
          <p:cNvPr id="506" name="Google Shape;506;p6"/>
          <p:cNvSpPr/>
          <p:nvPr/>
        </p:nvSpPr>
        <p:spPr>
          <a:xfrm>
            <a:off x="4663440" y="2286000"/>
            <a:ext cx="4023360" cy="475488"/>
          </a:xfrm>
          <a:prstGeom prst="roundRect">
            <a:avLst>
              <a:gd fmla="val 3500" name="adj"/>
            </a:avLst>
          </a:prstGeom>
          <a:solidFill>
            <a:srgbClr val="F7EEEE"/>
          </a:solidFill>
          <a:ln cap="flat" cmpd="sng" w="9525">
            <a:solidFill>
              <a:srgbClr val="E6D2D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7" name="Google Shape;507;p6"/>
          <p:cNvSpPr txBox="1"/>
          <p:nvPr/>
        </p:nvSpPr>
        <p:spPr>
          <a:xfrm>
            <a:off x="4754879" y="2286000"/>
            <a:ext cx="1600200" cy="475488"/>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1" i="0" lang="en-US" sz="1000" u="none" cap="none" strike="noStrike">
                <a:solidFill>
                  <a:srgbClr val="500000"/>
                </a:solidFill>
                <a:latin typeface="Consolas"/>
                <a:ea typeface="Consolas"/>
                <a:cs typeface="Consolas"/>
                <a:sym typeface="Consolas"/>
              </a:rPr>
              <a:t>algorithm</a:t>
            </a:r>
            <a:endParaRPr/>
          </a:p>
        </p:txBody>
      </p:sp>
      <p:sp>
        <p:nvSpPr>
          <p:cNvPr id="508" name="Google Shape;508;p6"/>
          <p:cNvSpPr txBox="1"/>
          <p:nvPr/>
        </p:nvSpPr>
        <p:spPr>
          <a:xfrm>
            <a:off x="6355079" y="2286000"/>
            <a:ext cx="2286000" cy="475488"/>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0" i="0" lang="en-US" sz="1000" u="none" cap="none" strike="noStrike">
                <a:solidFill>
                  <a:srgbClr val="2B2B2B"/>
                </a:solidFill>
                <a:latin typeface="Arial"/>
                <a:ea typeface="Arial"/>
                <a:cs typeface="Arial"/>
                <a:sym typeface="Arial"/>
              </a:rPr>
              <a:t>A library function that works on a range: transform, sort…</a:t>
            </a:r>
            <a:endParaRPr/>
          </a:p>
        </p:txBody>
      </p:sp>
      <p:sp>
        <p:nvSpPr>
          <p:cNvPr id="509" name="Google Shape;509;p6"/>
          <p:cNvSpPr/>
          <p:nvPr/>
        </p:nvSpPr>
        <p:spPr>
          <a:xfrm>
            <a:off x="4663440" y="2834639"/>
            <a:ext cx="4023360" cy="475488"/>
          </a:xfrm>
          <a:prstGeom prst="roundRect">
            <a:avLst>
              <a:gd fmla="val 3500" name="adj"/>
            </a:avLst>
          </a:prstGeom>
          <a:solidFill>
            <a:srgbClr val="F5F5F6"/>
          </a:solidFill>
          <a:ln cap="flat" cmpd="sng" w="9525">
            <a:solidFill>
              <a:srgbClr val="E2E2E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0" name="Google Shape;510;p6"/>
          <p:cNvSpPr txBox="1"/>
          <p:nvPr/>
        </p:nvSpPr>
        <p:spPr>
          <a:xfrm>
            <a:off x="4754879" y="2834639"/>
            <a:ext cx="1600200" cy="475488"/>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1" i="0" lang="en-US" sz="1000" u="none" cap="none" strike="noStrike">
                <a:solidFill>
                  <a:srgbClr val="500000"/>
                </a:solidFill>
                <a:latin typeface="Consolas"/>
                <a:ea typeface="Consolas"/>
                <a:cs typeface="Consolas"/>
                <a:sym typeface="Consolas"/>
              </a:rPr>
              <a:t>execution policy</a:t>
            </a:r>
            <a:endParaRPr/>
          </a:p>
        </p:txBody>
      </p:sp>
      <p:sp>
        <p:nvSpPr>
          <p:cNvPr id="511" name="Google Shape;511;p6"/>
          <p:cNvSpPr txBox="1"/>
          <p:nvPr/>
        </p:nvSpPr>
        <p:spPr>
          <a:xfrm>
            <a:off x="6355079" y="2834639"/>
            <a:ext cx="2286000" cy="475488"/>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0" i="0" lang="en-US" sz="1000" u="none" cap="none" strike="noStrike">
                <a:solidFill>
                  <a:srgbClr val="2B2B2B"/>
                </a:solidFill>
                <a:latin typeface="Arial"/>
                <a:ea typeface="Arial"/>
                <a:cs typeface="Arial"/>
                <a:sym typeface="Arial"/>
              </a:rPr>
              <a:t>thrust::host or thrust::device: WHERE it runs</a:t>
            </a:r>
            <a:endParaRPr/>
          </a:p>
        </p:txBody>
      </p:sp>
      <p:sp>
        <p:nvSpPr>
          <p:cNvPr id="512" name="Google Shape;512;p6"/>
          <p:cNvSpPr/>
          <p:nvPr/>
        </p:nvSpPr>
        <p:spPr>
          <a:xfrm>
            <a:off x="4663440" y="3383280"/>
            <a:ext cx="4023360" cy="475488"/>
          </a:xfrm>
          <a:prstGeom prst="roundRect">
            <a:avLst>
              <a:gd fmla="val 3500" name="adj"/>
            </a:avLst>
          </a:prstGeom>
          <a:solidFill>
            <a:srgbClr val="F7EEEE"/>
          </a:solidFill>
          <a:ln cap="flat" cmpd="sng" w="9525">
            <a:solidFill>
              <a:srgbClr val="E6D2D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3" name="Google Shape;513;p6"/>
          <p:cNvSpPr txBox="1"/>
          <p:nvPr/>
        </p:nvSpPr>
        <p:spPr>
          <a:xfrm>
            <a:off x="4754879" y="3383280"/>
            <a:ext cx="1600200" cy="475488"/>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1" i="0" lang="en-US" sz="1000" u="none" cap="none" strike="noStrike">
                <a:solidFill>
                  <a:srgbClr val="500000"/>
                </a:solidFill>
                <a:latin typeface="Consolas"/>
                <a:ea typeface="Consolas"/>
                <a:cs typeface="Consolas"/>
                <a:sym typeface="Consolas"/>
              </a:rPr>
              <a:t>specifier</a:t>
            </a:r>
            <a:endParaRPr/>
          </a:p>
        </p:txBody>
      </p:sp>
      <p:sp>
        <p:nvSpPr>
          <p:cNvPr id="514" name="Google Shape;514;p6"/>
          <p:cNvSpPr txBox="1"/>
          <p:nvPr/>
        </p:nvSpPr>
        <p:spPr>
          <a:xfrm>
            <a:off x="6355079" y="3383280"/>
            <a:ext cx="2286000" cy="475488"/>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0" i="0" lang="en-US" sz="1000" u="none" cap="none" strike="noStrike">
                <a:solidFill>
                  <a:srgbClr val="2B2B2B"/>
                </a:solidFill>
                <a:latin typeface="Arial"/>
                <a:ea typeface="Arial"/>
                <a:cs typeface="Arial"/>
                <a:sym typeface="Arial"/>
              </a:rPr>
              <a:t>__host__ / __device__: WHAT gets compiled</a:t>
            </a:r>
            <a:endParaRPr/>
          </a:p>
        </p:txBody>
      </p:sp>
      <p:sp>
        <p:nvSpPr>
          <p:cNvPr id="515" name="Google Shape;515;p6"/>
          <p:cNvSpPr/>
          <p:nvPr/>
        </p:nvSpPr>
        <p:spPr>
          <a:xfrm>
            <a:off x="4663440" y="3931920"/>
            <a:ext cx="4023360" cy="475488"/>
          </a:xfrm>
          <a:prstGeom prst="roundRect">
            <a:avLst>
              <a:gd fmla="val 3500" name="adj"/>
            </a:avLst>
          </a:prstGeom>
          <a:solidFill>
            <a:srgbClr val="F5F5F6"/>
          </a:solidFill>
          <a:ln cap="flat" cmpd="sng" w="9525">
            <a:solidFill>
              <a:srgbClr val="E2E2E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6" name="Google Shape;516;p6"/>
          <p:cNvSpPr txBox="1"/>
          <p:nvPr/>
        </p:nvSpPr>
        <p:spPr>
          <a:xfrm>
            <a:off x="4754879" y="3931920"/>
            <a:ext cx="1600200" cy="475488"/>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1" i="0" lang="en-US" sz="1000" u="none" cap="none" strike="noStrike">
                <a:solidFill>
                  <a:srgbClr val="500000"/>
                </a:solidFill>
                <a:latin typeface="Consolas"/>
                <a:ea typeface="Consolas"/>
                <a:cs typeface="Consolas"/>
                <a:sym typeface="Consolas"/>
              </a:rPr>
              <a:t>universal_vector</a:t>
            </a:r>
            <a:endParaRPr/>
          </a:p>
        </p:txBody>
      </p:sp>
      <p:sp>
        <p:nvSpPr>
          <p:cNvPr id="517" name="Google Shape;517;p6"/>
          <p:cNvSpPr txBox="1"/>
          <p:nvPr/>
        </p:nvSpPr>
        <p:spPr>
          <a:xfrm>
            <a:off x="6355079" y="3931920"/>
            <a:ext cx="2286000" cy="475488"/>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0" i="0" lang="en-US" sz="1000" u="none" cap="none" strike="noStrike">
                <a:solidFill>
                  <a:srgbClr val="2B2B2B"/>
                </a:solidFill>
                <a:latin typeface="Arial"/>
                <a:ea typeface="Arial"/>
                <a:cs typeface="Arial"/>
                <a:sym typeface="Arial"/>
              </a:rPr>
              <a:t>A vector both the CPU and GPU can read</a:t>
            </a:r>
            <a:endParaRPr/>
          </a:p>
        </p:txBody>
      </p:sp>
      <p:sp>
        <p:nvSpPr>
          <p:cNvPr id="518" name="Google Shape;518;p6"/>
          <p:cNvSpPr/>
          <p:nvPr/>
        </p:nvSpPr>
        <p:spPr>
          <a:xfrm>
            <a:off x="636879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6"/>
          <p:cNvSpPr/>
          <p:nvPr/>
        </p:nvSpPr>
        <p:spPr>
          <a:xfrm>
            <a:off x="644194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6"/>
          <p:cNvSpPr/>
          <p:nvPr/>
        </p:nvSpPr>
        <p:spPr>
          <a:xfrm>
            <a:off x="6515100"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6"/>
          <p:cNvSpPr/>
          <p:nvPr/>
        </p:nvSpPr>
        <p:spPr>
          <a:xfrm>
            <a:off x="6588252"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6"/>
          <p:cNvSpPr/>
          <p:nvPr/>
        </p:nvSpPr>
        <p:spPr>
          <a:xfrm>
            <a:off x="6661404"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6"/>
          <p:cNvSpPr/>
          <p:nvPr/>
        </p:nvSpPr>
        <p:spPr>
          <a:xfrm>
            <a:off x="673455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6"/>
          <p:cNvSpPr/>
          <p:nvPr/>
        </p:nvSpPr>
        <p:spPr>
          <a:xfrm>
            <a:off x="680770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6"/>
          <p:cNvSpPr/>
          <p:nvPr/>
        </p:nvSpPr>
        <p:spPr>
          <a:xfrm>
            <a:off x="6880860"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6"/>
          <p:cNvSpPr/>
          <p:nvPr/>
        </p:nvSpPr>
        <p:spPr>
          <a:xfrm>
            <a:off x="6954012" y="4901184"/>
            <a:ext cx="50292" cy="50292"/>
          </a:xfrm>
          <a:prstGeom prst="rect">
            <a:avLst/>
          </a:prstGeom>
          <a:solidFill>
            <a:srgbClr val="5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6"/>
          <p:cNvSpPr/>
          <p:nvPr/>
        </p:nvSpPr>
        <p:spPr>
          <a:xfrm>
            <a:off x="702716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6"/>
          <p:cNvSpPr/>
          <p:nvPr/>
        </p:nvSpPr>
        <p:spPr>
          <a:xfrm>
            <a:off x="710031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6"/>
          <p:cNvSpPr/>
          <p:nvPr/>
        </p:nvSpPr>
        <p:spPr>
          <a:xfrm>
            <a:off x="717346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6"/>
          <p:cNvSpPr/>
          <p:nvPr/>
        </p:nvSpPr>
        <p:spPr>
          <a:xfrm>
            <a:off x="7246620"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6"/>
          <p:cNvSpPr/>
          <p:nvPr/>
        </p:nvSpPr>
        <p:spPr>
          <a:xfrm>
            <a:off x="731977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6"/>
          <p:cNvSpPr/>
          <p:nvPr/>
        </p:nvSpPr>
        <p:spPr>
          <a:xfrm>
            <a:off x="739292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6"/>
          <p:cNvSpPr/>
          <p:nvPr/>
        </p:nvSpPr>
        <p:spPr>
          <a:xfrm>
            <a:off x="746607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6"/>
          <p:cNvSpPr/>
          <p:nvPr/>
        </p:nvSpPr>
        <p:spPr>
          <a:xfrm>
            <a:off x="753922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6"/>
          <p:cNvSpPr/>
          <p:nvPr/>
        </p:nvSpPr>
        <p:spPr>
          <a:xfrm>
            <a:off x="7612380"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6"/>
          <p:cNvSpPr/>
          <p:nvPr/>
        </p:nvSpPr>
        <p:spPr>
          <a:xfrm>
            <a:off x="768553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6"/>
          <p:cNvSpPr/>
          <p:nvPr/>
        </p:nvSpPr>
        <p:spPr>
          <a:xfrm>
            <a:off x="775868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6"/>
          <p:cNvSpPr/>
          <p:nvPr/>
        </p:nvSpPr>
        <p:spPr>
          <a:xfrm>
            <a:off x="783183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6"/>
          <p:cNvSpPr/>
          <p:nvPr/>
        </p:nvSpPr>
        <p:spPr>
          <a:xfrm>
            <a:off x="790498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6"/>
          <p:cNvSpPr/>
          <p:nvPr/>
        </p:nvSpPr>
        <p:spPr>
          <a:xfrm>
            <a:off x="7978140"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6"/>
          <p:cNvSpPr/>
          <p:nvPr/>
        </p:nvSpPr>
        <p:spPr>
          <a:xfrm>
            <a:off x="805129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6"/>
          <p:cNvSpPr/>
          <p:nvPr/>
        </p:nvSpPr>
        <p:spPr>
          <a:xfrm>
            <a:off x="812444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6"/>
          <p:cNvSpPr/>
          <p:nvPr/>
        </p:nvSpPr>
        <p:spPr>
          <a:xfrm>
            <a:off x="819759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6"/>
          <p:cNvSpPr/>
          <p:nvPr/>
        </p:nvSpPr>
        <p:spPr>
          <a:xfrm>
            <a:off x="827074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6"/>
          <p:cNvSpPr/>
          <p:nvPr/>
        </p:nvSpPr>
        <p:spPr>
          <a:xfrm>
            <a:off x="8343900"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6"/>
          <p:cNvSpPr/>
          <p:nvPr/>
        </p:nvSpPr>
        <p:spPr>
          <a:xfrm>
            <a:off x="841705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6"/>
          <p:cNvSpPr/>
          <p:nvPr/>
        </p:nvSpPr>
        <p:spPr>
          <a:xfrm>
            <a:off x="849020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6"/>
          <p:cNvSpPr/>
          <p:nvPr/>
        </p:nvSpPr>
        <p:spPr>
          <a:xfrm>
            <a:off x="856335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6"/>
          <p:cNvSpPr/>
          <p:nvPr/>
        </p:nvSpPr>
        <p:spPr>
          <a:xfrm>
            <a:off x="863650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6"/>
          <p:cNvSpPr txBox="1"/>
          <p:nvPr/>
        </p:nvSpPr>
        <p:spPr>
          <a:xfrm>
            <a:off x="5472684" y="4846320"/>
            <a:ext cx="822960" cy="15544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00" u="none" cap="none" strike="noStrike">
                <a:solidFill>
                  <a:srgbClr val="9A9AA0"/>
                </a:solidFill>
                <a:latin typeface="Consolas"/>
                <a:ea typeface="Consolas"/>
                <a:cs typeface="Consolas"/>
                <a:sym typeface="Consolas"/>
              </a:rPr>
              <a:t>slide[8]</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1B1D"/>
        </a:solidFill>
      </p:bgPr>
    </p:bg>
    <p:spTree>
      <p:nvGrpSpPr>
        <p:cNvPr id="555" name="Shape 555"/>
        <p:cNvGrpSpPr/>
        <p:nvPr/>
      </p:nvGrpSpPr>
      <p:grpSpPr>
        <a:xfrm>
          <a:off x="0" y="0"/>
          <a:ext cx="0" cy="0"/>
          <a:chOff x="0" y="0"/>
          <a:chExt cx="0" cy="0"/>
        </a:xfrm>
      </p:grpSpPr>
      <p:sp>
        <p:nvSpPr>
          <p:cNvPr id="556" name="Google Shape;556;p7"/>
          <p:cNvSpPr txBox="1"/>
          <p:nvPr/>
        </p:nvSpPr>
        <p:spPr>
          <a:xfrm>
            <a:off x="548640" y="960120"/>
            <a:ext cx="5486400" cy="32004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1200" u="none" cap="none" strike="noStrike">
                <a:solidFill>
                  <a:srgbClr val="76B900"/>
                </a:solidFill>
                <a:latin typeface="Arial"/>
                <a:ea typeface="Arial"/>
                <a:cs typeface="Arial"/>
                <a:sym typeface="Arial"/>
              </a:rPr>
              <a:t>PART 3  ·  LEARNING</a:t>
            </a:r>
            <a:endParaRPr/>
          </a:p>
        </p:txBody>
      </p:sp>
      <p:sp>
        <p:nvSpPr>
          <p:cNvPr id="557" name="Google Shape;557;p7"/>
          <p:cNvSpPr txBox="1"/>
          <p:nvPr/>
        </p:nvSpPr>
        <p:spPr>
          <a:xfrm>
            <a:off x="548640" y="1325880"/>
            <a:ext cx="5394960" cy="137160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3000" u="none" cap="none" strike="noStrike">
                <a:solidFill>
                  <a:srgbClr val="FFFFFF"/>
                </a:solidFill>
                <a:latin typeface="Arial"/>
                <a:ea typeface="Arial"/>
                <a:cs typeface="Arial"/>
                <a:sym typeface="Arial"/>
              </a:rPr>
              <a:t>When the algorithm you need doesn't exist</a:t>
            </a:r>
            <a:endParaRPr/>
          </a:p>
        </p:txBody>
      </p:sp>
      <p:sp>
        <p:nvSpPr>
          <p:cNvPr id="558" name="Google Shape;558;p7"/>
          <p:cNvSpPr/>
          <p:nvPr/>
        </p:nvSpPr>
        <p:spPr>
          <a:xfrm>
            <a:off x="6172200" y="960120"/>
            <a:ext cx="310896" cy="310896"/>
          </a:xfrm>
          <a:prstGeom prst="ellipse">
            <a:avLst/>
          </a:prstGeom>
          <a:solidFill>
            <a:srgbClr val="5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9" name="Google Shape;559;p7"/>
          <p:cNvSpPr txBox="1"/>
          <p:nvPr/>
        </p:nvSpPr>
        <p:spPr>
          <a:xfrm>
            <a:off x="6172200" y="960120"/>
            <a:ext cx="310896" cy="310896"/>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100" u="none" cap="none" strike="noStrike">
                <a:solidFill>
                  <a:srgbClr val="FFFFFF"/>
                </a:solidFill>
                <a:latin typeface="Arial"/>
                <a:ea typeface="Arial"/>
                <a:cs typeface="Arial"/>
                <a:sym typeface="Arial"/>
              </a:rPr>
              <a:t>1</a:t>
            </a:r>
            <a:endParaRPr/>
          </a:p>
        </p:txBody>
      </p:sp>
      <p:sp>
        <p:nvSpPr>
          <p:cNvPr id="560" name="Google Shape;560;p7"/>
          <p:cNvSpPr txBox="1"/>
          <p:nvPr/>
        </p:nvSpPr>
        <p:spPr>
          <a:xfrm>
            <a:off x="6583680" y="941832"/>
            <a:ext cx="2377440" cy="365760"/>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0" i="0" lang="en-US" sz="1100" u="none" cap="none" strike="noStrike">
                <a:solidFill>
                  <a:srgbClr val="FFFFFF"/>
                </a:solidFill>
                <a:latin typeface="Arial"/>
                <a:ea typeface="Arial"/>
                <a:cs typeface="Arial"/>
                <a:sym typeface="Arial"/>
              </a:rPr>
              <a:t>Warm-up: median on the GPU</a:t>
            </a:r>
            <a:endParaRPr/>
          </a:p>
        </p:txBody>
      </p:sp>
      <p:sp>
        <p:nvSpPr>
          <p:cNvPr id="561" name="Google Shape;561;p7"/>
          <p:cNvSpPr/>
          <p:nvPr/>
        </p:nvSpPr>
        <p:spPr>
          <a:xfrm>
            <a:off x="6172200" y="1435608"/>
            <a:ext cx="310896" cy="310896"/>
          </a:xfrm>
          <a:prstGeom prst="ellipse">
            <a:avLst/>
          </a:prstGeom>
          <a:solidFill>
            <a:srgbClr val="5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2" name="Google Shape;562;p7"/>
          <p:cNvSpPr txBox="1"/>
          <p:nvPr/>
        </p:nvSpPr>
        <p:spPr>
          <a:xfrm>
            <a:off x="6172200" y="1435608"/>
            <a:ext cx="310896" cy="310896"/>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100" u="none" cap="none" strike="noStrike">
                <a:solidFill>
                  <a:srgbClr val="FFFFFF"/>
                </a:solidFill>
                <a:latin typeface="Arial"/>
                <a:ea typeface="Arial"/>
                <a:cs typeface="Arial"/>
                <a:sym typeface="Arial"/>
              </a:rPr>
              <a:t>2</a:t>
            </a:r>
            <a:endParaRPr/>
          </a:p>
        </p:txBody>
      </p:sp>
      <p:sp>
        <p:nvSpPr>
          <p:cNvPr id="563" name="Google Shape;563;p7"/>
          <p:cNvSpPr txBox="1"/>
          <p:nvPr/>
        </p:nvSpPr>
        <p:spPr>
          <a:xfrm>
            <a:off x="6583680" y="1417320"/>
            <a:ext cx="2377440" cy="365760"/>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0" i="0" lang="en-US" sz="1100" u="none" cap="none" strike="noStrike">
                <a:solidFill>
                  <a:srgbClr val="FFFFFF"/>
                </a:solidFill>
                <a:latin typeface="Arial"/>
                <a:ea typeface="Arial"/>
                <a:cs typeface="Arial"/>
                <a:sym typeface="Arial"/>
              </a:rPr>
              <a:t>Memory bound: count the trips</a:t>
            </a:r>
            <a:endParaRPr/>
          </a:p>
        </p:txBody>
      </p:sp>
      <p:sp>
        <p:nvSpPr>
          <p:cNvPr id="564" name="Google Shape;564;p7"/>
          <p:cNvSpPr/>
          <p:nvPr/>
        </p:nvSpPr>
        <p:spPr>
          <a:xfrm>
            <a:off x="6172200" y="1911095"/>
            <a:ext cx="310896" cy="310896"/>
          </a:xfrm>
          <a:prstGeom prst="ellipse">
            <a:avLst/>
          </a:prstGeom>
          <a:solidFill>
            <a:srgbClr val="5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5" name="Google Shape;565;p7"/>
          <p:cNvSpPr txBox="1"/>
          <p:nvPr/>
        </p:nvSpPr>
        <p:spPr>
          <a:xfrm>
            <a:off x="6172200" y="1911095"/>
            <a:ext cx="310896" cy="310896"/>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100" u="none" cap="none" strike="noStrike">
                <a:solidFill>
                  <a:srgbClr val="FFFFFF"/>
                </a:solidFill>
                <a:latin typeface="Arial"/>
                <a:ea typeface="Arial"/>
                <a:cs typeface="Arial"/>
                <a:sym typeface="Arial"/>
              </a:rPr>
              <a:t>3</a:t>
            </a:r>
            <a:endParaRPr/>
          </a:p>
        </p:txBody>
      </p:sp>
      <p:sp>
        <p:nvSpPr>
          <p:cNvPr id="566" name="Google Shape;566;p7"/>
          <p:cNvSpPr txBox="1"/>
          <p:nvPr/>
        </p:nvSpPr>
        <p:spPr>
          <a:xfrm>
            <a:off x="6583680" y="1892807"/>
            <a:ext cx="2377440" cy="365760"/>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0" i="0" lang="en-US" sz="1100" u="none" cap="none" strike="noStrike">
                <a:solidFill>
                  <a:srgbClr val="FFFFFF"/>
                </a:solidFill>
                <a:latin typeface="Arial"/>
                <a:ea typeface="Arial"/>
                <a:cs typeface="Arial"/>
                <a:sym typeface="Arial"/>
              </a:rPr>
              <a:t>Iterators: pointers with superpowers</a:t>
            </a:r>
            <a:endParaRPr/>
          </a:p>
        </p:txBody>
      </p:sp>
      <p:sp>
        <p:nvSpPr>
          <p:cNvPr id="567" name="Google Shape;567;p7"/>
          <p:cNvSpPr/>
          <p:nvPr/>
        </p:nvSpPr>
        <p:spPr>
          <a:xfrm>
            <a:off x="6172200" y="2386584"/>
            <a:ext cx="310896" cy="310896"/>
          </a:xfrm>
          <a:prstGeom prst="ellipse">
            <a:avLst/>
          </a:prstGeom>
          <a:solidFill>
            <a:srgbClr val="5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8" name="Google Shape;568;p7"/>
          <p:cNvSpPr txBox="1"/>
          <p:nvPr/>
        </p:nvSpPr>
        <p:spPr>
          <a:xfrm>
            <a:off x="6172200" y="2386584"/>
            <a:ext cx="310896" cy="310896"/>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100" u="none" cap="none" strike="noStrike">
                <a:solidFill>
                  <a:srgbClr val="FFFFFF"/>
                </a:solidFill>
                <a:latin typeface="Arial"/>
                <a:ea typeface="Arial"/>
                <a:cs typeface="Arial"/>
                <a:sym typeface="Arial"/>
              </a:rPr>
              <a:t>4</a:t>
            </a:r>
            <a:endParaRPr/>
          </a:p>
        </p:txBody>
      </p:sp>
      <p:sp>
        <p:nvSpPr>
          <p:cNvPr id="569" name="Google Shape;569;p7"/>
          <p:cNvSpPr txBox="1"/>
          <p:nvPr/>
        </p:nvSpPr>
        <p:spPr>
          <a:xfrm>
            <a:off x="6583680" y="2368296"/>
            <a:ext cx="2377440" cy="365760"/>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0" i="0" lang="en-US" sz="1100" u="none" cap="none" strike="noStrike">
                <a:solidFill>
                  <a:srgbClr val="FFFFFF"/>
                </a:solidFill>
                <a:latin typeface="Arial"/>
                <a:ea typeface="Arial"/>
                <a:cs typeface="Arial"/>
                <a:sym typeface="Arial"/>
              </a:rPr>
              <a:t>Thrust fancy iterators</a:t>
            </a:r>
            <a:endParaRPr/>
          </a:p>
        </p:txBody>
      </p:sp>
      <p:sp>
        <p:nvSpPr>
          <p:cNvPr id="570" name="Google Shape;570;p7"/>
          <p:cNvSpPr/>
          <p:nvPr/>
        </p:nvSpPr>
        <p:spPr>
          <a:xfrm>
            <a:off x="6172200" y="2862072"/>
            <a:ext cx="310896" cy="310896"/>
          </a:xfrm>
          <a:prstGeom prst="ellipse">
            <a:avLst/>
          </a:prstGeom>
          <a:solidFill>
            <a:srgbClr val="5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71" name="Google Shape;571;p7"/>
          <p:cNvSpPr txBox="1"/>
          <p:nvPr/>
        </p:nvSpPr>
        <p:spPr>
          <a:xfrm>
            <a:off x="6172200" y="2862072"/>
            <a:ext cx="310896" cy="310896"/>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100" u="none" cap="none" strike="noStrike">
                <a:solidFill>
                  <a:srgbClr val="FFFFFF"/>
                </a:solidFill>
                <a:latin typeface="Arial"/>
                <a:ea typeface="Arial"/>
                <a:cs typeface="Arial"/>
                <a:sym typeface="Arial"/>
              </a:rPr>
              <a:t>5</a:t>
            </a:r>
            <a:endParaRPr/>
          </a:p>
        </p:txBody>
      </p:sp>
      <p:sp>
        <p:nvSpPr>
          <p:cNvPr id="572" name="Google Shape;572;p7"/>
          <p:cNvSpPr txBox="1"/>
          <p:nvPr/>
        </p:nvSpPr>
        <p:spPr>
          <a:xfrm>
            <a:off x="6583680" y="2843784"/>
            <a:ext cx="2377440" cy="365760"/>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0" i="0" lang="en-US" sz="1100" u="none" cap="none" strike="noStrike">
                <a:solidFill>
                  <a:srgbClr val="FFFFFF"/>
                </a:solidFill>
                <a:latin typeface="Arial"/>
                <a:ea typeface="Arial"/>
                <a:cs typeface="Arial"/>
                <a:sym typeface="Arial"/>
              </a:rPr>
              <a:t>Vocabulary types: tabulate, pair, mdspan</a:t>
            </a:r>
            <a:endParaRPr/>
          </a:p>
        </p:txBody>
      </p:sp>
      <p:sp>
        <p:nvSpPr>
          <p:cNvPr id="573" name="Google Shape;573;p7"/>
          <p:cNvSpPr/>
          <p:nvPr/>
        </p:nvSpPr>
        <p:spPr>
          <a:xfrm>
            <a:off x="6172200" y="3337560"/>
            <a:ext cx="310896" cy="310896"/>
          </a:xfrm>
          <a:prstGeom prst="ellipse">
            <a:avLst/>
          </a:prstGeom>
          <a:solidFill>
            <a:srgbClr val="76B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74" name="Google Shape;574;p7"/>
          <p:cNvSpPr txBox="1"/>
          <p:nvPr/>
        </p:nvSpPr>
        <p:spPr>
          <a:xfrm>
            <a:off x="6172200" y="3337560"/>
            <a:ext cx="310896" cy="310896"/>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100" u="none" cap="none" strike="noStrike">
                <a:solidFill>
                  <a:srgbClr val="FFFFFF"/>
                </a:solidFill>
                <a:latin typeface="Arial"/>
                <a:ea typeface="Arial"/>
                <a:cs typeface="Arial"/>
                <a:sym typeface="Arial"/>
              </a:rPr>
              <a:t>6</a:t>
            </a:r>
            <a:endParaRPr/>
          </a:p>
        </p:txBody>
      </p:sp>
      <p:sp>
        <p:nvSpPr>
          <p:cNvPr id="575" name="Google Shape;575;p7"/>
          <p:cNvSpPr txBox="1"/>
          <p:nvPr/>
        </p:nvSpPr>
        <p:spPr>
          <a:xfrm>
            <a:off x="6583680" y="3319272"/>
            <a:ext cx="2377440" cy="365760"/>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0" i="0" lang="en-US" sz="1100" u="none" cap="none" strike="noStrike">
                <a:solidFill>
                  <a:srgbClr val="FFFFFF"/>
                </a:solidFill>
                <a:latin typeface="Arial"/>
                <a:ea typeface="Arial"/>
                <a:cs typeface="Arial"/>
                <a:sym typeface="Arial"/>
              </a:rPr>
              <a:t>3 hands-on exercises</a:t>
            </a:r>
            <a:endParaRPr/>
          </a:p>
        </p:txBody>
      </p:sp>
      <p:sp>
        <p:nvSpPr>
          <p:cNvPr id="576" name="Google Shape;576;p7"/>
          <p:cNvSpPr/>
          <p:nvPr/>
        </p:nvSpPr>
        <p:spPr>
          <a:xfrm>
            <a:off x="6368796" y="4901184"/>
            <a:ext cx="50292" cy="50292"/>
          </a:xfrm>
          <a:prstGeom prst="rect">
            <a:avLst/>
          </a:prstGeom>
          <a:solidFill>
            <a:srgbClr val="5A3A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7"/>
          <p:cNvSpPr/>
          <p:nvPr/>
        </p:nvSpPr>
        <p:spPr>
          <a:xfrm>
            <a:off x="6441948" y="4901184"/>
            <a:ext cx="50292" cy="50292"/>
          </a:xfrm>
          <a:prstGeom prst="rect">
            <a:avLst/>
          </a:prstGeom>
          <a:solidFill>
            <a:srgbClr val="5A3A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7"/>
          <p:cNvSpPr/>
          <p:nvPr/>
        </p:nvSpPr>
        <p:spPr>
          <a:xfrm>
            <a:off x="6515100" y="4901184"/>
            <a:ext cx="50292" cy="50292"/>
          </a:xfrm>
          <a:prstGeom prst="rect">
            <a:avLst/>
          </a:prstGeom>
          <a:solidFill>
            <a:srgbClr val="5A3A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7"/>
          <p:cNvSpPr/>
          <p:nvPr/>
        </p:nvSpPr>
        <p:spPr>
          <a:xfrm>
            <a:off x="6588252" y="4901184"/>
            <a:ext cx="50292" cy="50292"/>
          </a:xfrm>
          <a:prstGeom prst="rect">
            <a:avLst/>
          </a:prstGeom>
          <a:solidFill>
            <a:srgbClr val="5A3A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7"/>
          <p:cNvSpPr/>
          <p:nvPr/>
        </p:nvSpPr>
        <p:spPr>
          <a:xfrm>
            <a:off x="6661404" y="4901184"/>
            <a:ext cx="50292" cy="50292"/>
          </a:xfrm>
          <a:prstGeom prst="rect">
            <a:avLst/>
          </a:prstGeom>
          <a:solidFill>
            <a:srgbClr val="5A3A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7"/>
          <p:cNvSpPr/>
          <p:nvPr/>
        </p:nvSpPr>
        <p:spPr>
          <a:xfrm>
            <a:off x="6734556" y="4901184"/>
            <a:ext cx="50292" cy="50292"/>
          </a:xfrm>
          <a:prstGeom prst="rect">
            <a:avLst/>
          </a:prstGeom>
          <a:solidFill>
            <a:srgbClr val="5A3A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7"/>
          <p:cNvSpPr/>
          <p:nvPr/>
        </p:nvSpPr>
        <p:spPr>
          <a:xfrm>
            <a:off x="6807708" y="4901184"/>
            <a:ext cx="50292" cy="50292"/>
          </a:xfrm>
          <a:prstGeom prst="rect">
            <a:avLst/>
          </a:prstGeom>
          <a:solidFill>
            <a:srgbClr val="5A3A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7"/>
          <p:cNvSpPr/>
          <p:nvPr/>
        </p:nvSpPr>
        <p:spPr>
          <a:xfrm>
            <a:off x="6880860" y="4901184"/>
            <a:ext cx="50292" cy="50292"/>
          </a:xfrm>
          <a:prstGeom prst="rect">
            <a:avLst/>
          </a:prstGeom>
          <a:solidFill>
            <a:srgbClr val="5A3A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7"/>
          <p:cNvSpPr/>
          <p:nvPr/>
        </p:nvSpPr>
        <p:spPr>
          <a:xfrm>
            <a:off x="6954012" y="4901184"/>
            <a:ext cx="50292" cy="50292"/>
          </a:xfrm>
          <a:prstGeom prst="rect">
            <a:avLst/>
          </a:prstGeom>
          <a:solidFill>
            <a:srgbClr val="5A3A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7"/>
          <p:cNvSpPr/>
          <p:nvPr/>
        </p:nvSpPr>
        <p:spPr>
          <a:xfrm>
            <a:off x="7027164" y="4901184"/>
            <a:ext cx="50292" cy="50292"/>
          </a:xfrm>
          <a:prstGeom prst="rect">
            <a:avLst/>
          </a:prstGeom>
          <a:solidFill>
            <a:srgbClr val="76B9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7"/>
          <p:cNvSpPr/>
          <p:nvPr/>
        </p:nvSpPr>
        <p:spPr>
          <a:xfrm>
            <a:off x="7100316" y="4901184"/>
            <a:ext cx="50292" cy="50292"/>
          </a:xfrm>
          <a:prstGeom prst="rect">
            <a:avLst/>
          </a:prstGeom>
          <a:solidFill>
            <a:srgbClr val="3434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7"/>
          <p:cNvSpPr/>
          <p:nvPr/>
        </p:nvSpPr>
        <p:spPr>
          <a:xfrm>
            <a:off x="7173468" y="4901184"/>
            <a:ext cx="50292" cy="50292"/>
          </a:xfrm>
          <a:prstGeom prst="rect">
            <a:avLst/>
          </a:prstGeom>
          <a:solidFill>
            <a:srgbClr val="3434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7"/>
          <p:cNvSpPr/>
          <p:nvPr/>
        </p:nvSpPr>
        <p:spPr>
          <a:xfrm>
            <a:off x="7246620" y="4901184"/>
            <a:ext cx="50292" cy="50292"/>
          </a:xfrm>
          <a:prstGeom prst="rect">
            <a:avLst/>
          </a:prstGeom>
          <a:solidFill>
            <a:srgbClr val="3434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7"/>
          <p:cNvSpPr/>
          <p:nvPr/>
        </p:nvSpPr>
        <p:spPr>
          <a:xfrm>
            <a:off x="7319772" y="4901184"/>
            <a:ext cx="50292" cy="50292"/>
          </a:xfrm>
          <a:prstGeom prst="rect">
            <a:avLst/>
          </a:prstGeom>
          <a:solidFill>
            <a:srgbClr val="3434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7"/>
          <p:cNvSpPr/>
          <p:nvPr/>
        </p:nvSpPr>
        <p:spPr>
          <a:xfrm>
            <a:off x="7392924" y="4901184"/>
            <a:ext cx="50292" cy="50292"/>
          </a:xfrm>
          <a:prstGeom prst="rect">
            <a:avLst/>
          </a:prstGeom>
          <a:solidFill>
            <a:srgbClr val="3434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7"/>
          <p:cNvSpPr/>
          <p:nvPr/>
        </p:nvSpPr>
        <p:spPr>
          <a:xfrm>
            <a:off x="7466076" y="4901184"/>
            <a:ext cx="50292" cy="50292"/>
          </a:xfrm>
          <a:prstGeom prst="rect">
            <a:avLst/>
          </a:prstGeom>
          <a:solidFill>
            <a:srgbClr val="3434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7"/>
          <p:cNvSpPr/>
          <p:nvPr/>
        </p:nvSpPr>
        <p:spPr>
          <a:xfrm>
            <a:off x="7539228" y="4901184"/>
            <a:ext cx="50292" cy="50292"/>
          </a:xfrm>
          <a:prstGeom prst="rect">
            <a:avLst/>
          </a:prstGeom>
          <a:solidFill>
            <a:srgbClr val="3434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7"/>
          <p:cNvSpPr/>
          <p:nvPr/>
        </p:nvSpPr>
        <p:spPr>
          <a:xfrm>
            <a:off x="7612380" y="4901184"/>
            <a:ext cx="50292" cy="50292"/>
          </a:xfrm>
          <a:prstGeom prst="rect">
            <a:avLst/>
          </a:prstGeom>
          <a:solidFill>
            <a:srgbClr val="3434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7"/>
          <p:cNvSpPr/>
          <p:nvPr/>
        </p:nvSpPr>
        <p:spPr>
          <a:xfrm>
            <a:off x="7685532" y="4901184"/>
            <a:ext cx="50292" cy="50292"/>
          </a:xfrm>
          <a:prstGeom prst="rect">
            <a:avLst/>
          </a:prstGeom>
          <a:solidFill>
            <a:srgbClr val="3434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7"/>
          <p:cNvSpPr/>
          <p:nvPr/>
        </p:nvSpPr>
        <p:spPr>
          <a:xfrm>
            <a:off x="7758684" y="4901184"/>
            <a:ext cx="50292" cy="50292"/>
          </a:xfrm>
          <a:prstGeom prst="rect">
            <a:avLst/>
          </a:prstGeom>
          <a:solidFill>
            <a:srgbClr val="3434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7"/>
          <p:cNvSpPr/>
          <p:nvPr/>
        </p:nvSpPr>
        <p:spPr>
          <a:xfrm>
            <a:off x="7831836" y="4901184"/>
            <a:ext cx="50292" cy="50292"/>
          </a:xfrm>
          <a:prstGeom prst="rect">
            <a:avLst/>
          </a:prstGeom>
          <a:solidFill>
            <a:srgbClr val="3434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7"/>
          <p:cNvSpPr/>
          <p:nvPr/>
        </p:nvSpPr>
        <p:spPr>
          <a:xfrm>
            <a:off x="7904988" y="4901184"/>
            <a:ext cx="50292" cy="50292"/>
          </a:xfrm>
          <a:prstGeom prst="rect">
            <a:avLst/>
          </a:prstGeom>
          <a:solidFill>
            <a:srgbClr val="3434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7"/>
          <p:cNvSpPr/>
          <p:nvPr/>
        </p:nvSpPr>
        <p:spPr>
          <a:xfrm>
            <a:off x="7978140" y="4901184"/>
            <a:ext cx="50292" cy="50292"/>
          </a:xfrm>
          <a:prstGeom prst="rect">
            <a:avLst/>
          </a:prstGeom>
          <a:solidFill>
            <a:srgbClr val="3434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7"/>
          <p:cNvSpPr/>
          <p:nvPr/>
        </p:nvSpPr>
        <p:spPr>
          <a:xfrm>
            <a:off x="8051292" y="4901184"/>
            <a:ext cx="50292" cy="50292"/>
          </a:xfrm>
          <a:prstGeom prst="rect">
            <a:avLst/>
          </a:prstGeom>
          <a:solidFill>
            <a:srgbClr val="3434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7"/>
          <p:cNvSpPr/>
          <p:nvPr/>
        </p:nvSpPr>
        <p:spPr>
          <a:xfrm>
            <a:off x="8124444" y="4901184"/>
            <a:ext cx="50292" cy="50292"/>
          </a:xfrm>
          <a:prstGeom prst="rect">
            <a:avLst/>
          </a:prstGeom>
          <a:solidFill>
            <a:srgbClr val="3434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7"/>
          <p:cNvSpPr/>
          <p:nvPr/>
        </p:nvSpPr>
        <p:spPr>
          <a:xfrm>
            <a:off x="8197596" y="4901184"/>
            <a:ext cx="50292" cy="50292"/>
          </a:xfrm>
          <a:prstGeom prst="rect">
            <a:avLst/>
          </a:prstGeom>
          <a:solidFill>
            <a:srgbClr val="3434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7"/>
          <p:cNvSpPr/>
          <p:nvPr/>
        </p:nvSpPr>
        <p:spPr>
          <a:xfrm>
            <a:off x="8270748" y="4901184"/>
            <a:ext cx="50292" cy="50292"/>
          </a:xfrm>
          <a:prstGeom prst="rect">
            <a:avLst/>
          </a:prstGeom>
          <a:solidFill>
            <a:srgbClr val="3434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7"/>
          <p:cNvSpPr/>
          <p:nvPr/>
        </p:nvSpPr>
        <p:spPr>
          <a:xfrm>
            <a:off x="8343900" y="4901184"/>
            <a:ext cx="50292" cy="50292"/>
          </a:xfrm>
          <a:prstGeom prst="rect">
            <a:avLst/>
          </a:prstGeom>
          <a:solidFill>
            <a:srgbClr val="3434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7"/>
          <p:cNvSpPr/>
          <p:nvPr/>
        </p:nvSpPr>
        <p:spPr>
          <a:xfrm>
            <a:off x="8417052" y="4901184"/>
            <a:ext cx="50292" cy="50292"/>
          </a:xfrm>
          <a:prstGeom prst="rect">
            <a:avLst/>
          </a:prstGeom>
          <a:solidFill>
            <a:srgbClr val="3434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7"/>
          <p:cNvSpPr/>
          <p:nvPr/>
        </p:nvSpPr>
        <p:spPr>
          <a:xfrm>
            <a:off x="8490204" y="4901184"/>
            <a:ext cx="50292" cy="50292"/>
          </a:xfrm>
          <a:prstGeom prst="rect">
            <a:avLst/>
          </a:prstGeom>
          <a:solidFill>
            <a:srgbClr val="3434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7"/>
          <p:cNvSpPr/>
          <p:nvPr/>
        </p:nvSpPr>
        <p:spPr>
          <a:xfrm>
            <a:off x="8563356" y="4901184"/>
            <a:ext cx="50292" cy="50292"/>
          </a:xfrm>
          <a:prstGeom prst="rect">
            <a:avLst/>
          </a:prstGeom>
          <a:solidFill>
            <a:srgbClr val="3434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7"/>
          <p:cNvSpPr/>
          <p:nvPr/>
        </p:nvSpPr>
        <p:spPr>
          <a:xfrm>
            <a:off x="8636508" y="4901184"/>
            <a:ext cx="50292" cy="50292"/>
          </a:xfrm>
          <a:prstGeom prst="rect">
            <a:avLst/>
          </a:prstGeom>
          <a:solidFill>
            <a:srgbClr val="3434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7"/>
          <p:cNvSpPr txBox="1"/>
          <p:nvPr/>
        </p:nvSpPr>
        <p:spPr>
          <a:xfrm>
            <a:off x="5472684" y="4846320"/>
            <a:ext cx="822960" cy="15544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00" u="none" cap="none" strike="noStrike">
                <a:solidFill>
                  <a:srgbClr val="8A8A92"/>
                </a:solidFill>
                <a:latin typeface="Consolas"/>
                <a:ea typeface="Consolas"/>
                <a:cs typeface="Consolas"/>
                <a:sym typeface="Consolas"/>
              </a:rPr>
              <a:t>slide[9]</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3" name="Shape 613"/>
        <p:cNvGrpSpPr/>
        <p:nvPr/>
      </p:nvGrpSpPr>
      <p:grpSpPr>
        <a:xfrm>
          <a:off x="0" y="0"/>
          <a:ext cx="0" cy="0"/>
          <a:chOff x="0" y="0"/>
          <a:chExt cx="0" cy="0"/>
        </a:xfrm>
      </p:grpSpPr>
      <p:sp>
        <p:nvSpPr>
          <p:cNvPr id="614" name="Google Shape;614;p8"/>
          <p:cNvSpPr txBox="1"/>
          <p:nvPr/>
        </p:nvSpPr>
        <p:spPr>
          <a:xfrm>
            <a:off x="457200" y="320040"/>
            <a:ext cx="8229600" cy="54864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2800" u="none" cap="none" strike="noStrike">
                <a:solidFill>
                  <a:srgbClr val="500000"/>
                </a:solidFill>
                <a:latin typeface="Arial"/>
                <a:ea typeface="Arial"/>
                <a:cs typeface="Arial"/>
                <a:sym typeface="Arial"/>
              </a:rPr>
              <a:t>Exercise 4 (warm-up): median on the GPU</a:t>
            </a:r>
            <a:endParaRPr/>
          </a:p>
        </p:txBody>
      </p:sp>
      <p:sp>
        <p:nvSpPr>
          <p:cNvPr id="615" name="Google Shape;615;p8"/>
          <p:cNvSpPr txBox="1"/>
          <p:nvPr/>
        </p:nvSpPr>
        <p:spPr>
          <a:xfrm>
            <a:off x="457200" y="868680"/>
            <a:ext cx="8229600" cy="27432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0" i="0" lang="en-US" sz="1200" u="none" cap="none" strike="noStrike">
                <a:solidFill>
                  <a:srgbClr val="6E6E6E"/>
                </a:solidFill>
                <a:latin typeface="Arial"/>
                <a:ea typeface="Arial"/>
                <a:cs typeface="Arial"/>
                <a:sym typeface="Arial"/>
              </a:rPr>
              <a:t>3 minutes  ·  this median sorts on the CPU. Make the sort run on the GPU.</a:t>
            </a:r>
            <a:endParaRPr/>
          </a:p>
        </p:txBody>
      </p:sp>
      <p:sp>
        <p:nvSpPr>
          <p:cNvPr id="616" name="Google Shape;616;p8"/>
          <p:cNvSpPr/>
          <p:nvPr/>
        </p:nvSpPr>
        <p:spPr>
          <a:xfrm>
            <a:off x="457200" y="1280160"/>
            <a:ext cx="6035040" cy="1600200"/>
          </a:xfrm>
          <a:prstGeom prst="roundRect">
            <a:avLst>
              <a:gd fmla="val 3500" name="adj"/>
            </a:avLst>
          </a:prstGeom>
          <a:solidFill>
            <a:srgbClr val="1B1B1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17" name="Google Shape;617;p8"/>
          <p:cNvSpPr txBox="1"/>
          <p:nvPr/>
        </p:nvSpPr>
        <p:spPr>
          <a:xfrm>
            <a:off x="594360" y="1371600"/>
            <a:ext cx="5760720" cy="141732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0" i="0" lang="en-US" sz="1100" u="none" cap="none" strike="noStrike">
                <a:solidFill>
                  <a:srgbClr val="C586C0"/>
                </a:solidFill>
                <a:latin typeface="Consolas"/>
                <a:ea typeface="Consolas"/>
                <a:cs typeface="Consolas"/>
                <a:sym typeface="Consolas"/>
              </a:rPr>
              <a:t>float</a:t>
            </a:r>
            <a:r>
              <a:rPr b="0" i="0" lang="en-US" sz="1100" u="none" cap="none" strike="noStrike">
                <a:solidFill>
                  <a:srgbClr val="9CDCFE"/>
                </a:solidFill>
                <a:latin typeface="Consolas"/>
                <a:ea typeface="Consolas"/>
                <a:cs typeface="Consolas"/>
                <a:sym typeface="Consolas"/>
              </a:rPr>
              <a:t> median(thrust::universal_vector&lt;</a:t>
            </a:r>
            <a:r>
              <a:rPr b="0" i="0" lang="en-US" sz="1100" u="none" cap="none" strike="noStrike">
                <a:solidFill>
                  <a:srgbClr val="C586C0"/>
                </a:solidFill>
                <a:latin typeface="Consolas"/>
                <a:ea typeface="Consolas"/>
                <a:cs typeface="Consolas"/>
                <a:sym typeface="Consolas"/>
              </a:rPr>
              <a:t>float</a:t>
            </a:r>
            <a:r>
              <a:rPr b="0" i="0" lang="en-US" sz="1100" u="none" cap="none" strike="noStrike">
                <a:solidFill>
                  <a:srgbClr val="9CDCFE"/>
                </a:solidFill>
                <a:latin typeface="Consolas"/>
                <a:ea typeface="Consolas"/>
                <a:cs typeface="Consolas"/>
                <a:sym typeface="Consolas"/>
              </a:rPr>
              <a:t>&gt; vec)</a:t>
            </a:r>
            <a:endParaRPr/>
          </a:p>
          <a:p>
            <a:pPr indent="0" lvl="0" marL="0" marR="0" rtl="0" algn="l">
              <a:lnSpc>
                <a:spcPct val="100000"/>
              </a:lnSpc>
              <a:spcBef>
                <a:spcPts val="0"/>
              </a:spcBef>
              <a:spcAft>
                <a:spcPts val="0"/>
              </a:spcAft>
              <a:buNone/>
            </a:pPr>
            <a:r>
              <a:rPr b="0" i="0" lang="en-US" sz="1100" u="none" cap="none" strike="noStrike">
                <a:solidFill>
                  <a:srgbClr val="9CDCFE"/>
                </a:solidFill>
                <a:latin typeface="Consolas"/>
                <a:ea typeface="Consolas"/>
                <a:cs typeface="Consolas"/>
                <a:sym typeface="Consolas"/>
              </a:rPr>
              <a:t>{</a:t>
            </a:r>
            <a:endParaRPr/>
          </a:p>
          <a:p>
            <a:pPr indent="0" lvl="0" marL="0" marR="0" rtl="0" algn="l">
              <a:lnSpc>
                <a:spcPct val="100000"/>
              </a:lnSpc>
              <a:spcBef>
                <a:spcPts val="0"/>
              </a:spcBef>
              <a:spcAft>
                <a:spcPts val="0"/>
              </a:spcAft>
              <a:buNone/>
            </a:pPr>
            <a:r>
              <a:rPr b="0" i="0" lang="en-US" sz="1100" u="none" cap="none" strike="noStrike">
                <a:solidFill>
                  <a:srgbClr val="9CDCFE"/>
                </a:solidFill>
                <a:latin typeface="Consolas"/>
                <a:ea typeface="Consolas"/>
                <a:cs typeface="Consolas"/>
                <a:sym typeface="Consolas"/>
              </a:rPr>
              <a:t>    </a:t>
            </a:r>
            <a:r>
              <a:rPr b="0" i="0" lang="en-US" sz="1100" u="none" cap="none" strike="noStrike">
                <a:solidFill>
                  <a:srgbClr val="6A9955"/>
                </a:solidFill>
                <a:latin typeface="Consolas"/>
                <a:ea typeface="Consolas"/>
                <a:cs typeface="Consolas"/>
                <a:sym typeface="Consolas"/>
              </a:rPr>
              <a:t>// TODO: make the code below execute on the GPU</a:t>
            </a:r>
            <a:endParaRPr/>
          </a:p>
          <a:p>
            <a:pPr indent="0" lvl="0" marL="0" marR="0" rtl="0" algn="l">
              <a:lnSpc>
                <a:spcPct val="100000"/>
              </a:lnSpc>
              <a:spcBef>
                <a:spcPts val="0"/>
              </a:spcBef>
              <a:spcAft>
                <a:spcPts val="0"/>
              </a:spcAft>
              <a:buNone/>
            </a:pPr>
            <a:r>
              <a:rPr b="0" i="0" lang="en-US" sz="1100" u="none" cap="none" strike="noStrike">
                <a:solidFill>
                  <a:srgbClr val="9CDCFE"/>
                </a:solidFill>
                <a:latin typeface="Consolas"/>
                <a:ea typeface="Consolas"/>
                <a:cs typeface="Consolas"/>
                <a:sym typeface="Consolas"/>
              </a:rPr>
              <a:t>    std::sort(vec.begin(), vec.end());</a:t>
            </a:r>
            <a:endParaRPr/>
          </a:p>
          <a:p>
            <a:pPr indent="0" lvl="0" marL="0" marR="0" rtl="0" algn="l">
              <a:lnSpc>
                <a:spcPct val="100000"/>
              </a:lnSpc>
              <a:spcBef>
                <a:spcPts val="0"/>
              </a:spcBef>
              <a:spcAft>
                <a:spcPts val="0"/>
              </a:spcAft>
              <a:buNone/>
            </a:pPr>
            <a:r>
              <a:rPr b="0" i="0" lang="en-US" sz="1100" u="none" cap="none" strike="noStrike">
                <a:solidFill>
                  <a:srgbClr val="9CDCFE"/>
                </a:solidFill>
                <a:latin typeface="Consolas"/>
                <a:ea typeface="Consolas"/>
                <a:cs typeface="Consolas"/>
                <a:sym typeface="Consolas"/>
              </a:rPr>
              <a:t>    </a:t>
            </a:r>
            <a:r>
              <a:rPr b="0" i="0" lang="en-US" sz="1100" u="none" cap="none" strike="noStrike">
                <a:solidFill>
                  <a:srgbClr val="C586C0"/>
                </a:solidFill>
                <a:latin typeface="Consolas"/>
                <a:ea typeface="Consolas"/>
                <a:cs typeface="Consolas"/>
                <a:sym typeface="Consolas"/>
              </a:rPr>
              <a:t>return</a:t>
            </a:r>
            <a:r>
              <a:rPr b="0" i="0" lang="en-US" sz="1100" u="none" cap="none" strike="noStrike">
                <a:solidFill>
                  <a:srgbClr val="9CDCFE"/>
                </a:solidFill>
                <a:latin typeface="Consolas"/>
                <a:ea typeface="Consolas"/>
                <a:cs typeface="Consolas"/>
                <a:sym typeface="Consolas"/>
              </a:rPr>
              <a:t> vec[vec.size() / </a:t>
            </a:r>
            <a:r>
              <a:rPr b="0" i="0" lang="en-US" sz="1100" u="none" cap="none" strike="noStrike">
                <a:solidFill>
                  <a:srgbClr val="B5CEA8"/>
                </a:solidFill>
                <a:latin typeface="Consolas"/>
                <a:ea typeface="Consolas"/>
                <a:cs typeface="Consolas"/>
                <a:sym typeface="Consolas"/>
              </a:rPr>
              <a:t>2</a:t>
            </a:r>
            <a:r>
              <a:rPr b="0" i="0" lang="en-US" sz="1100" u="none" cap="none" strike="noStrike">
                <a:solidFill>
                  <a:srgbClr val="9CDCFE"/>
                </a:solidFill>
                <a:latin typeface="Consolas"/>
                <a:ea typeface="Consolas"/>
                <a:cs typeface="Consolas"/>
                <a:sym typeface="Consolas"/>
              </a:rPr>
              <a:t>];</a:t>
            </a:r>
            <a:endParaRPr/>
          </a:p>
          <a:p>
            <a:pPr indent="0" lvl="0" marL="0" marR="0" rtl="0" algn="l">
              <a:lnSpc>
                <a:spcPct val="100000"/>
              </a:lnSpc>
              <a:spcBef>
                <a:spcPts val="0"/>
              </a:spcBef>
              <a:spcAft>
                <a:spcPts val="0"/>
              </a:spcAft>
              <a:buNone/>
            </a:pPr>
            <a:r>
              <a:rPr b="0" i="0" lang="en-US" sz="1100" u="none" cap="none" strike="noStrike">
                <a:solidFill>
                  <a:srgbClr val="9CDCFE"/>
                </a:solidFill>
                <a:latin typeface="Consolas"/>
                <a:ea typeface="Consolas"/>
                <a:cs typeface="Consolas"/>
                <a:sym typeface="Consolas"/>
              </a:rPr>
              <a:t>}</a:t>
            </a:r>
            <a:endParaRPr/>
          </a:p>
        </p:txBody>
      </p:sp>
      <p:sp>
        <p:nvSpPr>
          <p:cNvPr id="618" name="Google Shape;618;p8"/>
          <p:cNvSpPr/>
          <p:nvPr/>
        </p:nvSpPr>
        <p:spPr>
          <a:xfrm>
            <a:off x="6720840" y="1280160"/>
            <a:ext cx="1965960" cy="2651760"/>
          </a:xfrm>
          <a:prstGeom prst="roundRect">
            <a:avLst>
              <a:gd fmla="val 3500" name="adj"/>
            </a:avLst>
          </a:prstGeom>
          <a:solidFill>
            <a:srgbClr val="F7EEEE"/>
          </a:solidFill>
          <a:ln cap="flat" cmpd="sng" w="9525">
            <a:solidFill>
              <a:srgbClr val="E6D2D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19" name="Google Shape;619;p8"/>
          <p:cNvSpPr txBox="1"/>
          <p:nvPr/>
        </p:nvSpPr>
        <p:spPr>
          <a:xfrm>
            <a:off x="6876288" y="1371600"/>
            <a:ext cx="1655063" cy="2468879"/>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1300" u="none" cap="none" strike="noStrike">
                <a:solidFill>
                  <a:srgbClr val="500000"/>
                </a:solidFill>
                <a:latin typeface="Arial"/>
                <a:ea typeface="Arial"/>
                <a:cs typeface="Arial"/>
                <a:sym typeface="Arial"/>
              </a:rPr>
              <a:t>Expected output</a:t>
            </a:r>
            <a:endParaRPr/>
          </a:p>
          <a:p>
            <a:pPr indent="0" lvl="0" marL="0" marR="0" rtl="0" algn="l">
              <a:lnSpc>
                <a:spcPct val="100000"/>
              </a:lnSpc>
              <a:spcBef>
                <a:spcPts val="300"/>
              </a:spcBef>
              <a:spcAft>
                <a:spcPts val="0"/>
              </a:spcAft>
              <a:buNone/>
            </a:pPr>
            <a:r>
              <a:rPr b="0" i="0" lang="en-US" sz="1000" u="none" cap="none" strike="noStrike">
                <a:solidFill>
                  <a:srgbClr val="2B2B2B"/>
                </a:solidFill>
                <a:latin typeface="Consolas"/>
                <a:ea typeface="Consolas"/>
                <a:cs typeface="Consolas"/>
                <a:sym typeface="Consolas"/>
              </a:rPr>
              <a:t>step  median</a:t>
            </a:r>
            <a:endParaRPr/>
          </a:p>
          <a:p>
            <a:pPr indent="0" lvl="0" marL="0" marR="0" rtl="0" algn="l">
              <a:lnSpc>
                <a:spcPct val="100000"/>
              </a:lnSpc>
              <a:spcBef>
                <a:spcPts val="300"/>
              </a:spcBef>
              <a:spcAft>
                <a:spcPts val="0"/>
              </a:spcAft>
              <a:buNone/>
            </a:pPr>
            <a:r>
              <a:rPr b="0" i="0" lang="en-US" sz="1000" u="none" cap="none" strike="noStrike">
                <a:solidFill>
                  <a:srgbClr val="2B2B2B"/>
                </a:solidFill>
                <a:latin typeface="Consolas"/>
                <a:ea typeface="Consolas"/>
                <a:cs typeface="Consolas"/>
                <a:sym typeface="Consolas"/>
              </a:rPr>
              <a:t>0     31.00</a:t>
            </a:r>
            <a:endParaRPr/>
          </a:p>
          <a:p>
            <a:pPr indent="0" lvl="0" marL="0" marR="0" rtl="0" algn="l">
              <a:lnSpc>
                <a:spcPct val="100000"/>
              </a:lnSpc>
              <a:spcBef>
                <a:spcPts val="300"/>
              </a:spcBef>
              <a:spcAft>
                <a:spcPts val="0"/>
              </a:spcAft>
              <a:buNone/>
            </a:pPr>
            <a:r>
              <a:rPr b="0" i="0" lang="en-US" sz="1000" u="none" cap="none" strike="noStrike">
                <a:solidFill>
                  <a:srgbClr val="2B2B2B"/>
                </a:solidFill>
                <a:latin typeface="Consolas"/>
                <a:ea typeface="Consolas"/>
                <a:cs typeface="Consolas"/>
                <a:sym typeface="Consolas"/>
              </a:rPr>
              <a:t>1     25.50</a:t>
            </a:r>
            <a:endParaRPr/>
          </a:p>
          <a:p>
            <a:pPr indent="0" lvl="0" marL="0" marR="0" rtl="0" algn="l">
              <a:lnSpc>
                <a:spcPct val="100000"/>
              </a:lnSpc>
              <a:spcBef>
                <a:spcPts val="300"/>
              </a:spcBef>
              <a:spcAft>
                <a:spcPts val="0"/>
              </a:spcAft>
              <a:buNone/>
            </a:pPr>
            <a:r>
              <a:rPr b="0" i="0" lang="en-US" sz="1000" u="none" cap="none" strike="noStrike">
                <a:solidFill>
                  <a:srgbClr val="2B2B2B"/>
                </a:solidFill>
                <a:latin typeface="Consolas"/>
                <a:ea typeface="Consolas"/>
                <a:cs typeface="Consolas"/>
                <a:sym typeface="Consolas"/>
              </a:rPr>
              <a:t>2     22.75</a:t>
            </a:r>
            <a:endParaRPr/>
          </a:p>
          <a:p>
            <a:pPr indent="0" lvl="0" marL="0" marR="0" rtl="0" algn="l">
              <a:lnSpc>
                <a:spcPct val="100000"/>
              </a:lnSpc>
              <a:spcBef>
                <a:spcPts val="300"/>
              </a:spcBef>
              <a:spcAft>
                <a:spcPts val="0"/>
              </a:spcAft>
              <a:buNone/>
            </a:pPr>
            <a:r>
              <a:rPr b="1" i="0" lang="en-US" sz="1000" u="none" cap="none" strike="noStrike">
                <a:solidFill>
                  <a:srgbClr val="2B2B2B"/>
                </a:solidFill>
                <a:latin typeface="Arial"/>
                <a:ea typeface="Arial"/>
                <a:cs typeface="Arial"/>
                <a:sym typeface="Arial"/>
              </a:rPr>
              <a:t>Hint: </a:t>
            </a:r>
            <a:r>
              <a:rPr b="0" i="0" lang="en-US" sz="1000" u="none" cap="none" strike="noStrike">
                <a:solidFill>
                  <a:srgbClr val="2B2B2B"/>
                </a:solidFill>
                <a:latin typeface="Arial"/>
                <a:ea typeface="Arial"/>
                <a:cs typeface="Arial"/>
                <a:sym typeface="Arial"/>
              </a:rPr>
              <a:t>remember the two words you added last time.</a:t>
            </a:r>
            <a:endParaRPr/>
          </a:p>
        </p:txBody>
      </p:sp>
      <p:sp>
        <p:nvSpPr>
          <p:cNvPr id="620" name="Google Shape;620;p8"/>
          <p:cNvSpPr txBox="1"/>
          <p:nvPr/>
        </p:nvSpPr>
        <p:spPr>
          <a:xfrm>
            <a:off x="457200" y="3017520"/>
            <a:ext cx="6035040" cy="91440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1200" u="none" cap="none" strike="noStrike">
                <a:solidFill>
                  <a:srgbClr val="2B2B2B"/>
                </a:solidFill>
                <a:latin typeface="Arial"/>
                <a:ea typeface="Arial"/>
                <a:cs typeface="Arial"/>
                <a:sym typeface="Arial"/>
              </a:rPr>
              <a:t>Context: </a:t>
            </a:r>
            <a:r>
              <a:rPr b="0" i="0" lang="en-US" sz="1200" u="none" cap="none" strike="noStrike">
                <a:solidFill>
                  <a:srgbClr val="2B2B2B"/>
                </a:solidFill>
                <a:latin typeface="Arial"/>
                <a:ea typeface="Arial"/>
                <a:cs typeface="Arial"/>
                <a:sym typeface="Arial"/>
              </a:rPr>
              <a:t>main() runs the cooling simulation for 3 steps with </a:t>
            </a:r>
            <a:r>
              <a:rPr b="1" i="0" lang="en-US" sz="1100" u="none" cap="none" strike="noStrike">
                <a:solidFill>
                  <a:srgbClr val="500000"/>
                </a:solidFill>
                <a:latin typeface="Consolas"/>
                <a:ea typeface="Consolas"/>
                <a:cs typeface="Consolas"/>
                <a:sym typeface="Consolas"/>
              </a:rPr>
              <a:t>thrust::transform</a:t>
            </a:r>
            <a:r>
              <a:rPr b="0" i="0" lang="en-US" sz="1200" u="none" cap="none" strike="noStrike">
                <a:solidFill>
                  <a:srgbClr val="2B2B2B"/>
                </a:solidFill>
                <a:latin typeface="Arial"/>
                <a:ea typeface="Arial"/>
                <a:cs typeface="Arial"/>
                <a:sym typeface="Arial"/>
              </a:rPr>
              <a:t> and prints the median temperature after each step.</a:t>
            </a:r>
            <a:endParaRPr/>
          </a:p>
        </p:txBody>
      </p:sp>
      <p:sp>
        <p:nvSpPr>
          <p:cNvPr id="621" name="Google Shape;621;p8"/>
          <p:cNvSpPr txBox="1"/>
          <p:nvPr/>
        </p:nvSpPr>
        <p:spPr>
          <a:xfrm>
            <a:off x="457200" y="4526280"/>
            <a:ext cx="8229600" cy="27432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1000" u="none" cap="none" strike="noStrike">
                <a:solidFill>
                  <a:srgbClr val="6E6E6E"/>
                </a:solidFill>
                <a:latin typeface="Arial"/>
                <a:ea typeface="Arial"/>
                <a:cs typeface="Arial"/>
                <a:sym typeface="Arial"/>
              </a:rPr>
              <a:t>File: </a:t>
            </a:r>
            <a:r>
              <a:rPr b="0" i="0" lang="en-US" sz="1000" u="none" cap="none" strike="noStrike">
                <a:solidFill>
                  <a:srgbClr val="6E6E6E"/>
                </a:solidFill>
                <a:latin typeface="Consolas"/>
                <a:ea typeface="Consolas"/>
                <a:cs typeface="Consolas"/>
                <a:sym typeface="Consolas"/>
              </a:rPr>
              <a:t>02-extending/ex4_median_problem.cu</a:t>
            </a:r>
            <a:endParaRPr/>
          </a:p>
        </p:txBody>
      </p:sp>
      <p:sp>
        <p:nvSpPr>
          <p:cNvPr id="622" name="Google Shape;622;p8"/>
          <p:cNvSpPr/>
          <p:nvPr/>
        </p:nvSpPr>
        <p:spPr>
          <a:xfrm>
            <a:off x="636879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8"/>
          <p:cNvSpPr/>
          <p:nvPr/>
        </p:nvSpPr>
        <p:spPr>
          <a:xfrm>
            <a:off x="644194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8"/>
          <p:cNvSpPr/>
          <p:nvPr/>
        </p:nvSpPr>
        <p:spPr>
          <a:xfrm>
            <a:off x="6515100"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8"/>
          <p:cNvSpPr/>
          <p:nvPr/>
        </p:nvSpPr>
        <p:spPr>
          <a:xfrm>
            <a:off x="6588252"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8"/>
          <p:cNvSpPr/>
          <p:nvPr/>
        </p:nvSpPr>
        <p:spPr>
          <a:xfrm>
            <a:off x="6661404"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8"/>
          <p:cNvSpPr/>
          <p:nvPr/>
        </p:nvSpPr>
        <p:spPr>
          <a:xfrm>
            <a:off x="673455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8"/>
          <p:cNvSpPr/>
          <p:nvPr/>
        </p:nvSpPr>
        <p:spPr>
          <a:xfrm>
            <a:off x="680770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8"/>
          <p:cNvSpPr/>
          <p:nvPr/>
        </p:nvSpPr>
        <p:spPr>
          <a:xfrm>
            <a:off x="6880860"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8"/>
          <p:cNvSpPr/>
          <p:nvPr/>
        </p:nvSpPr>
        <p:spPr>
          <a:xfrm>
            <a:off x="6954012"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8"/>
          <p:cNvSpPr/>
          <p:nvPr/>
        </p:nvSpPr>
        <p:spPr>
          <a:xfrm>
            <a:off x="7027164"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8"/>
          <p:cNvSpPr/>
          <p:nvPr/>
        </p:nvSpPr>
        <p:spPr>
          <a:xfrm>
            <a:off x="7100316" y="4901184"/>
            <a:ext cx="50292" cy="50292"/>
          </a:xfrm>
          <a:prstGeom prst="rect">
            <a:avLst/>
          </a:prstGeom>
          <a:solidFill>
            <a:srgbClr val="5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8"/>
          <p:cNvSpPr/>
          <p:nvPr/>
        </p:nvSpPr>
        <p:spPr>
          <a:xfrm>
            <a:off x="717346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8"/>
          <p:cNvSpPr/>
          <p:nvPr/>
        </p:nvSpPr>
        <p:spPr>
          <a:xfrm>
            <a:off x="7246620"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8"/>
          <p:cNvSpPr/>
          <p:nvPr/>
        </p:nvSpPr>
        <p:spPr>
          <a:xfrm>
            <a:off x="731977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8"/>
          <p:cNvSpPr/>
          <p:nvPr/>
        </p:nvSpPr>
        <p:spPr>
          <a:xfrm>
            <a:off x="739292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8"/>
          <p:cNvSpPr/>
          <p:nvPr/>
        </p:nvSpPr>
        <p:spPr>
          <a:xfrm>
            <a:off x="746607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8"/>
          <p:cNvSpPr/>
          <p:nvPr/>
        </p:nvSpPr>
        <p:spPr>
          <a:xfrm>
            <a:off x="753922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8"/>
          <p:cNvSpPr/>
          <p:nvPr/>
        </p:nvSpPr>
        <p:spPr>
          <a:xfrm>
            <a:off x="7612380"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8"/>
          <p:cNvSpPr/>
          <p:nvPr/>
        </p:nvSpPr>
        <p:spPr>
          <a:xfrm>
            <a:off x="768553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8"/>
          <p:cNvSpPr/>
          <p:nvPr/>
        </p:nvSpPr>
        <p:spPr>
          <a:xfrm>
            <a:off x="775868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8"/>
          <p:cNvSpPr/>
          <p:nvPr/>
        </p:nvSpPr>
        <p:spPr>
          <a:xfrm>
            <a:off x="783183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8"/>
          <p:cNvSpPr/>
          <p:nvPr/>
        </p:nvSpPr>
        <p:spPr>
          <a:xfrm>
            <a:off x="790498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8"/>
          <p:cNvSpPr/>
          <p:nvPr/>
        </p:nvSpPr>
        <p:spPr>
          <a:xfrm>
            <a:off x="7978140"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8"/>
          <p:cNvSpPr/>
          <p:nvPr/>
        </p:nvSpPr>
        <p:spPr>
          <a:xfrm>
            <a:off x="805129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8"/>
          <p:cNvSpPr/>
          <p:nvPr/>
        </p:nvSpPr>
        <p:spPr>
          <a:xfrm>
            <a:off x="812444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8"/>
          <p:cNvSpPr/>
          <p:nvPr/>
        </p:nvSpPr>
        <p:spPr>
          <a:xfrm>
            <a:off x="819759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8"/>
          <p:cNvSpPr/>
          <p:nvPr/>
        </p:nvSpPr>
        <p:spPr>
          <a:xfrm>
            <a:off x="827074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8"/>
          <p:cNvSpPr/>
          <p:nvPr/>
        </p:nvSpPr>
        <p:spPr>
          <a:xfrm>
            <a:off x="8343900"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8"/>
          <p:cNvSpPr/>
          <p:nvPr/>
        </p:nvSpPr>
        <p:spPr>
          <a:xfrm>
            <a:off x="841705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8"/>
          <p:cNvSpPr/>
          <p:nvPr/>
        </p:nvSpPr>
        <p:spPr>
          <a:xfrm>
            <a:off x="849020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8"/>
          <p:cNvSpPr/>
          <p:nvPr/>
        </p:nvSpPr>
        <p:spPr>
          <a:xfrm>
            <a:off x="856335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8"/>
          <p:cNvSpPr/>
          <p:nvPr/>
        </p:nvSpPr>
        <p:spPr>
          <a:xfrm>
            <a:off x="863650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8"/>
          <p:cNvSpPr txBox="1"/>
          <p:nvPr/>
        </p:nvSpPr>
        <p:spPr>
          <a:xfrm>
            <a:off x="5472684" y="4846320"/>
            <a:ext cx="822960" cy="15544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00" u="none" cap="none" strike="noStrike">
                <a:solidFill>
                  <a:srgbClr val="9A9AA0"/>
                </a:solidFill>
                <a:latin typeface="Consolas"/>
                <a:ea typeface="Consolas"/>
                <a:cs typeface="Consolas"/>
                <a:sym typeface="Consolas"/>
              </a:rPr>
              <a:t>slide[10]</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9" name="Shape 659"/>
        <p:cNvGrpSpPr/>
        <p:nvPr/>
      </p:nvGrpSpPr>
      <p:grpSpPr>
        <a:xfrm>
          <a:off x="0" y="0"/>
          <a:ext cx="0" cy="0"/>
          <a:chOff x="0" y="0"/>
          <a:chExt cx="0" cy="0"/>
        </a:xfrm>
      </p:grpSpPr>
      <p:sp>
        <p:nvSpPr>
          <p:cNvPr id="660" name="Google Shape;660;p9"/>
          <p:cNvSpPr txBox="1"/>
          <p:nvPr/>
        </p:nvSpPr>
        <p:spPr>
          <a:xfrm>
            <a:off x="457200" y="320040"/>
            <a:ext cx="8229600" cy="54864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2800" u="none" cap="none" strike="noStrike">
                <a:solidFill>
                  <a:srgbClr val="500000"/>
                </a:solidFill>
                <a:latin typeface="Arial"/>
                <a:ea typeface="Arial"/>
                <a:cs typeface="Arial"/>
                <a:sym typeface="Arial"/>
              </a:rPr>
              <a:t>Exercise 4: solution</a:t>
            </a:r>
            <a:endParaRPr/>
          </a:p>
        </p:txBody>
      </p:sp>
      <p:sp>
        <p:nvSpPr>
          <p:cNvPr id="661" name="Google Shape;661;p9"/>
          <p:cNvSpPr txBox="1"/>
          <p:nvPr/>
        </p:nvSpPr>
        <p:spPr>
          <a:xfrm>
            <a:off x="457200" y="896112"/>
            <a:ext cx="3931920" cy="27432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1200" u="none" cap="none" strike="noStrike">
                <a:solidFill>
                  <a:srgbClr val="500000"/>
                </a:solidFill>
                <a:latin typeface="Arial"/>
                <a:ea typeface="Arial"/>
                <a:cs typeface="Arial"/>
                <a:sym typeface="Arial"/>
              </a:rPr>
              <a:t>Before: CPU</a:t>
            </a:r>
            <a:endParaRPr/>
          </a:p>
        </p:txBody>
      </p:sp>
      <p:sp>
        <p:nvSpPr>
          <p:cNvPr id="662" name="Google Shape;662;p9"/>
          <p:cNvSpPr/>
          <p:nvPr/>
        </p:nvSpPr>
        <p:spPr>
          <a:xfrm>
            <a:off x="457200" y="1188720"/>
            <a:ext cx="8229600" cy="548640"/>
          </a:xfrm>
          <a:prstGeom prst="roundRect">
            <a:avLst>
              <a:gd fmla="val 3500" name="adj"/>
            </a:avLst>
          </a:prstGeom>
          <a:solidFill>
            <a:srgbClr val="1B1B1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63" name="Google Shape;663;p9"/>
          <p:cNvSpPr txBox="1"/>
          <p:nvPr/>
        </p:nvSpPr>
        <p:spPr>
          <a:xfrm>
            <a:off x="594360" y="1280160"/>
            <a:ext cx="7955279" cy="365759"/>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0" i="0" lang="en-US" sz="1200" u="none" cap="none" strike="noStrike">
                <a:solidFill>
                  <a:srgbClr val="9CDCFE"/>
                </a:solidFill>
                <a:latin typeface="Consolas"/>
                <a:ea typeface="Consolas"/>
                <a:cs typeface="Consolas"/>
                <a:sym typeface="Consolas"/>
              </a:rPr>
              <a:t>std::sort(vec.begin(), vec.end());</a:t>
            </a:r>
            <a:endParaRPr/>
          </a:p>
        </p:txBody>
      </p:sp>
      <p:sp>
        <p:nvSpPr>
          <p:cNvPr id="664" name="Google Shape;664;p9"/>
          <p:cNvSpPr txBox="1"/>
          <p:nvPr/>
        </p:nvSpPr>
        <p:spPr>
          <a:xfrm>
            <a:off x="457200" y="1828800"/>
            <a:ext cx="3931920" cy="27432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1200" u="none" cap="none" strike="noStrike">
                <a:solidFill>
                  <a:srgbClr val="4E7A00"/>
                </a:solidFill>
                <a:latin typeface="Arial"/>
                <a:ea typeface="Arial"/>
                <a:cs typeface="Arial"/>
                <a:sym typeface="Arial"/>
              </a:rPr>
              <a:t>After: GPU</a:t>
            </a:r>
            <a:endParaRPr/>
          </a:p>
        </p:txBody>
      </p:sp>
      <p:sp>
        <p:nvSpPr>
          <p:cNvPr id="665" name="Google Shape;665;p9"/>
          <p:cNvSpPr/>
          <p:nvPr/>
        </p:nvSpPr>
        <p:spPr>
          <a:xfrm>
            <a:off x="457200" y="2121408"/>
            <a:ext cx="8229600" cy="548640"/>
          </a:xfrm>
          <a:prstGeom prst="roundRect">
            <a:avLst>
              <a:gd fmla="val 3500" name="adj"/>
            </a:avLst>
          </a:prstGeom>
          <a:solidFill>
            <a:srgbClr val="1B1B1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66" name="Google Shape;666;p9"/>
          <p:cNvSpPr txBox="1"/>
          <p:nvPr/>
        </p:nvSpPr>
        <p:spPr>
          <a:xfrm>
            <a:off x="594360" y="2212848"/>
            <a:ext cx="7955279" cy="365759"/>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1200" u="none" cap="none" strike="noStrike">
                <a:solidFill>
                  <a:srgbClr val="76B900"/>
                </a:solidFill>
                <a:latin typeface="Consolas"/>
                <a:ea typeface="Consolas"/>
                <a:cs typeface="Consolas"/>
                <a:sym typeface="Consolas"/>
              </a:rPr>
              <a:t>thrust::sort(thrust::device, vec.begin(), vec.end());</a:t>
            </a:r>
            <a:endParaRPr/>
          </a:p>
        </p:txBody>
      </p:sp>
      <p:sp>
        <p:nvSpPr>
          <p:cNvPr id="667" name="Google Shape;667;p9"/>
          <p:cNvSpPr/>
          <p:nvPr/>
        </p:nvSpPr>
        <p:spPr>
          <a:xfrm>
            <a:off x="457200" y="2880360"/>
            <a:ext cx="4023360" cy="1051560"/>
          </a:xfrm>
          <a:prstGeom prst="roundRect">
            <a:avLst>
              <a:gd fmla="val 3500" name="adj"/>
            </a:avLst>
          </a:prstGeom>
          <a:solidFill>
            <a:srgbClr val="F2F8E8"/>
          </a:solidFill>
          <a:ln cap="flat" cmpd="sng" w="9525">
            <a:solidFill>
              <a:srgbClr val="D8E8B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68" name="Google Shape;668;p9"/>
          <p:cNvSpPr txBox="1"/>
          <p:nvPr/>
        </p:nvSpPr>
        <p:spPr>
          <a:xfrm>
            <a:off x="612648" y="2971800"/>
            <a:ext cx="3712464" cy="86868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1300" u="none" cap="none" strike="noStrike">
                <a:solidFill>
                  <a:srgbClr val="4E7A00"/>
                </a:solidFill>
                <a:latin typeface="Arial"/>
                <a:ea typeface="Arial"/>
                <a:cs typeface="Arial"/>
                <a:sym typeface="Arial"/>
              </a:rPr>
              <a:t>std::  →  thrust::</a:t>
            </a:r>
            <a:endParaRPr/>
          </a:p>
          <a:p>
            <a:pPr indent="0" lvl="0" marL="0" marR="0" rtl="0" algn="l">
              <a:lnSpc>
                <a:spcPct val="100000"/>
              </a:lnSpc>
              <a:spcBef>
                <a:spcPts val="300"/>
              </a:spcBef>
              <a:spcAft>
                <a:spcPts val="0"/>
              </a:spcAft>
              <a:buNone/>
            </a:pPr>
            <a:r>
              <a:rPr b="0" i="0" lang="en-US" sz="1100" u="none" cap="none" strike="noStrike">
                <a:solidFill>
                  <a:srgbClr val="2B2B2B"/>
                </a:solidFill>
                <a:latin typeface="Arial"/>
                <a:ea typeface="Arial"/>
                <a:cs typeface="Arial"/>
                <a:sym typeface="Arial"/>
              </a:rPr>
              <a:t>Thrust has GPU versions of the standard algorithms: sort, reduce, transform, copy, count, find…</a:t>
            </a:r>
            <a:endParaRPr/>
          </a:p>
        </p:txBody>
      </p:sp>
      <p:sp>
        <p:nvSpPr>
          <p:cNvPr id="669" name="Google Shape;669;p9"/>
          <p:cNvSpPr/>
          <p:nvPr/>
        </p:nvSpPr>
        <p:spPr>
          <a:xfrm>
            <a:off x="4663440" y="2880360"/>
            <a:ext cx="4023360" cy="1051560"/>
          </a:xfrm>
          <a:prstGeom prst="roundRect">
            <a:avLst>
              <a:gd fmla="val 3500" name="adj"/>
            </a:avLst>
          </a:prstGeom>
          <a:solidFill>
            <a:srgbClr val="F7EEEE"/>
          </a:solidFill>
          <a:ln cap="flat" cmpd="sng" w="9525">
            <a:solidFill>
              <a:srgbClr val="E6D2D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70" name="Google Shape;670;p9"/>
          <p:cNvSpPr txBox="1"/>
          <p:nvPr/>
        </p:nvSpPr>
        <p:spPr>
          <a:xfrm>
            <a:off x="4818888" y="2971800"/>
            <a:ext cx="3712464" cy="86868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1300" u="none" cap="none" strike="noStrike">
                <a:solidFill>
                  <a:srgbClr val="500000"/>
                </a:solidFill>
                <a:latin typeface="Arial"/>
                <a:ea typeface="Arial"/>
                <a:cs typeface="Arial"/>
                <a:sym typeface="Arial"/>
              </a:rPr>
              <a:t>+ thrust::device</a:t>
            </a:r>
            <a:endParaRPr/>
          </a:p>
          <a:p>
            <a:pPr indent="0" lvl="0" marL="0" marR="0" rtl="0" algn="l">
              <a:lnSpc>
                <a:spcPct val="100000"/>
              </a:lnSpc>
              <a:spcBef>
                <a:spcPts val="300"/>
              </a:spcBef>
              <a:spcAft>
                <a:spcPts val="0"/>
              </a:spcAft>
              <a:buNone/>
            </a:pPr>
            <a:r>
              <a:rPr b="0" i="0" lang="en-US" sz="1100" u="none" cap="none" strike="noStrike">
                <a:solidFill>
                  <a:srgbClr val="2B2B2B"/>
                </a:solidFill>
                <a:latin typeface="Arial"/>
                <a:ea typeface="Arial"/>
                <a:cs typeface="Arial"/>
                <a:sym typeface="Arial"/>
              </a:rPr>
              <a:t>Without the policy, Thrust picks based on the iterators. Being explicit makes the code easy to read.</a:t>
            </a:r>
            <a:endParaRPr/>
          </a:p>
        </p:txBody>
      </p:sp>
      <p:sp>
        <p:nvSpPr>
          <p:cNvPr id="671" name="Google Shape;671;p9"/>
          <p:cNvSpPr/>
          <p:nvPr/>
        </p:nvSpPr>
        <p:spPr>
          <a:xfrm>
            <a:off x="457200" y="4114800"/>
            <a:ext cx="8229600" cy="457200"/>
          </a:xfrm>
          <a:prstGeom prst="roundRect">
            <a:avLst>
              <a:gd fmla="val 3500" name="adj"/>
            </a:avLst>
          </a:prstGeom>
          <a:solidFill>
            <a:srgbClr val="1B1B1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72" name="Google Shape;672;p9"/>
          <p:cNvSpPr txBox="1"/>
          <p:nvPr/>
        </p:nvSpPr>
        <p:spPr>
          <a:xfrm>
            <a:off x="621792" y="4114800"/>
            <a:ext cx="7955279" cy="457200"/>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Porting a standard algorithm is often just this. But what if the algorithm you need isn't in the library?</a:t>
            </a:r>
            <a:endParaRPr/>
          </a:p>
        </p:txBody>
      </p:sp>
      <p:sp>
        <p:nvSpPr>
          <p:cNvPr id="673" name="Google Shape;673;p9"/>
          <p:cNvSpPr/>
          <p:nvPr/>
        </p:nvSpPr>
        <p:spPr>
          <a:xfrm>
            <a:off x="636879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9"/>
          <p:cNvSpPr/>
          <p:nvPr/>
        </p:nvSpPr>
        <p:spPr>
          <a:xfrm>
            <a:off x="644194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9"/>
          <p:cNvSpPr/>
          <p:nvPr/>
        </p:nvSpPr>
        <p:spPr>
          <a:xfrm>
            <a:off x="6515100"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9"/>
          <p:cNvSpPr/>
          <p:nvPr/>
        </p:nvSpPr>
        <p:spPr>
          <a:xfrm>
            <a:off x="6588252"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9"/>
          <p:cNvSpPr/>
          <p:nvPr/>
        </p:nvSpPr>
        <p:spPr>
          <a:xfrm>
            <a:off x="6661404"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9"/>
          <p:cNvSpPr/>
          <p:nvPr/>
        </p:nvSpPr>
        <p:spPr>
          <a:xfrm>
            <a:off x="673455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9"/>
          <p:cNvSpPr/>
          <p:nvPr/>
        </p:nvSpPr>
        <p:spPr>
          <a:xfrm>
            <a:off x="680770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9"/>
          <p:cNvSpPr/>
          <p:nvPr/>
        </p:nvSpPr>
        <p:spPr>
          <a:xfrm>
            <a:off x="6880860"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9"/>
          <p:cNvSpPr/>
          <p:nvPr/>
        </p:nvSpPr>
        <p:spPr>
          <a:xfrm>
            <a:off x="6954012"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9"/>
          <p:cNvSpPr/>
          <p:nvPr/>
        </p:nvSpPr>
        <p:spPr>
          <a:xfrm>
            <a:off x="7027164"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9"/>
          <p:cNvSpPr/>
          <p:nvPr/>
        </p:nvSpPr>
        <p:spPr>
          <a:xfrm>
            <a:off x="710031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9"/>
          <p:cNvSpPr/>
          <p:nvPr/>
        </p:nvSpPr>
        <p:spPr>
          <a:xfrm>
            <a:off x="7173468" y="4901184"/>
            <a:ext cx="50292" cy="50292"/>
          </a:xfrm>
          <a:prstGeom prst="rect">
            <a:avLst/>
          </a:prstGeom>
          <a:solidFill>
            <a:srgbClr val="5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9"/>
          <p:cNvSpPr/>
          <p:nvPr/>
        </p:nvSpPr>
        <p:spPr>
          <a:xfrm>
            <a:off x="7246620"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9"/>
          <p:cNvSpPr/>
          <p:nvPr/>
        </p:nvSpPr>
        <p:spPr>
          <a:xfrm>
            <a:off x="731977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9"/>
          <p:cNvSpPr/>
          <p:nvPr/>
        </p:nvSpPr>
        <p:spPr>
          <a:xfrm>
            <a:off x="739292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9"/>
          <p:cNvSpPr/>
          <p:nvPr/>
        </p:nvSpPr>
        <p:spPr>
          <a:xfrm>
            <a:off x="746607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9"/>
          <p:cNvSpPr/>
          <p:nvPr/>
        </p:nvSpPr>
        <p:spPr>
          <a:xfrm>
            <a:off x="753922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9"/>
          <p:cNvSpPr/>
          <p:nvPr/>
        </p:nvSpPr>
        <p:spPr>
          <a:xfrm>
            <a:off x="7612380"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9"/>
          <p:cNvSpPr/>
          <p:nvPr/>
        </p:nvSpPr>
        <p:spPr>
          <a:xfrm>
            <a:off x="768553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9"/>
          <p:cNvSpPr/>
          <p:nvPr/>
        </p:nvSpPr>
        <p:spPr>
          <a:xfrm>
            <a:off x="775868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9"/>
          <p:cNvSpPr/>
          <p:nvPr/>
        </p:nvSpPr>
        <p:spPr>
          <a:xfrm>
            <a:off x="783183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9"/>
          <p:cNvSpPr/>
          <p:nvPr/>
        </p:nvSpPr>
        <p:spPr>
          <a:xfrm>
            <a:off x="790498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9"/>
          <p:cNvSpPr/>
          <p:nvPr/>
        </p:nvSpPr>
        <p:spPr>
          <a:xfrm>
            <a:off x="7978140"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9"/>
          <p:cNvSpPr/>
          <p:nvPr/>
        </p:nvSpPr>
        <p:spPr>
          <a:xfrm>
            <a:off x="805129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9"/>
          <p:cNvSpPr/>
          <p:nvPr/>
        </p:nvSpPr>
        <p:spPr>
          <a:xfrm>
            <a:off x="812444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9"/>
          <p:cNvSpPr/>
          <p:nvPr/>
        </p:nvSpPr>
        <p:spPr>
          <a:xfrm>
            <a:off x="819759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9"/>
          <p:cNvSpPr/>
          <p:nvPr/>
        </p:nvSpPr>
        <p:spPr>
          <a:xfrm>
            <a:off x="827074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9"/>
          <p:cNvSpPr/>
          <p:nvPr/>
        </p:nvSpPr>
        <p:spPr>
          <a:xfrm>
            <a:off x="8343900"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9"/>
          <p:cNvSpPr/>
          <p:nvPr/>
        </p:nvSpPr>
        <p:spPr>
          <a:xfrm>
            <a:off x="841705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9"/>
          <p:cNvSpPr/>
          <p:nvPr/>
        </p:nvSpPr>
        <p:spPr>
          <a:xfrm>
            <a:off x="849020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9"/>
          <p:cNvSpPr/>
          <p:nvPr/>
        </p:nvSpPr>
        <p:spPr>
          <a:xfrm>
            <a:off x="856335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9"/>
          <p:cNvSpPr/>
          <p:nvPr/>
        </p:nvSpPr>
        <p:spPr>
          <a:xfrm>
            <a:off x="863650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9"/>
          <p:cNvSpPr txBox="1"/>
          <p:nvPr/>
        </p:nvSpPr>
        <p:spPr>
          <a:xfrm>
            <a:off x="5472684" y="4846320"/>
            <a:ext cx="822960" cy="15544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00" u="none" cap="none" strike="noStrike">
                <a:solidFill>
                  <a:srgbClr val="9A9AA0"/>
                </a:solidFill>
                <a:latin typeface="Consolas"/>
                <a:ea typeface="Consolas"/>
                <a:cs typeface="Consolas"/>
                <a:sym typeface="Consolas"/>
              </a:rPr>
              <a:t>slide[11]</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10" name="Shape 710"/>
        <p:cNvGrpSpPr/>
        <p:nvPr/>
      </p:nvGrpSpPr>
      <p:grpSpPr>
        <a:xfrm>
          <a:off x="0" y="0"/>
          <a:ext cx="0" cy="0"/>
          <a:chOff x="0" y="0"/>
          <a:chExt cx="0" cy="0"/>
        </a:xfrm>
      </p:grpSpPr>
      <p:sp>
        <p:nvSpPr>
          <p:cNvPr id="711" name="Google Shape;711;p10"/>
          <p:cNvSpPr txBox="1"/>
          <p:nvPr/>
        </p:nvSpPr>
        <p:spPr>
          <a:xfrm>
            <a:off x="457200" y="320040"/>
            <a:ext cx="8229600" cy="54864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2800" u="none" cap="none" strike="noStrike">
                <a:solidFill>
                  <a:srgbClr val="500000"/>
                </a:solidFill>
                <a:latin typeface="Arial"/>
                <a:ea typeface="Arial"/>
                <a:cs typeface="Arial"/>
                <a:sym typeface="Arial"/>
              </a:rPr>
              <a:t>New question: how big was the change?</a:t>
            </a:r>
            <a:endParaRPr/>
          </a:p>
        </p:txBody>
      </p:sp>
      <p:sp>
        <p:nvSpPr>
          <p:cNvPr id="712" name="Google Shape;712;p10"/>
          <p:cNvSpPr txBox="1"/>
          <p:nvPr/>
        </p:nvSpPr>
        <p:spPr>
          <a:xfrm>
            <a:off x="457200" y="868680"/>
            <a:ext cx="8229600" cy="27432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0" i="0" lang="en-US" sz="1200" u="none" cap="none" strike="noStrike">
                <a:solidFill>
                  <a:srgbClr val="6E6E6E"/>
                </a:solidFill>
                <a:latin typeface="Arial"/>
                <a:ea typeface="Arial"/>
                <a:cs typeface="Arial"/>
                <a:sym typeface="Arial"/>
              </a:rPr>
              <a:t>Each step, find the biggest change between the old and new temperatures</a:t>
            </a:r>
            <a:endParaRPr/>
          </a:p>
        </p:txBody>
      </p:sp>
      <p:sp>
        <p:nvSpPr>
          <p:cNvPr id="713" name="Google Shape;713;p10"/>
          <p:cNvSpPr txBox="1"/>
          <p:nvPr/>
        </p:nvSpPr>
        <p:spPr>
          <a:xfrm>
            <a:off x="457200" y="1371600"/>
            <a:ext cx="1097280" cy="502920"/>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1" i="0" lang="en-US" sz="1300" u="none" cap="none" strike="noStrike">
                <a:solidFill>
                  <a:srgbClr val="500000"/>
                </a:solidFill>
                <a:latin typeface="Arial"/>
                <a:ea typeface="Arial"/>
                <a:cs typeface="Arial"/>
                <a:sym typeface="Arial"/>
              </a:rPr>
              <a:t>before</a:t>
            </a:r>
            <a:endParaRPr/>
          </a:p>
        </p:txBody>
      </p:sp>
      <p:sp>
        <p:nvSpPr>
          <p:cNvPr id="714" name="Google Shape;714;p10"/>
          <p:cNvSpPr/>
          <p:nvPr/>
        </p:nvSpPr>
        <p:spPr>
          <a:xfrm>
            <a:off x="1645920" y="1371600"/>
            <a:ext cx="777240" cy="502920"/>
          </a:xfrm>
          <a:prstGeom prst="roundRect">
            <a:avLst>
              <a:gd fmla="val 8000" name="adj"/>
            </a:avLst>
          </a:prstGeom>
          <a:solidFill>
            <a:srgbClr val="F7EEEE"/>
          </a:solidFill>
          <a:ln cap="flat" cmpd="sng" w="9525">
            <a:solidFill>
              <a:srgbClr val="E6D2D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15" name="Google Shape;715;p10"/>
          <p:cNvSpPr txBox="1"/>
          <p:nvPr/>
        </p:nvSpPr>
        <p:spPr>
          <a:xfrm>
            <a:off x="1645920" y="1371600"/>
            <a:ext cx="777240" cy="502920"/>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600" u="none" cap="none" strike="noStrike">
                <a:solidFill>
                  <a:srgbClr val="500000"/>
                </a:solidFill>
                <a:latin typeface="Consolas"/>
                <a:ea typeface="Consolas"/>
                <a:cs typeface="Consolas"/>
                <a:sym typeface="Consolas"/>
              </a:rPr>
              <a:t>42</a:t>
            </a:r>
            <a:endParaRPr/>
          </a:p>
        </p:txBody>
      </p:sp>
      <p:sp>
        <p:nvSpPr>
          <p:cNvPr id="716" name="Google Shape;716;p10"/>
          <p:cNvSpPr/>
          <p:nvPr/>
        </p:nvSpPr>
        <p:spPr>
          <a:xfrm>
            <a:off x="2514600" y="1371600"/>
            <a:ext cx="777240" cy="502920"/>
          </a:xfrm>
          <a:prstGeom prst="roundRect">
            <a:avLst>
              <a:gd fmla="val 8000" name="adj"/>
            </a:avLst>
          </a:prstGeom>
          <a:solidFill>
            <a:srgbClr val="F7EEEE"/>
          </a:solidFill>
          <a:ln cap="flat" cmpd="sng" w="9525">
            <a:solidFill>
              <a:srgbClr val="E6D2D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17" name="Google Shape;717;p10"/>
          <p:cNvSpPr txBox="1"/>
          <p:nvPr/>
        </p:nvSpPr>
        <p:spPr>
          <a:xfrm>
            <a:off x="2514600" y="1371600"/>
            <a:ext cx="777240" cy="502920"/>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600" u="none" cap="none" strike="noStrike">
                <a:solidFill>
                  <a:srgbClr val="500000"/>
                </a:solidFill>
                <a:latin typeface="Consolas"/>
                <a:ea typeface="Consolas"/>
                <a:cs typeface="Consolas"/>
                <a:sym typeface="Consolas"/>
              </a:rPr>
              <a:t>24</a:t>
            </a:r>
            <a:endParaRPr/>
          </a:p>
        </p:txBody>
      </p:sp>
      <p:sp>
        <p:nvSpPr>
          <p:cNvPr id="718" name="Google Shape;718;p10"/>
          <p:cNvSpPr/>
          <p:nvPr/>
        </p:nvSpPr>
        <p:spPr>
          <a:xfrm>
            <a:off x="3383280" y="1371600"/>
            <a:ext cx="777240" cy="502920"/>
          </a:xfrm>
          <a:prstGeom prst="roundRect">
            <a:avLst>
              <a:gd fmla="val 8000" name="adj"/>
            </a:avLst>
          </a:prstGeom>
          <a:solidFill>
            <a:srgbClr val="F7EEEE"/>
          </a:solidFill>
          <a:ln cap="flat" cmpd="sng" w="9525">
            <a:solidFill>
              <a:srgbClr val="E6D2D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19" name="Google Shape;719;p10"/>
          <p:cNvSpPr txBox="1"/>
          <p:nvPr/>
        </p:nvSpPr>
        <p:spPr>
          <a:xfrm>
            <a:off x="3383280" y="1371600"/>
            <a:ext cx="777240" cy="502920"/>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600" u="none" cap="none" strike="noStrike">
                <a:solidFill>
                  <a:srgbClr val="500000"/>
                </a:solidFill>
                <a:latin typeface="Consolas"/>
                <a:ea typeface="Consolas"/>
                <a:cs typeface="Consolas"/>
                <a:sym typeface="Consolas"/>
              </a:rPr>
              <a:t>50</a:t>
            </a:r>
            <a:endParaRPr/>
          </a:p>
        </p:txBody>
      </p:sp>
      <p:sp>
        <p:nvSpPr>
          <p:cNvPr id="720" name="Google Shape;720;p10"/>
          <p:cNvSpPr txBox="1"/>
          <p:nvPr/>
        </p:nvSpPr>
        <p:spPr>
          <a:xfrm>
            <a:off x="457200" y="2029967"/>
            <a:ext cx="1097280" cy="502920"/>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1" i="0" lang="en-US" sz="1300" u="none" cap="none" strike="noStrike">
                <a:solidFill>
                  <a:srgbClr val="4E7A00"/>
                </a:solidFill>
                <a:latin typeface="Arial"/>
                <a:ea typeface="Arial"/>
                <a:cs typeface="Arial"/>
                <a:sym typeface="Arial"/>
              </a:rPr>
              <a:t>after</a:t>
            </a:r>
            <a:endParaRPr/>
          </a:p>
        </p:txBody>
      </p:sp>
      <p:sp>
        <p:nvSpPr>
          <p:cNvPr id="721" name="Google Shape;721;p10"/>
          <p:cNvSpPr/>
          <p:nvPr/>
        </p:nvSpPr>
        <p:spPr>
          <a:xfrm>
            <a:off x="1645920" y="2029967"/>
            <a:ext cx="777240" cy="502920"/>
          </a:xfrm>
          <a:prstGeom prst="roundRect">
            <a:avLst>
              <a:gd fmla="val 8000" name="adj"/>
            </a:avLst>
          </a:prstGeom>
          <a:solidFill>
            <a:srgbClr val="F2F8E8"/>
          </a:solidFill>
          <a:ln cap="flat" cmpd="sng" w="9525">
            <a:solidFill>
              <a:srgbClr val="D8E8B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22" name="Google Shape;722;p10"/>
          <p:cNvSpPr txBox="1"/>
          <p:nvPr/>
        </p:nvSpPr>
        <p:spPr>
          <a:xfrm>
            <a:off x="1645920" y="2029967"/>
            <a:ext cx="777240" cy="502920"/>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600" u="none" cap="none" strike="noStrike">
                <a:solidFill>
                  <a:srgbClr val="4E7A00"/>
                </a:solidFill>
                <a:latin typeface="Consolas"/>
                <a:ea typeface="Consolas"/>
                <a:cs typeface="Consolas"/>
                <a:sym typeface="Consolas"/>
              </a:rPr>
              <a:t>31</a:t>
            </a:r>
            <a:endParaRPr/>
          </a:p>
        </p:txBody>
      </p:sp>
      <p:sp>
        <p:nvSpPr>
          <p:cNvPr id="723" name="Google Shape;723;p10"/>
          <p:cNvSpPr/>
          <p:nvPr/>
        </p:nvSpPr>
        <p:spPr>
          <a:xfrm>
            <a:off x="2514600" y="2029967"/>
            <a:ext cx="777240" cy="502920"/>
          </a:xfrm>
          <a:prstGeom prst="roundRect">
            <a:avLst>
              <a:gd fmla="val 8000" name="adj"/>
            </a:avLst>
          </a:prstGeom>
          <a:solidFill>
            <a:srgbClr val="F2F8E8"/>
          </a:solidFill>
          <a:ln cap="flat" cmpd="sng" w="9525">
            <a:solidFill>
              <a:srgbClr val="D8E8B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24" name="Google Shape;724;p10"/>
          <p:cNvSpPr txBox="1"/>
          <p:nvPr/>
        </p:nvSpPr>
        <p:spPr>
          <a:xfrm>
            <a:off x="2514600" y="2029967"/>
            <a:ext cx="777240" cy="502920"/>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600" u="none" cap="none" strike="noStrike">
                <a:solidFill>
                  <a:srgbClr val="4E7A00"/>
                </a:solidFill>
                <a:latin typeface="Consolas"/>
                <a:ea typeface="Consolas"/>
                <a:cs typeface="Consolas"/>
                <a:sym typeface="Consolas"/>
              </a:rPr>
              <a:t>22</a:t>
            </a:r>
            <a:endParaRPr/>
          </a:p>
        </p:txBody>
      </p:sp>
      <p:sp>
        <p:nvSpPr>
          <p:cNvPr id="725" name="Google Shape;725;p10"/>
          <p:cNvSpPr/>
          <p:nvPr/>
        </p:nvSpPr>
        <p:spPr>
          <a:xfrm>
            <a:off x="3383280" y="2029967"/>
            <a:ext cx="777240" cy="502920"/>
          </a:xfrm>
          <a:prstGeom prst="roundRect">
            <a:avLst>
              <a:gd fmla="val 8000" name="adj"/>
            </a:avLst>
          </a:prstGeom>
          <a:solidFill>
            <a:srgbClr val="F2F8E8"/>
          </a:solidFill>
          <a:ln cap="flat" cmpd="sng" w="9525">
            <a:solidFill>
              <a:srgbClr val="D8E8B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26" name="Google Shape;726;p10"/>
          <p:cNvSpPr txBox="1"/>
          <p:nvPr/>
        </p:nvSpPr>
        <p:spPr>
          <a:xfrm>
            <a:off x="3383280" y="2029967"/>
            <a:ext cx="777240" cy="502920"/>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600" u="none" cap="none" strike="noStrike">
                <a:solidFill>
                  <a:srgbClr val="4E7A00"/>
                </a:solidFill>
                <a:latin typeface="Consolas"/>
                <a:ea typeface="Consolas"/>
                <a:cs typeface="Consolas"/>
                <a:sym typeface="Consolas"/>
              </a:rPr>
              <a:t>35</a:t>
            </a:r>
            <a:endParaRPr/>
          </a:p>
        </p:txBody>
      </p:sp>
      <p:sp>
        <p:nvSpPr>
          <p:cNvPr id="727" name="Google Shape;727;p10"/>
          <p:cNvSpPr txBox="1"/>
          <p:nvPr/>
        </p:nvSpPr>
        <p:spPr>
          <a:xfrm>
            <a:off x="457200" y="2688336"/>
            <a:ext cx="1097280" cy="502920"/>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1" i="0" lang="en-US" sz="1300" u="none" cap="none" strike="noStrike">
                <a:solidFill>
                  <a:srgbClr val="2B2B2B"/>
                </a:solidFill>
                <a:latin typeface="Arial"/>
                <a:ea typeface="Arial"/>
                <a:cs typeface="Arial"/>
                <a:sym typeface="Arial"/>
              </a:rPr>
              <a:t>|change|</a:t>
            </a:r>
            <a:endParaRPr/>
          </a:p>
        </p:txBody>
      </p:sp>
      <p:sp>
        <p:nvSpPr>
          <p:cNvPr id="728" name="Google Shape;728;p10"/>
          <p:cNvSpPr/>
          <p:nvPr/>
        </p:nvSpPr>
        <p:spPr>
          <a:xfrm>
            <a:off x="1645920" y="2688336"/>
            <a:ext cx="777240" cy="502920"/>
          </a:xfrm>
          <a:prstGeom prst="roundRect">
            <a:avLst>
              <a:gd fmla="val 8000" name="adj"/>
            </a:avLst>
          </a:prstGeom>
          <a:solidFill>
            <a:srgbClr val="F5F5F6"/>
          </a:solidFill>
          <a:ln cap="flat" cmpd="sng" w="9525">
            <a:solidFill>
              <a:srgbClr val="E2E2E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29" name="Google Shape;729;p10"/>
          <p:cNvSpPr txBox="1"/>
          <p:nvPr/>
        </p:nvSpPr>
        <p:spPr>
          <a:xfrm>
            <a:off x="1645920" y="2688336"/>
            <a:ext cx="777240" cy="502920"/>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600" u="none" cap="none" strike="noStrike">
                <a:solidFill>
                  <a:srgbClr val="2B2B2B"/>
                </a:solidFill>
                <a:latin typeface="Consolas"/>
                <a:ea typeface="Consolas"/>
                <a:cs typeface="Consolas"/>
                <a:sym typeface="Consolas"/>
              </a:rPr>
              <a:t>11</a:t>
            </a:r>
            <a:endParaRPr/>
          </a:p>
        </p:txBody>
      </p:sp>
      <p:sp>
        <p:nvSpPr>
          <p:cNvPr id="730" name="Google Shape;730;p10"/>
          <p:cNvSpPr/>
          <p:nvPr/>
        </p:nvSpPr>
        <p:spPr>
          <a:xfrm>
            <a:off x="2514600" y="2688336"/>
            <a:ext cx="777240" cy="502920"/>
          </a:xfrm>
          <a:prstGeom prst="roundRect">
            <a:avLst>
              <a:gd fmla="val 8000" name="adj"/>
            </a:avLst>
          </a:prstGeom>
          <a:solidFill>
            <a:srgbClr val="F5F5F6"/>
          </a:solidFill>
          <a:ln cap="flat" cmpd="sng" w="9525">
            <a:solidFill>
              <a:srgbClr val="E2E2E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31" name="Google Shape;731;p10"/>
          <p:cNvSpPr txBox="1"/>
          <p:nvPr/>
        </p:nvSpPr>
        <p:spPr>
          <a:xfrm>
            <a:off x="2514600" y="2688336"/>
            <a:ext cx="777240" cy="502920"/>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600" u="none" cap="none" strike="noStrike">
                <a:solidFill>
                  <a:srgbClr val="2B2B2B"/>
                </a:solidFill>
                <a:latin typeface="Consolas"/>
                <a:ea typeface="Consolas"/>
                <a:cs typeface="Consolas"/>
                <a:sym typeface="Consolas"/>
              </a:rPr>
              <a:t>2</a:t>
            </a:r>
            <a:endParaRPr/>
          </a:p>
        </p:txBody>
      </p:sp>
      <p:sp>
        <p:nvSpPr>
          <p:cNvPr id="732" name="Google Shape;732;p10"/>
          <p:cNvSpPr/>
          <p:nvPr/>
        </p:nvSpPr>
        <p:spPr>
          <a:xfrm>
            <a:off x="3383280" y="2688336"/>
            <a:ext cx="777240" cy="502920"/>
          </a:xfrm>
          <a:prstGeom prst="roundRect">
            <a:avLst>
              <a:gd fmla="val 8000" name="adj"/>
            </a:avLst>
          </a:prstGeom>
          <a:solidFill>
            <a:srgbClr val="5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33" name="Google Shape;733;p10"/>
          <p:cNvSpPr txBox="1"/>
          <p:nvPr/>
        </p:nvSpPr>
        <p:spPr>
          <a:xfrm>
            <a:off x="3383280" y="2688336"/>
            <a:ext cx="777240" cy="502920"/>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600" u="none" cap="none" strike="noStrike">
                <a:solidFill>
                  <a:srgbClr val="FFFFFF"/>
                </a:solidFill>
                <a:latin typeface="Consolas"/>
                <a:ea typeface="Consolas"/>
                <a:cs typeface="Consolas"/>
                <a:sym typeface="Consolas"/>
              </a:rPr>
              <a:t>15</a:t>
            </a:r>
            <a:endParaRPr/>
          </a:p>
        </p:txBody>
      </p:sp>
      <p:sp>
        <p:nvSpPr>
          <p:cNvPr id="734" name="Google Shape;734;p10"/>
          <p:cNvSpPr txBox="1"/>
          <p:nvPr/>
        </p:nvSpPr>
        <p:spPr>
          <a:xfrm>
            <a:off x="1645920" y="3383280"/>
            <a:ext cx="2560320" cy="32004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1400" u="none" cap="none" strike="noStrike">
                <a:solidFill>
                  <a:srgbClr val="500000"/>
                </a:solidFill>
                <a:latin typeface="Consolas"/>
                <a:ea typeface="Consolas"/>
                <a:cs typeface="Consolas"/>
                <a:sym typeface="Consolas"/>
              </a:rPr>
              <a:t>max = 15</a:t>
            </a:r>
            <a:endParaRPr/>
          </a:p>
        </p:txBody>
      </p:sp>
      <p:sp>
        <p:nvSpPr>
          <p:cNvPr id="735" name="Google Shape;735;p10"/>
          <p:cNvSpPr/>
          <p:nvPr/>
        </p:nvSpPr>
        <p:spPr>
          <a:xfrm>
            <a:off x="4663440" y="1371600"/>
            <a:ext cx="4023360" cy="2377440"/>
          </a:xfrm>
          <a:prstGeom prst="roundRect">
            <a:avLst>
              <a:gd fmla="val 3500" name="adj"/>
            </a:avLst>
          </a:prstGeom>
          <a:solidFill>
            <a:srgbClr val="F5F5F6"/>
          </a:solidFill>
          <a:ln cap="flat" cmpd="sng" w="9525">
            <a:solidFill>
              <a:srgbClr val="E2E2E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36" name="Google Shape;736;p10"/>
          <p:cNvSpPr txBox="1"/>
          <p:nvPr/>
        </p:nvSpPr>
        <p:spPr>
          <a:xfrm>
            <a:off x="4818888" y="1463040"/>
            <a:ext cx="3712464" cy="219456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1300" u="none" cap="none" strike="noStrike">
                <a:solidFill>
                  <a:srgbClr val="500000"/>
                </a:solidFill>
                <a:latin typeface="Arial"/>
                <a:ea typeface="Arial"/>
                <a:cs typeface="Arial"/>
                <a:sym typeface="Arial"/>
              </a:rPr>
              <a:t>There is no thrust::max_abs_difference</a:t>
            </a:r>
            <a:endParaRPr/>
          </a:p>
          <a:p>
            <a:pPr indent="0" lvl="0" marL="0" marR="0" rtl="0" algn="l">
              <a:lnSpc>
                <a:spcPct val="100000"/>
              </a:lnSpc>
              <a:spcBef>
                <a:spcPts val="300"/>
              </a:spcBef>
              <a:spcAft>
                <a:spcPts val="0"/>
              </a:spcAft>
              <a:buNone/>
            </a:pPr>
            <a:r>
              <a:rPr b="0" i="0" lang="en-US" sz="1100" u="none" cap="none" strike="noStrike">
                <a:solidFill>
                  <a:srgbClr val="2B2B2B"/>
                </a:solidFill>
                <a:latin typeface="Arial"/>
                <a:ea typeface="Arial"/>
                <a:cs typeface="Arial"/>
                <a:sym typeface="Arial"/>
              </a:rPr>
              <a:t>But we can build it from two algorithms we already know:</a:t>
            </a:r>
            <a:endParaRPr/>
          </a:p>
          <a:p>
            <a:pPr indent="0" lvl="0" marL="0" marR="0" rtl="0" algn="l">
              <a:lnSpc>
                <a:spcPct val="100000"/>
              </a:lnSpc>
              <a:spcBef>
                <a:spcPts val="300"/>
              </a:spcBef>
              <a:spcAft>
                <a:spcPts val="0"/>
              </a:spcAft>
              <a:buNone/>
            </a:pPr>
            <a:r>
              <a:rPr b="1" i="0" lang="en-US" sz="1200" u="none" cap="none" strike="noStrike">
                <a:solidFill>
                  <a:srgbClr val="2B2B2B"/>
                </a:solidFill>
                <a:latin typeface="Arial"/>
                <a:ea typeface="Arial"/>
                <a:cs typeface="Arial"/>
                <a:sym typeface="Arial"/>
              </a:rPr>
              <a:t>1. </a:t>
            </a:r>
            <a:r>
              <a:rPr b="1" i="0" lang="en-US" sz="1100" u="none" cap="none" strike="noStrike">
                <a:solidFill>
                  <a:srgbClr val="500000"/>
                </a:solidFill>
                <a:latin typeface="Consolas"/>
                <a:ea typeface="Consolas"/>
                <a:cs typeface="Consolas"/>
                <a:sym typeface="Consolas"/>
              </a:rPr>
              <a:t>transform</a:t>
            </a:r>
            <a:r>
              <a:rPr b="0" i="0" lang="en-US" sz="1200" u="none" cap="none" strike="noStrike">
                <a:solidFill>
                  <a:srgbClr val="2B2B2B"/>
                </a:solidFill>
                <a:latin typeface="Arial"/>
                <a:ea typeface="Arial"/>
                <a:cs typeface="Arial"/>
                <a:sym typeface="Arial"/>
              </a:rPr>
              <a:t>  each pair → |a − b|</a:t>
            </a:r>
            <a:endParaRPr/>
          </a:p>
          <a:p>
            <a:pPr indent="0" lvl="0" marL="0" marR="0" rtl="0" algn="l">
              <a:lnSpc>
                <a:spcPct val="100000"/>
              </a:lnSpc>
              <a:spcBef>
                <a:spcPts val="300"/>
              </a:spcBef>
              <a:spcAft>
                <a:spcPts val="0"/>
              </a:spcAft>
              <a:buNone/>
            </a:pPr>
            <a:r>
              <a:rPr b="1" i="0" lang="en-US" sz="1200" u="none" cap="none" strike="noStrike">
                <a:solidFill>
                  <a:srgbClr val="2B2B2B"/>
                </a:solidFill>
                <a:latin typeface="Arial"/>
                <a:ea typeface="Arial"/>
                <a:cs typeface="Arial"/>
                <a:sym typeface="Arial"/>
              </a:rPr>
              <a:t>2. </a:t>
            </a:r>
            <a:r>
              <a:rPr b="1" i="0" lang="en-US" sz="1100" u="none" cap="none" strike="noStrike">
                <a:solidFill>
                  <a:srgbClr val="500000"/>
                </a:solidFill>
                <a:latin typeface="Consolas"/>
                <a:ea typeface="Consolas"/>
                <a:cs typeface="Consolas"/>
                <a:sym typeface="Consolas"/>
              </a:rPr>
              <a:t>reduce</a:t>
            </a:r>
            <a:r>
              <a:rPr b="0" i="0" lang="en-US" sz="1200" u="none" cap="none" strike="noStrike">
                <a:solidFill>
                  <a:srgbClr val="2B2B2B"/>
                </a:solidFill>
                <a:latin typeface="Arial"/>
                <a:ea typeface="Arial"/>
                <a:cs typeface="Arial"/>
                <a:sym typeface="Arial"/>
              </a:rPr>
              <a:t>  with </a:t>
            </a:r>
            <a:r>
              <a:rPr b="1" i="0" lang="en-US" sz="1100" u="none" cap="none" strike="noStrike">
                <a:solidFill>
                  <a:srgbClr val="500000"/>
                </a:solidFill>
                <a:latin typeface="Consolas"/>
                <a:ea typeface="Consolas"/>
                <a:cs typeface="Consolas"/>
                <a:sym typeface="Consolas"/>
              </a:rPr>
              <a:t>thrust::maximum</a:t>
            </a:r>
            <a:r>
              <a:rPr b="0" i="0" lang="en-US" sz="1200" u="none" cap="none" strike="noStrike">
                <a:solidFill>
                  <a:srgbClr val="2B2B2B"/>
                </a:solidFill>
                <a:latin typeface="Arial"/>
                <a:ea typeface="Arial"/>
                <a:cs typeface="Arial"/>
                <a:sym typeface="Arial"/>
              </a:rPr>
              <a:t>  → biggest one</a:t>
            </a:r>
            <a:endParaRPr/>
          </a:p>
          <a:p>
            <a:pPr indent="0" lvl="0" marL="0" marR="0" rtl="0" algn="l">
              <a:lnSpc>
                <a:spcPct val="100000"/>
              </a:lnSpc>
              <a:spcBef>
                <a:spcPts val="300"/>
              </a:spcBef>
              <a:spcAft>
                <a:spcPts val="0"/>
              </a:spcAft>
              <a:buNone/>
            </a:pPr>
            <a:r>
              <a:rPr b="0" i="0" lang="en-US" sz="1100" u="none" cap="none" strike="noStrike">
                <a:solidFill>
                  <a:srgbClr val="2B2B2B"/>
                </a:solidFill>
                <a:latin typeface="Arial"/>
                <a:ea typeface="Arial"/>
                <a:cs typeface="Arial"/>
                <a:sym typeface="Arial"/>
              </a:rPr>
              <a:t>Let's write that the obvious way first.</a:t>
            </a:r>
            <a:endParaRPr/>
          </a:p>
        </p:txBody>
      </p:sp>
      <p:sp>
        <p:nvSpPr>
          <p:cNvPr id="737" name="Google Shape;737;p10"/>
          <p:cNvSpPr/>
          <p:nvPr/>
        </p:nvSpPr>
        <p:spPr>
          <a:xfrm>
            <a:off x="636879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10"/>
          <p:cNvSpPr/>
          <p:nvPr/>
        </p:nvSpPr>
        <p:spPr>
          <a:xfrm>
            <a:off x="644194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10"/>
          <p:cNvSpPr/>
          <p:nvPr/>
        </p:nvSpPr>
        <p:spPr>
          <a:xfrm>
            <a:off x="6515100"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10"/>
          <p:cNvSpPr/>
          <p:nvPr/>
        </p:nvSpPr>
        <p:spPr>
          <a:xfrm>
            <a:off x="6588252"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10"/>
          <p:cNvSpPr/>
          <p:nvPr/>
        </p:nvSpPr>
        <p:spPr>
          <a:xfrm>
            <a:off x="6661404"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10"/>
          <p:cNvSpPr/>
          <p:nvPr/>
        </p:nvSpPr>
        <p:spPr>
          <a:xfrm>
            <a:off x="673455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10"/>
          <p:cNvSpPr/>
          <p:nvPr/>
        </p:nvSpPr>
        <p:spPr>
          <a:xfrm>
            <a:off x="680770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10"/>
          <p:cNvSpPr/>
          <p:nvPr/>
        </p:nvSpPr>
        <p:spPr>
          <a:xfrm>
            <a:off x="6880860"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10"/>
          <p:cNvSpPr/>
          <p:nvPr/>
        </p:nvSpPr>
        <p:spPr>
          <a:xfrm>
            <a:off x="6954012"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10"/>
          <p:cNvSpPr/>
          <p:nvPr/>
        </p:nvSpPr>
        <p:spPr>
          <a:xfrm>
            <a:off x="7027164"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10"/>
          <p:cNvSpPr/>
          <p:nvPr/>
        </p:nvSpPr>
        <p:spPr>
          <a:xfrm>
            <a:off x="710031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10"/>
          <p:cNvSpPr/>
          <p:nvPr/>
        </p:nvSpPr>
        <p:spPr>
          <a:xfrm>
            <a:off x="717346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10"/>
          <p:cNvSpPr/>
          <p:nvPr/>
        </p:nvSpPr>
        <p:spPr>
          <a:xfrm>
            <a:off x="7246620" y="4901184"/>
            <a:ext cx="50292" cy="50292"/>
          </a:xfrm>
          <a:prstGeom prst="rect">
            <a:avLst/>
          </a:prstGeom>
          <a:solidFill>
            <a:srgbClr val="5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10"/>
          <p:cNvSpPr/>
          <p:nvPr/>
        </p:nvSpPr>
        <p:spPr>
          <a:xfrm>
            <a:off x="731977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10"/>
          <p:cNvSpPr/>
          <p:nvPr/>
        </p:nvSpPr>
        <p:spPr>
          <a:xfrm>
            <a:off x="739292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10"/>
          <p:cNvSpPr/>
          <p:nvPr/>
        </p:nvSpPr>
        <p:spPr>
          <a:xfrm>
            <a:off x="746607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10"/>
          <p:cNvSpPr/>
          <p:nvPr/>
        </p:nvSpPr>
        <p:spPr>
          <a:xfrm>
            <a:off x="753922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10"/>
          <p:cNvSpPr/>
          <p:nvPr/>
        </p:nvSpPr>
        <p:spPr>
          <a:xfrm>
            <a:off x="7612380"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10"/>
          <p:cNvSpPr/>
          <p:nvPr/>
        </p:nvSpPr>
        <p:spPr>
          <a:xfrm>
            <a:off x="768553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10"/>
          <p:cNvSpPr/>
          <p:nvPr/>
        </p:nvSpPr>
        <p:spPr>
          <a:xfrm>
            <a:off x="775868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10"/>
          <p:cNvSpPr/>
          <p:nvPr/>
        </p:nvSpPr>
        <p:spPr>
          <a:xfrm>
            <a:off x="783183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10"/>
          <p:cNvSpPr/>
          <p:nvPr/>
        </p:nvSpPr>
        <p:spPr>
          <a:xfrm>
            <a:off x="790498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10"/>
          <p:cNvSpPr/>
          <p:nvPr/>
        </p:nvSpPr>
        <p:spPr>
          <a:xfrm>
            <a:off x="7978140"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10"/>
          <p:cNvSpPr/>
          <p:nvPr/>
        </p:nvSpPr>
        <p:spPr>
          <a:xfrm>
            <a:off x="805129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10"/>
          <p:cNvSpPr/>
          <p:nvPr/>
        </p:nvSpPr>
        <p:spPr>
          <a:xfrm>
            <a:off x="812444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10"/>
          <p:cNvSpPr/>
          <p:nvPr/>
        </p:nvSpPr>
        <p:spPr>
          <a:xfrm>
            <a:off x="819759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10"/>
          <p:cNvSpPr/>
          <p:nvPr/>
        </p:nvSpPr>
        <p:spPr>
          <a:xfrm>
            <a:off x="827074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10"/>
          <p:cNvSpPr/>
          <p:nvPr/>
        </p:nvSpPr>
        <p:spPr>
          <a:xfrm>
            <a:off x="8343900"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10"/>
          <p:cNvSpPr/>
          <p:nvPr/>
        </p:nvSpPr>
        <p:spPr>
          <a:xfrm>
            <a:off x="841705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10"/>
          <p:cNvSpPr/>
          <p:nvPr/>
        </p:nvSpPr>
        <p:spPr>
          <a:xfrm>
            <a:off x="849020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10"/>
          <p:cNvSpPr/>
          <p:nvPr/>
        </p:nvSpPr>
        <p:spPr>
          <a:xfrm>
            <a:off x="856335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10"/>
          <p:cNvSpPr/>
          <p:nvPr/>
        </p:nvSpPr>
        <p:spPr>
          <a:xfrm>
            <a:off x="863650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10"/>
          <p:cNvSpPr txBox="1"/>
          <p:nvPr/>
        </p:nvSpPr>
        <p:spPr>
          <a:xfrm>
            <a:off x="5472684" y="4846320"/>
            <a:ext cx="822960" cy="15544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00" u="none" cap="none" strike="noStrike">
                <a:solidFill>
                  <a:srgbClr val="9A9AA0"/>
                </a:solidFill>
                <a:latin typeface="Consolas"/>
                <a:ea typeface="Consolas"/>
                <a:cs typeface="Consolas"/>
                <a:sym typeface="Consolas"/>
              </a:rPr>
              <a:t>slide[12]</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74" name="Shape 774"/>
        <p:cNvGrpSpPr/>
        <p:nvPr/>
      </p:nvGrpSpPr>
      <p:grpSpPr>
        <a:xfrm>
          <a:off x="0" y="0"/>
          <a:ext cx="0" cy="0"/>
          <a:chOff x="0" y="0"/>
          <a:chExt cx="0" cy="0"/>
        </a:xfrm>
      </p:grpSpPr>
      <p:sp>
        <p:nvSpPr>
          <p:cNvPr id="775" name="Google Shape;775;p11"/>
          <p:cNvSpPr txBox="1"/>
          <p:nvPr/>
        </p:nvSpPr>
        <p:spPr>
          <a:xfrm>
            <a:off x="457200" y="320040"/>
            <a:ext cx="8229600" cy="54864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2800" u="none" cap="none" strike="noStrike">
                <a:solidFill>
                  <a:srgbClr val="500000"/>
                </a:solidFill>
                <a:latin typeface="Arial"/>
                <a:ea typeface="Arial"/>
                <a:cs typeface="Arial"/>
                <a:sym typeface="Arial"/>
              </a:rPr>
              <a:t>The obvious version: transform, then reduce</a:t>
            </a:r>
            <a:endParaRPr/>
          </a:p>
        </p:txBody>
      </p:sp>
      <p:sp>
        <p:nvSpPr>
          <p:cNvPr id="776" name="Google Shape;776;p11"/>
          <p:cNvSpPr txBox="1"/>
          <p:nvPr/>
        </p:nvSpPr>
        <p:spPr>
          <a:xfrm>
            <a:off x="457200" y="868680"/>
            <a:ext cx="8229600" cy="27432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0" i="0" lang="en-US" sz="1200" u="none" cap="none" strike="noStrike">
                <a:solidFill>
                  <a:srgbClr val="6E6E6E"/>
                </a:solidFill>
                <a:latin typeface="Arial"/>
                <a:ea typeface="Arial"/>
                <a:cs typeface="Arial"/>
                <a:sym typeface="Arial"/>
              </a:rPr>
              <a:t>Correct… but it stores a whole extra vector just to throw it away</a:t>
            </a:r>
            <a:endParaRPr/>
          </a:p>
        </p:txBody>
      </p:sp>
      <p:sp>
        <p:nvSpPr>
          <p:cNvPr id="777" name="Google Shape;777;p11"/>
          <p:cNvSpPr/>
          <p:nvPr/>
        </p:nvSpPr>
        <p:spPr>
          <a:xfrm>
            <a:off x="457200" y="1234440"/>
            <a:ext cx="5760720" cy="2834640"/>
          </a:xfrm>
          <a:prstGeom prst="roundRect">
            <a:avLst>
              <a:gd fmla="val 3500" name="adj"/>
            </a:avLst>
          </a:prstGeom>
          <a:solidFill>
            <a:srgbClr val="1B1B1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78" name="Google Shape;778;p11"/>
          <p:cNvSpPr txBox="1"/>
          <p:nvPr/>
        </p:nvSpPr>
        <p:spPr>
          <a:xfrm>
            <a:off x="594360" y="1325880"/>
            <a:ext cx="5486400" cy="265176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0" i="0" lang="en-US" sz="1000" u="none" cap="none" strike="noStrike">
                <a:solidFill>
                  <a:srgbClr val="C586C0"/>
                </a:solidFill>
                <a:latin typeface="Consolas"/>
                <a:ea typeface="Consolas"/>
                <a:cs typeface="Consolas"/>
                <a:sym typeface="Consolas"/>
              </a:rPr>
              <a:t>float</a:t>
            </a:r>
            <a:r>
              <a:rPr b="0" i="0" lang="en-US" sz="1000" u="none" cap="none" strike="noStrike">
                <a:solidFill>
                  <a:srgbClr val="9CDCFE"/>
                </a:solidFill>
                <a:latin typeface="Consolas"/>
                <a:ea typeface="Consolas"/>
                <a:cs typeface="Consolas"/>
                <a:sym typeface="Consolas"/>
              </a:rPr>
              <a:t> naive_max_change(</a:t>
            </a:r>
            <a:r>
              <a:rPr b="0" i="0" lang="en-US" sz="1000" u="none" cap="none" strike="noStrike">
                <a:solidFill>
                  <a:srgbClr val="C586C0"/>
                </a:solidFill>
                <a:latin typeface="Consolas"/>
                <a:ea typeface="Consolas"/>
                <a:cs typeface="Consolas"/>
                <a:sym typeface="Consolas"/>
              </a:rPr>
              <a:t>const</a:t>
            </a:r>
            <a:r>
              <a:rPr b="0" i="0" lang="en-US" sz="1000" u="none" cap="none" strike="noStrike">
                <a:solidFill>
                  <a:srgbClr val="9CDCFE"/>
                </a:solidFill>
                <a:latin typeface="Consolas"/>
                <a:ea typeface="Consolas"/>
                <a:cs typeface="Consolas"/>
                <a:sym typeface="Consolas"/>
              </a:rPr>
              <a:t> universal_vector&lt;</a:t>
            </a:r>
            <a:r>
              <a:rPr b="0" i="0" lang="en-US" sz="1000" u="none" cap="none" strike="noStrike">
                <a:solidFill>
                  <a:srgbClr val="C586C0"/>
                </a:solidFill>
                <a:latin typeface="Consolas"/>
                <a:ea typeface="Consolas"/>
                <a:cs typeface="Consolas"/>
                <a:sym typeface="Consolas"/>
              </a:rPr>
              <a:t>float</a:t>
            </a:r>
            <a:r>
              <a:rPr b="0" i="0" lang="en-US" sz="1000" u="none" cap="none" strike="noStrike">
                <a:solidFill>
                  <a:srgbClr val="9CDCFE"/>
                </a:solidFill>
                <a:latin typeface="Consolas"/>
                <a:ea typeface="Consolas"/>
                <a:cs typeface="Consolas"/>
                <a:sym typeface="Consolas"/>
              </a:rPr>
              <a:t>&gt;&amp; a,</a:t>
            </a:r>
            <a:endParaRPr/>
          </a:p>
          <a:p>
            <a:pPr indent="0" lvl="0" marL="0" marR="0" rtl="0" algn="l">
              <a:lnSpc>
                <a:spcPct val="100000"/>
              </a:lnSpc>
              <a:spcBef>
                <a:spcPts val="0"/>
              </a:spcBef>
              <a:spcAft>
                <a:spcPts val="0"/>
              </a:spcAft>
              <a:buNone/>
            </a:pPr>
            <a:r>
              <a:rPr b="0" i="0" lang="en-US" sz="1000" u="none" cap="none" strike="noStrike">
                <a:solidFill>
                  <a:srgbClr val="9CDCFE"/>
                </a:solidFill>
                <a:latin typeface="Consolas"/>
                <a:ea typeface="Consolas"/>
                <a:cs typeface="Consolas"/>
                <a:sym typeface="Consolas"/>
              </a:rPr>
              <a:t>                       </a:t>
            </a:r>
            <a:r>
              <a:rPr b="0" i="0" lang="en-US" sz="1000" u="none" cap="none" strike="noStrike">
                <a:solidFill>
                  <a:srgbClr val="C586C0"/>
                </a:solidFill>
                <a:latin typeface="Consolas"/>
                <a:ea typeface="Consolas"/>
                <a:cs typeface="Consolas"/>
                <a:sym typeface="Consolas"/>
              </a:rPr>
              <a:t>const</a:t>
            </a:r>
            <a:r>
              <a:rPr b="0" i="0" lang="en-US" sz="1000" u="none" cap="none" strike="noStrike">
                <a:solidFill>
                  <a:srgbClr val="9CDCFE"/>
                </a:solidFill>
                <a:latin typeface="Consolas"/>
                <a:ea typeface="Consolas"/>
                <a:cs typeface="Consolas"/>
                <a:sym typeface="Consolas"/>
              </a:rPr>
              <a:t> universal_vector&lt;</a:t>
            </a:r>
            <a:r>
              <a:rPr b="0" i="0" lang="en-US" sz="1000" u="none" cap="none" strike="noStrike">
                <a:solidFill>
                  <a:srgbClr val="C586C0"/>
                </a:solidFill>
                <a:latin typeface="Consolas"/>
                <a:ea typeface="Consolas"/>
                <a:cs typeface="Consolas"/>
                <a:sym typeface="Consolas"/>
              </a:rPr>
              <a:t>float</a:t>
            </a:r>
            <a:r>
              <a:rPr b="0" i="0" lang="en-US" sz="1000" u="none" cap="none" strike="noStrike">
                <a:solidFill>
                  <a:srgbClr val="9CDCFE"/>
                </a:solidFill>
                <a:latin typeface="Consolas"/>
                <a:ea typeface="Consolas"/>
                <a:cs typeface="Consolas"/>
                <a:sym typeface="Consolas"/>
              </a:rPr>
              <a:t>&gt;&amp; b)</a:t>
            </a:r>
            <a:endParaRPr/>
          </a:p>
          <a:p>
            <a:pPr indent="0" lvl="0" marL="0" marR="0" rtl="0" algn="l">
              <a:lnSpc>
                <a:spcPct val="100000"/>
              </a:lnSpc>
              <a:spcBef>
                <a:spcPts val="0"/>
              </a:spcBef>
              <a:spcAft>
                <a:spcPts val="0"/>
              </a:spcAft>
              <a:buNone/>
            </a:pPr>
            <a:r>
              <a:rPr b="0" i="0" lang="en-US" sz="1000" u="none" cap="none" strike="noStrike">
                <a:solidFill>
                  <a:srgbClr val="9CDCFE"/>
                </a:solidFill>
                <a:latin typeface="Consolas"/>
                <a:ea typeface="Consolas"/>
                <a:cs typeface="Consolas"/>
                <a:sym typeface="Consolas"/>
              </a:rPr>
              <a:t>{</a:t>
            </a:r>
            <a:endParaRPr/>
          </a:p>
          <a:p>
            <a:pPr indent="0" lvl="0" marL="0" marR="0" rtl="0" algn="l">
              <a:lnSpc>
                <a:spcPct val="100000"/>
              </a:lnSpc>
              <a:spcBef>
                <a:spcPts val="0"/>
              </a:spcBef>
              <a:spcAft>
                <a:spcPts val="0"/>
              </a:spcAft>
              <a:buNone/>
            </a:pPr>
            <a:r>
              <a:rPr b="1" i="0" lang="en-US" sz="1000" u="none" cap="none" strike="noStrike">
                <a:solidFill>
                  <a:srgbClr val="76B900"/>
                </a:solidFill>
                <a:latin typeface="Consolas"/>
                <a:ea typeface="Consolas"/>
                <a:cs typeface="Consolas"/>
                <a:sym typeface="Consolas"/>
              </a:rPr>
              <a:t>  universal_vector&lt;</a:t>
            </a:r>
            <a:r>
              <a:rPr b="1" i="0" lang="en-US" sz="1000" u="none" cap="none" strike="noStrike">
                <a:solidFill>
                  <a:srgbClr val="C586C0"/>
                </a:solidFill>
                <a:latin typeface="Consolas"/>
                <a:ea typeface="Consolas"/>
                <a:cs typeface="Consolas"/>
                <a:sym typeface="Consolas"/>
              </a:rPr>
              <a:t>float</a:t>
            </a:r>
            <a:r>
              <a:rPr b="1" i="0" lang="en-US" sz="1000" u="none" cap="none" strike="noStrike">
                <a:solidFill>
                  <a:srgbClr val="76B900"/>
                </a:solidFill>
                <a:latin typeface="Consolas"/>
                <a:ea typeface="Consolas"/>
                <a:cs typeface="Consolas"/>
                <a:sym typeface="Consolas"/>
              </a:rPr>
              <a:t>&gt; diff(a.size());  </a:t>
            </a:r>
            <a:r>
              <a:rPr b="1" i="0" lang="en-US" sz="1000" u="none" cap="none" strike="noStrike">
                <a:solidFill>
                  <a:srgbClr val="6A9955"/>
                </a:solidFill>
                <a:latin typeface="Consolas"/>
                <a:ea typeface="Consolas"/>
                <a:cs typeface="Consolas"/>
                <a:sym typeface="Consolas"/>
              </a:rPr>
              <a:t>// extra memory!</a:t>
            </a:r>
            <a:endParaRPr/>
          </a:p>
          <a:p>
            <a:pPr indent="0" lvl="0" marL="0" marR="0" rtl="0" algn="l">
              <a:lnSpc>
                <a:spcPct val="100000"/>
              </a:lnSpc>
              <a:spcBef>
                <a:spcPts val="0"/>
              </a:spcBef>
              <a:spcAft>
                <a:spcPts val="0"/>
              </a:spcAft>
              <a:buNone/>
            </a:pPr>
            <a:r>
              <a:rPr b="0" i="0" lang="en-US" sz="1000" u="none" cap="none" strike="noStrike">
                <a:solidFill>
                  <a:srgbClr val="2B2B2B"/>
                </a:solidFill>
                <a:latin typeface="Consolas"/>
                <a:ea typeface="Consolas"/>
                <a:cs typeface="Consolas"/>
                <a:sym typeface="Consolas"/>
              </a:rPr>
              <a:t> </a:t>
            </a:r>
            <a:endParaRPr/>
          </a:p>
          <a:p>
            <a:pPr indent="0" lvl="0" marL="0" marR="0" rtl="0" algn="l">
              <a:lnSpc>
                <a:spcPct val="100000"/>
              </a:lnSpc>
              <a:spcBef>
                <a:spcPts val="0"/>
              </a:spcBef>
              <a:spcAft>
                <a:spcPts val="0"/>
              </a:spcAft>
              <a:buNone/>
            </a:pPr>
            <a:r>
              <a:rPr b="0" i="0" lang="en-US" sz="1000" u="none" cap="none" strike="noStrike">
                <a:solidFill>
                  <a:srgbClr val="9CDCFE"/>
                </a:solidFill>
                <a:latin typeface="Consolas"/>
                <a:ea typeface="Consolas"/>
                <a:cs typeface="Consolas"/>
                <a:sym typeface="Consolas"/>
              </a:rPr>
              <a:t>  thrust::transform(thrust::device,</a:t>
            </a:r>
            <a:endParaRPr/>
          </a:p>
          <a:p>
            <a:pPr indent="0" lvl="0" marL="0" marR="0" rtl="0" algn="l">
              <a:lnSpc>
                <a:spcPct val="100000"/>
              </a:lnSpc>
              <a:spcBef>
                <a:spcPts val="0"/>
              </a:spcBef>
              <a:spcAft>
                <a:spcPts val="0"/>
              </a:spcAft>
              <a:buNone/>
            </a:pPr>
            <a:r>
              <a:rPr b="0" i="0" lang="en-US" sz="1000" u="none" cap="none" strike="noStrike">
                <a:solidFill>
                  <a:srgbClr val="9CDCFE"/>
                </a:solidFill>
                <a:latin typeface="Consolas"/>
                <a:ea typeface="Consolas"/>
                <a:cs typeface="Consolas"/>
                <a:sym typeface="Consolas"/>
              </a:rPr>
              <a:t>      a.begin(), a.end(), b.begin(), diff.begin(),</a:t>
            </a:r>
            <a:endParaRPr/>
          </a:p>
          <a:p>
            <a:pPr indent="0" lvl="0" marL="0" marR="0" rtl="0" algn="l">
              <a:lnSpc>
                <a:spcPct val="100000"/>
              </a:lnSpc>
              <a:spcBef>
                <a:spcPts val="0"/>
              </a:spcBef>
              <a:spcAft>
                <a:spcPts val="0"/>
              </a:spcAft>
              <a:buNone/>
            </a:pPr>
            <a:r>
              <a:rPr b="0" i="0" lang="en-US" sz="1000" u="none" cap="none" strike="noStrike">
                <a:solidFill>
                  <a:srgbClr val="9CDCFE"/>
                </a:solidFill>
                <a:latin typeface="Consolas"/>
                <a:ea typeface="Consolas"/>
                <a:cs typeface="Consolas"/>
                <a:sym typeface="Consolas"/>
              </a:rPr>
              <a:t>      [] </a:t>
            </a:r>
            <a:r>
              <a:rPr b="0" i="0" lang="en-US" sz="1000" u="none" cap="none" strike="noStrike">
                <a:solidFill>
                  <a:srgbClr val="C586C0"/>
                </a:solidFill>
                <a:latin typeface="Consolas"/>
                <a:ea typeface="Consolas"/>
                <a:cs typeface="Consolas"/>
                <a:sym typeface="Consolas"/>
              </a:rPr>
              <a:t>__host__</a:t>
            </a:r>
            <a:r>
              <a:rPr b="0" i="0" lang="en-US" sz="1000" u="none" cap="none" strike="noStrike">
                <a:solidFill>
                  <a:srgbClr val="9CDCFE"/>
                </a:solidFill>
                <a:latin typeface="Consolas"/>
                <a:ea typeface="Consolas"/>
                <a:cs typeface="Consolas"/>
                <a:sym typeface="Consolas"/>
              </a:rPr>
              <a:t> </a:t>
            </a:r>
            <a:r>
              <a:rPr b="0" i="0" lang="en-US" sz="1000" u="none" cap="none" strike="noStrike">
                <a:solidFill>
                  <a:srgbClr val="C586C0"/>
                </a:solidFill>
                <a:latin typeface="Consolas"/>
                <a:ea typeface="Consolas"/>
                <a:cs typeface="Consolas"/>
                <a:sym typeface="Consolas"/>
              </a:rPr>
              <a:t>__device__</a:t>
            </a:r>
            <a:r>
              <a:rPr b="0" i="0" lang="en-US" sz="1000" u="none" cap="none" strike="noStrike">
                <a:solidFill>
                  <a:srgbClr val="9CDCFE"/>
                </a:solidFill>
                <a:latin typeface="Consolas"/>
                <a:ea typeface="Consolas"/>
                <a:cs typeface="Consolas"/>
                <a:sym typeface="Consolas"/>
              </a:rPr>
              <a:t>(</a:t>
            </a:r>
            <a:r>
              <a:rPr b="0" i="0" lang="en-US" sz="1000" u="none" cap="none" strike="noStrike">
                <a:solidFill>
                  <a:srgbClr val="C586C0"/>
                </a:solidFill>
                <a:latin typeface="Consolas"/>
                <a:ea typeface="Consolas"/>
                <a:cs typeface="Consolas"/>
                <a:sym typeface="Consolas"/>
              </a:rPr>
              <a:t>float</a:t>
            </a:r>
            <a:r>
              <a:rPr b="0" i="0" lang="en-US" sz="1000" u="none" cap="none" strike="noStrike">
                <a:solidFill>
                  <a:srgbClr val="9CDCFE"/>
                </a:solidFill>
                <a:latin typeface="Consolas"/>
                <a:ea typeface="Consolas"/>
                <a:cs typeface="Consolas"/>
                <a:sym typeface="Consolas"/>
              </a:rPr>
              <a:t> x, </a:t>
            </a:r>
            <a:r>
              <a:rPr b="0" i="0" lang="en-US" sz="1000" u="none" cap="none" strike="noStrike">
                <a:solidFill>
                  <a:srgbClr val="C586C0"/>
                </a:solidFill>
                <a:latin typeface="Consolas"/>
                <a:ea typeface="Consolas"/>
                <a:cs typeface="Consolas"/>
                <a:sym typeface="Consolas"/>
              </a:rPr>
              <a:t>float</a:t>
            </a:r>
            <a:r>
              <a:rPr b="0" i="0" lang="en-US" sz="1000" u="none" cap="none" strike="noStrike">
                <a:solidFill>
                  <a:srgbClr val="9CDCFE"/>
                </a:solidFill>
                <a:latin typeface="Consolas"/>
                <a:ea typeface="Consolas"/>
                <a:cs typeface="Consolas"/>
                <a:sym typeface="Consolas"/>
              </a:rPr>
              <a:t> y) {</a:t>
            </a:r>
            <a:endParaRPr/>
          </a:p>
          <a:p>
            <a:pPr indent="0" lvl="0" marL="0" marR="0" rtl="0" algn="l">
              <a:lnSpc>
                <a:spcPct val="100000"/>
              </a:lnSpc>
              <a:spcBef>
                <a:spcPts val="0"/>
              </a:spcBef>
              <a:spcAft>
                <a:spcPts val="0"/>
              </a:spcAft>
              <a:buNone/>
            </a:pPr>
            <a:r>
              <a:rPr b="0" i="0" lang="en-US" sz="1000" u="none" cap="none" strike="noStrike">
                <a:solidFill>
                  <a:srgbClr val="9CDCFE"/>
                </a:solidFill>
                <a:latin typeface="Consolas"/>
                <a:ea typeface="Consolas"/>
                <a:cs typeface="Consolas"/>
                <a:sym typeface="Consolas"/>
              </a:rPr>
              <a:t>        </a:t>
            </a:r>
            <a:r>
              <a:rPr b="0" i="0" lang="en-US" sz="1000" u="none" cap="none" strike="noStrike">
                <a:solidFill>
                  <a:srgbClr val="C586C0"/>
                </a:solidFill>
                <a:latin typeface="Consolas"/>
                <a:ea typeface="Consolas"/>
                <a:cs typeface="Consolas"/>
                <a:sym typeface="Consolas"/>
              </a:rPr>
              <a:t>return</a:t>
            </a:r>
            <a:r>
              <a:rPr b="0" i="0" lang="en-US" sz="1000" u="none" cap="none" strike="noStrike">
                <a:solidFill>
                  <a:srgbClr val="9CDCFE"/>
                </a:solidFill>
                <a:latin typeface="Consolas"/>
                <a:ea typeface="Consolas"/>
                <a:cs typeface="Consolas"/>
                <a:sym typeface="Consolas"/>
              </a:rPr>
              <a:t> abs(x - y);</a:t>
            </a:r>
            <a:endParaRPr/>
          </a:p>
          <a:p>
            <a:pPr indent="0" lvl="0" marL="0" marR="0" rtl="0" algn="l">
              <a:lnSpc>
                <a:spcPct val="100000"/>
              </a:lnSpc>
              <a:spcBef>
                <a:spcPts val="0"/>
              </a:spcBef>
              <a:spcAft>
                <a:spcPts val="0"/>
              </a:spcAft>
              <a:buNone/>
            </a:pPr>
            <a:r>
              <a:rPr b="0" i="0" lang="en-US" sz="1000" u="none" cap="none" strike="noStrike">
                <a:solidFill>
                  <a:srgbClr val="9CDCFE"/>
                </a:solidFill>
                <a:latin typeface="Consolas"/>
                <a:ea typeface="Consolas"/>
                <a:cs typeface="Consolas"/>
                <a:sym typeface="Consolas"/>
              </a:rPr>
              <a:t>      });</a:t>
            </a:r>
            <a:endParaRPr/>
          </a:p>
          <a:p>
            <a:pPr indent="0" lvl="0" marL="0" marR="0" rtl="0" algn="l">
              <a:lnSpc>
                <a:spcPct val="100000"/>
              </a:lnSpc>
              <a:spcBef>
                <a:spcPts val="0"/>
              </a:spcBef>
              <a:spcAft>
                <a:spcPts val="0"/>
              </a:spcAft>
              <a:buNone/>
            </a:pPr>
            <a:r>
              <a:rPr b="0" i="0" lang="en-US" sz="1000" u="none" cap="none" strike="noStrike">
                <a:solidFill>
                  <a:srgbClr val="2B2B2B"/>
                </a:solidFill>
                <a:latin typeface="Consolas"/>
                <a:ea typeface="Consolas"/>
                <a:cs typeface="Consolas"/>
                <a:sym typeface="Consolas"/>
              </a:rPr>
              <a:t> </a:t>
            </a:r>
            <a:endParaRPr/>
          </a:p>
          <a:p>
            <a:pPr indent="0" lvl="0" marL="0" marR="0" rtl="0" algn="l">
              <a:lnSpc>
                <a:spcPct val="100000"/>
              </a:lnSpc>
              <a:spcBef>
                <a:spcPts val="0"/>
              </a:spcBef>
              <a:spcAft>
                <a:spcPts val="0"/>
              </a:spcAft>
              <a:buNone/>
            </a:pPr>
            <a:r>
              <a:rPr b="0" i="0" lang="en-US" sz="1000" u="none" cap="none" strike="noStrike">
                <a:solidFill>
                  <a:srgbClr val="9CDCFE"/>
                </a:solidFill>
                <a:latin typeface="Consolas"/>
                <a:ea typeface="Consolas"/>
                <a:cs typeface="Consolas"/>
                <a:sym typeface="Consolas"/>
              </a:rPr>
              <a:t>  </a:t>
            </a:r>
            <a:r>
              <a:rPr b="0" i="0" lang="en-US" sz="1000" u="none" cap="none" strike="noStrike">
                <a:solidFill>
                  <a:srgbClr val="C586C0"/>
                </a:solidFill>
                <a:latin typeface="Consolas"/>
                <a:ea typeface="Consolas"/>
                <a:cs typeface="Consolas"/>
                <a:sym typeface="Consolas"/>
              </a:rPr>
              <a:t>return</a:t>
            </a:r>
            <a:r>
              <a:rPr b="0" i="0" lang="en-US" sz="1000" u="none" cap="none" strike="noStrike">
                <a:solidFill>
                  <a:srgbClr val="9CDCFE"/>
                </a:solidFill>
                <a:latin typeface="Consolas"/>
                <a:ea typeface="Consolas"/>
                <a:cs typeface="Consolas"/>
                <a:sym typeface="Consolas"/>
              </a:rPr>
              <a:t> thrust::reduce(thrust::device,</a:t>
            </a:r>
            <a:endParaRPr/>
          </a:p>
          <a:p>
            <a:pPr indent="0" lvl="0" marL="0" marR="0" rtl="0" algn="l">
              <a:lnSpc>
                <a:spcPct val="100000"/>
              </a:lnSpc>
              <a:spcBef>
                <a:spcPts val="0"/>
              </a:spcBef>
              <a:spcAft>
                <a:spcPts val="0"/>
              </a:spcAft>
              <a:buNone/>
            </a:pPr>
            <a:r>
              <a:rPr b="0" i="0" lang="en-US" sz="1000" u="none" cap="none" strike="noStrike">
                <a:solidFill>
                  <a:srgbClr val="9CDCFE"/>
                </a:solidFill>
                <a:latin typeface="Consolas"/>
                <a:ea typeface="Consolas"/>
                <a:cs typeface="Consolas"/>
                <a:sym typeface="Consolas"/>
              </a:rPr>
              <a:t>      diff.begin(), diff.end(),</a:t>
            </a:r>
            <a:endParaRPr/>
          </a:p>
          <a:p>
            <a:pPr indent="0" lvl="0" marL="0" marR="0" rtl="0" algn="l">
              <a:lnSpc>
                <a:spcPct val="100000"/>
              </a:lnSpc>
              <a:spcBef>
                <a:spcPts val="0"/>
              </a:spcBef>
              <a:spcAft>
                <a:spcPts val="0"/>
              </a:spcAft>
              <a:buNone/>
            </a:pPr>
            <a:r>
              <a:rPr b="0" i="0" lang="en-US" sz="1000" u="none" cap="none" strike="noStrike">
                <a:solidFill>
                  <a:srgbClr val="9CDCFE"/>
                </a:solidFill>
                <a:latin typeface="Consolas"/>
                <a:ea typeface="Consolas"/>
                <a:cs typeface="Consolas"/>
                <a:sym typeface="Consolas"/>
              </a:rPr>
              <a:t>      </a:t>
            </a:r>
            <a:r>
              <a:rPr b="0" i="0" lang="en-US" sz="1000" u="none" cap="none" strike="noStrike">
                <a:solidFill>
                  <a:srgbClr val="B5CEA8"/>
                </a:solidFill>
                <a:latin typeface="Consolas"/>
                <a:ea typeface="Consolas"/>
                <a:cs typeface="Consolas"/>
                <a:sym typeface="Consolas"/>
              </a:rPr>
              <a:t>0.0f</a:t>
            </a:r>
            <a:r>
              <a:rPr b="0" i="0" lang="en-US" sz="1000" u="none" cap="none" strike="noStrike">
                <a:solidFill>
                  <a:srgbClr val="9CDCFE"/>
                </a:solidFill>
                <a:latin typeface="Consolas"/>
                <a:ea typeface="Consolas"/>
                <a:cs typeface="Consolas"/>
                <a:sym typeface="Consolas"/>
              </a:rPr>
              <a:t>, thrust::maximum&lt;</a:t>
            </a:r>
            <a:r>
              <a:rPr b="0" i="0" lang="en-US" sz="1000" u="none" cap="none" strike="noStrike">
                <a:solidFill>
                  <a:srgbClr val="C586C0"/>
                </a:solidFill>
                <a:latin typeface="Consolas"/>
                <a:ea typeface="Consolas"/>
                <a:cs typeface="Consolas"/>
                <a:sym typeface="Consolas"/>
              </a:rPr>
              <a:t>float</a:t>
            </a:r>
            <a:r>
              <a:rPr b="0" i="0" lang="en-US" sz="1000" u="none" cap="none" strike="noStrike">
                <a:solidFill>
                  <a:srgbClr val="9CDCFE"/>
                </a:solidFill>
                <a:latin typeface="Consolas"/>
                <a:ea typeface="Consolas"/>
                <a:cs typeface="Consolas"/>
                <a:sym typeface="Consolas"/>
              </a:rPr>
              <a:t>&gt;{});</a:t>
            </a:r>
            <a:endParaRPr/>
          </a:p>
          <a:p>
            <a:pPr indent="0" lvl="0" marL="0" marR="0" rtl="0" algn="l">
              <a:lnSpc>
                <a:spcPct val="100000"/>
              </a:lnSpc>
              <a:spcBef>
                <a:spcPts val="0"/>
              </a:spcBef>
              <a:spcAft>
                <a:spcPts val="0"/>
              </a:spcAft>
              <a:buNone/>
            </a:pPr>
            <a:r>
              <a:rPr b="0" i="0" lang="en-US" sz="1000" u="none" cap="none" strike="noStrike">
                <a:solidFill>
                  <a:srgbClr val="9CDCFE"/>
                </a:solidFill>
                <a:latin typeface="Consolas"/>
                <a:ea typeface="Consolas"/>
                <a:cs typeface="Consolas"/>
                <a:sym typeface="Consolas"/>
              </a:rPr>
              <a:t>}</a:t>
            </a:r>
            <a:endParaRPr/>
          </a:p>
        </p:txBody>
      </p:sp>
      <p:sp>
        <p:nvSpPr>
          <p:cNvPr id="779" name="Google Shape;779;p11"/>
          <p:cNvSpPr/>
          <p:nvPr/>
        </p:nvSpPr>
        <p:spPr>
          <a:xfrm>
            <a:off x="6400800" y="1234440"/>
            <a:ext cx="2286000" cy="1325880"/>
          </a:xfrm>
          <a:prstGeom prst="roundRect">
            <a:avLst>
              <a:gd fmla="val 3500" name="adj"/>
            </a:avLst>
          </a:prstGeom>
          <a:solidFill>
            <a:srgbClr val="F7EEEE"/>
          </a:solidFill>
          <a:ln cap="flat" cmpd="sng" w="9525">
            <a:solidFill>
              <a:srgbClr val="E6D2D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80" name="Google Shape;780;p11"/>
          <p:cNvSpPr txBox="1"/>
          <p:nvPr/>
        </p:nvSpPr>
        <p:spPr>
          <a:xfrm>
            <a:off x="6556248" y="1325880"/>
            <a:ext cx="1975104" cy="114300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1300" u="none" cap="none" strike="noStrike">
                <a:solidFill>
                  <a:srgbClr val="500000"/>
                </a:solidFill>
                <a:latin typeface="Arial"/>
                <a:ea typeface="Arial"/>
                <a:cs typeface="Arial"/>
                <a:sym typeface="Arial"/>
              </a:rPr>
              <a:t>Two-input transform</a:t>
            </a:r>
            <a:endParaRPr/>
          </a:p>
          <a:p>
            <a:pPr indent="0" lvl="0" marL="0" marR="0" rtl="0" algn="l">
              <a:lnSpc>
                <a:spcPct val="100000"/>
              </a:lnSpc>
              <a:spcBef>
                <a:spcPts val="300"/>
              </a:spcBef>
              <a:spcAft>
                <a:spcPts val="0"/>
              </a:spcAft>
              <a:buNone/>
            </a:pPr>
            <a:r>
              <a:rPr b="0" i="0" lang="en-US" sz="1000" u="none" cap="none" strike="noStrike">
                <a:solidFill>
                  <a:srgbClr val="2B2B2B"/>
                </a:solidFill>
                <a:latin typeface="Arial"/>
                <a:ea typeface="Arial"/>
                <a:cs typeface="Arial"/>
                <a:sym typeface="Arial"/>
              </a:rPr>
              <a:t>Takes two sequences and applies the lambda to each pair (x, y).</a:t>
            </a:r>
            <a:endParaRPr/>
          </a:p>
        </p:txBody>
      </p:sp>
      <p:sp>
        <p:nvSpPr>
          <p:cNvPr id="781" name="Google Shape;781;p11"/>
          <p:cNvSpPr/>
          <p:nvPr/>
        </p:nvSpPr>
        <p:spPr>
          <a:xfrm>
            <a:off x="6400800" y="2743200"/>
            <a:ext cx="2286000" cy="1325880"/>
          </a:xfrm>
          <a:prstGeom prst="roundRect">
            <a:avLst>
              <a:gd fmla="val 3500" name="adj"/>
            </a:avLst>
          </a:prstGeom>
          <a:solidFill>
            <a:srgbClr val="F2F8E8"/>
          </a:solidFill>
          <a:ln cap="flat" cmpd="sng" w="9525">
            <a:solidFill>
              <a:srgbClr val="D8E8B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82" name="Google Shape;782;p11"/>
          <p:cNvSpPr txBox="1"/>
          <p:nvPr/>
        </p:nvSpPr>
        <p:spPr>
          <a:xfrm>
            <a:off x="6556248" y="2834640"/>
            <a:ext cx="1975104" cy="114300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1300" u="none" cap="none" strike="noStrike">
                <a:solidFill>
                  <a:srgbClr val="4E7A00"/>
                </a:solidFill>
                <a:latin typeface="Arial"/>
                <a:ea typeface="Arial"/>
                <a:cs typeface="Arial"/>
                <a:sym typeface="Arial"/>
              </a:rPr>
              <a:t>reduce + maximum</a:t>
            </a:r>
            <a:endParaRPr/>
          </a:p>
          <a:p>
            <a:pPr indent="0" lvl="0" marL="0" marR="0" rtl="0" algn="l">
              <a:lnSpc>
                <a:spcPct val="100000"/>
              </a:lnSpc>
              <a:spcBef>
                <a:spcPts val="300"/>
              </a:spcBef>
              <a:spcAft>
                <a:spcPts val="0"/>
              </a:spcAft>
              <a:buNone/>
            </a:pPr>
            <a:r>
              <a:rPr b="0" i="0" lang="en-US" sz="1000" u="none" cap="none" strike="noStrike">
                <a:solidFill>
                  <a:srgbClr val="2B2B2B"/>
                </a:solidFill>
                <a:latin typeface="Arial"/>
                <a:ea typeface="Arial"/>
                <a:cs typeface="Arial"/>
                <a:sym typeface="Arial"/>
              </a:rPr>
              <a:t>Collapses a sequence to one value. Starts from 0.0f and keeps the bigger one.</a:t>
            </a:r>
            <a:endParaRPr/>
          </a:p>
        </p:txBody>
      </p:sp>
      <p:sp>
        <p:nvSpPr>
          <p:cNvPr id="783" name="Google Shape;783;p11"/>
          <p:cNvSpPr txBox="1"/>
          <p:nvPr/>
        </p:nvSpPr>
        <p:spPr>
          <a:xfrm>
            <a:off x="457200" y="4206240"/>
            <a:ext cx="8229600" cy="36576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1100" u="none" cap="none" strike="noStrike">
                <a:solidFill>
                  <a:srgbClr val="2B2B2B"/>
                </a:solidFill>
                <a:latin typeface="Arial"/>
                <a:ea typeface="Arial"/>
                <a:cs typeface="Arial"/>
                <a:sym typeface="Arial"/>
              </a:rPr>
              <a:t>The highlighted line is the problem: </a:t>
            </a:r>
            <a:r>
              <a:rPr b="0" i="0" lang="en-US" sz="1100" u="none" cap="none" strike="noStrike">
                <a:solidFill>
                  <a:srgbClr val="2B2B2B"/>
                </a:solidFill>
                <a:latin typeface="Arial"/>
                <a:ea typeface="Arial"/>
                <a:cs typeface="Arial"/>
                <a:sym typeface="Arial"/>
              </a:rPr>
              <a:t>"unnecessarily materialized" differences, written to memory and read back once.</a:t>
            </a:r>
            <a:endParaRPr/>
          </a:p>
        </p:txBody>
      </p:sp>
      <p:sp>
        <p:nvSpPr>
          <p:cNvPr id="784" name="Google Shape;784;p11"/>
          <p:cNvSpPr/>
          <p:nvPr/>
        </p:nvSpPr>
        <p:spPr>
          <a:xfrm>
            <a:off x="636879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11"/>
          <p:cNvSpPr/>
          <p:nvPr/>
        </p:nvSpPr>
        <p:spPr>
          <a:xfrm>
            <a:off x="644194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11"/>
          <p:cNvSpPr/>
          <p:nvPr/>
        </p:nvSpPr>
        <p:spPr>
          <a:xfrm>
            <a:off x="6515100"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11"/>
          <p:cNvSpPr/>
          <p:nvPr/>
        </p:nvSpPr>
        <p:spPr>
          <a:xfrm>
            <a:off x="6588252"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11"/>
          <p:cNvSpPr/>
          <p:nvPr/>
        </p:nvSpPr>
        <p:spPr>
          <a:xfrm>
            <a:off x="6661404"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11"/>
          <p:cNvSpPr/>
          <p:nvPr/>
        </p:nvSpPr>
        <p:spPr>
          <a:xfrm>
            <a:off x="673455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11"/>
          <p:cNvSpPr/>
          <p:nvPr/>
        </p:nvSpPr>
        <p:spPr>
          <a:xfrm>
            <a:off x="680770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11"/>
          <p:cNvSpPr/>
          <p:nvPr/>
        </p:nvSpPr>
        <p:spPr>
          <a:xfrm>
            <a:off x="6880860"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11"/>
          <p:cNvSpPr/>
          <p:nvPr/>
        </p:nvSpPr>
        <p:spPr>
          <a:xfrm>
            <a:off x="6954012"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11"/>
          <p:cNvSpPr/>
          <p:nvPr/>
        </p:nvSpPr>
        <p:spPr>
          <a:xfrm>
            <a:off x="7027164"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11"/>
          <p:cNvSpPr/>
          <p:nvPr/>
        </p:nvSpPr>
        <p:spPr>
          <a:xfrm>
            <a:off x="710031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11"/>
          <p:cNvSpPr/>
          <p:nvPr/>
        </p:nvSpPr>
        <p:spPr>
          <a:xfrm>
            <a:off x="717346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11"/>
          <p:cNvSpPr/>
          <p:nvPr/>
        </p:nvSpPr>
        <p:spPr>
          <a:xfrm>
            <a:off x="7246620"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11"/>
          <p:cNvSpPr/>
          <p:nvPr/>
        </p:nvSpPr>
        <p:spPr>
          <a:xfrm>
            <a:off x="7319772" y="4901184"/>
            <a:ext cx="50292" cy="50292"/>
          </a:xfrm>
          <a:prstGeom prst="rect">
            <a:avLst/>
          </a:prstGeom>
          <a:solidFill>
            <a:srgbClr val="5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11"/>
          <p:cNvSpPr/>
          <p:nvPr/>
        </p:nvSpPr>
        <p:spPr>
          <a:xfrm>
            <a:off x="739292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11"/>
          <p:cNvSpPr/>
          <p:nvPr/>
        </p:nvSpPr>
        <p:spPr>
          <a:xfrm>
            <a:off x="746607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11"/>
          <p:cNvSpPr/>
          <p:nvPr/>
        </p:nvSpPr>
        <p:spPr>
          <a:xfrm>
            <a:off x="753922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11"/>
          <p:cNvSpPr/>
          <p:nvPr/>
        </p:nvSpPr>
        <p:spPr>
          <a:xfrm>
            <a:off x="7612380"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11"/>
          <p:cNvSpPr/>
          <p:nvPr/>
        </p:nvSpPr>
        <p:spPr>
          <a:xfrm>
            <a:off x="768553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11"/>
          <p:cNvSpPr/>
          <p:nvPr/>
        </p:nvSpPr>
        <p:spPr>
          <a:xfrm>
            <a:off x="775868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11"/>
          <p:cNvSpPr/>
          <p:nvPr/>
        </p:nvSpPr>
        <p:spPr>
          <a:xfrm>
            <a:off x="783183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11"/>
          <p:cNvSpPr/>
          <p:nvPr/>
        </p:nvSpPr>
        <p:spPr>
          <a:xfrm>
            <a:off x="790498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11"/>
          <p:cNvSpPr/>
          <p:nvPr/>
        </p:nvSpPr>
        <p:spPr>
          <a:xfrm>
            <a:off x="7978140"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11"/>
          <p:cNvSpPr/>
          <p:nvPr/>
        </p:nvSpPr>
        <p:spPr>
          <a:xfrm>
            <a:off x="805129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11"/>
          <p:cNvSpPr/>
          <p:nvPr/>
        </p:nvSpPr>
        <p:spPr>
          <a:xfrm>
            <a:off x="812444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11"/>
          <p:cNvSpPr/>
          <p:nvPr/>
        </p:nvSpPr>
        <p:spPr>
          <a:xfrm>
            <a:off x="819759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11"/>
          <p:cNvSpPr/>
          <p:nvPr/>
        </p:nvSpPr>
        <p:spPr>
          <a:xfrm>
            <a:off x="827074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11"/>
          <p:cNvSpPr/>
          <p:nvPr/>
        </p:nvSpPr>
        <p:spPr>
          <a:xfrm>
            <a:off x="8343900"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11"/>
          <p:cNvSpPr/>
          <p:nvPr/>
        </p:nvSpPr>
        <p:spPr>
          <a:xfrm>
            <a:off x="841705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11"/>
          <p:cNvSpPr/>
          <p:nvPr/>
        </p:nvSpPr>
        <p:spPr>
          <a:xfrm>
            <a:off x="849020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11"/>
          <p:cNvSpPr/>
          <p:nvPr/>
        </p:nvSpPr>
        <p:spPr>
          <a:xfrm>
            <a:off x="856335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11"/>
          <p:cNvSpPr/>
          <p:nvPr/>
        </p:nvSpPr>
        <p:spPr>
          <a:xfrm>
            <a:off x="863650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11"/>
          <p:cNvSpPr txBox="1"/>
          <p:nvPr/>
        </p:nvSpPr>
        <p:spPr>
          <a:xfrm>
            <a:off x="5472684" y="4846320"/>
            <a:ext cx="822960" cy="15544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00" u="none" cap="none" strike="noStrike">
                <a:solidFill>
                  <a:srgbClr val="9A9AA0"/>
                </a:solidFill>
                <a:latin typeface="Consolas"/>
                <a:ea typeface="Consolas"/>
                <a:cs typeface="Consolas"/>
                <a:sym typeface="Consolas"/>
              </a:rPr>
              <a:t>slide[13]</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21" name="Shape 821"/>
        <p:cNvGrpSpPr/>
        <p:nvPr/>
      </p:nvGrpSpPr>
      <p:grpSpPr>
        <a:xfrm>
          <a:off x="0" y="0"/>
          <a:ext cx="0" cy="0"/>
          <a:chOff x="0" y="0"/>
          <a:chExt cx="0" cy="0"/>
        </a:xfrm>
      </p:grpSpPr>
      <p:sp>
        <p:nvSpPr>
          <p:cNvPr id="822" name="Google Shape;822;p12"/>
          <p:cNvSpPr txBox="1"/>
          <p:nvPr/>
        </p:nvSpPr>
        <p:spPr>
          <a:xfrm>
            <a:off x="457200" y="320040"/>
            <a:ext cx="8229600" cy="54864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2800" u="none" cap="none" strike="noStrike">
                <a:solidFill>
                  <a:srgbClr val="500000"/>
                </a:solidFill>
                <a:latin typeface="Arial"/>
                <a:ea typeface="Arial"/>
                <a:cs typeface="Arial"/>
                <a:sym typeface="Arial"/>
              </a:rPr>
              <a:t>Count the trips to memory</a:t>
            </a:r>
            <a:endParaRPr/>
          </a:p>
        </p:txBody>
      </p:sp>
      <p:sp>
        <p:nvSpPr>
          <p:cNvPr id="823" name="Google Shape;823;p12"/>
          <p:cNvSpPr txBox="1"/>
          <p:nvPr/>
        </p:nvSpPr>
        <p:spPr>
          <a:xfrm>
            <a:off x="457200" y="868680"/>
            <a:ext cx="8229600" cy="27432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0" i="0" lang="en-US" sz="1200" u="none" cap="none" strike="noStrike">
                <a:solidFill>
                  <a:srgbClr val="6E6E6E"/>
                </a:solidFill>
                <a:latin typeface="Arial"/>
                <a:ea typeface="Arial"/>
                <a:cs typeface="Arial"/>
                <a:sym typeface="Arial"/>
              </a:rPr>
              <a:t>Most GPU code is memory bound: moving data costs more than doing math on it</a:t>
            </a:r>
            <a:endParaRPr/>
          </a:p>
        </p:txBody>
      </p:sp>
      <p:sp>
        <p:nvSpPr>
          <p:cNvPr id="824" name="Google Shape;824;p12"/>
          <p:cNvSpPr txBox="1"/>
          <p:nvPr/>
        </p:nvSpPr>
        <p:spPr>
          <a:xfrm>
            <a:off x="457200" y="1325880"/>
            <a:ext cx="1737360" cy="457200"/>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1" i="0" lang="en-US" sz="1200" u="none" cap="none" strike="noStrike">
                <a:solidFill>
                  <a:srgbClr val="2B2B2B"/>
                </a:solidFill>
                <a:latin typeface="Arial"/>
                <a:ea typeface="Arial"/>
                <a:cs typeface="Arial"/>
                <a:sym typeface="Arial"/>
              </a:rPr>
              <a:t>Naive version</a:t>
            </a:r>
            <a:endParaRPr/>
          </a:p>
        </p:txBody>
      </p:sp>
      <p:sp>
        <p:nvSpPr>
          <p:cNvPr id="825" name="Google Shape;825;p12"/>
          <p:cNvSpPr/>
          <p:nvPr/>
        </p:nvSpPr>
        <p:spPr>
          <a:xfrm>
            <a:off x="2240280" y="1325880"/>
            <a:ext cx="1097280" cy="457200"/>
          </a:xfrm>
          <a:prstGeom prst="roundRect">
            <a:avLst>
              <a:gd fmla="val 3500" name="adj"/>
            </a:avLst>
          </a:prstGeom>
          <a:solidFill>
            <a:srgbClr val="F7EEEE"/>
          </a:solidFill>
          <a:ln cap="flat" cmpd="sng" w="9525">
            <a:solidFill>
              <a:srgbClr val="E6D2D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26" name="Google Shape;826;p12"/>
          <p:cNvSpPr txBox="1"/>
          <p:nvPr/>
        </p:nvSpPr>
        <p:spPr>
          <a:xfrm>
            <a:off x="2240280" y="1325880"/>
            <a:ext cx="1097280" cy="457200"/>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000" u="none" cap="none" strike="noStrike">
                <a:solidFill>
                  <a:srgbClr val="500000"/>
                </a:solidFill>
                <a:latin typeface="Arial"/>
                <a:ea typeface="Arial"/>
                <a:cs typeface="Arial"/>
                <a:sym typeface="Arial"/>
              </a:rPr>
              <a:t>read a</a:t>
            </a:r>
            <a:endParaRPr/>
          </a:p>
        </p:txBody>
      </p:sp>
      <p:sp>
        <p:nvSpPr>
          <p:cNvPr id="827" name="Google Shape;827;p12"/>
          <p:cNvSpPr/>
          <p:nvPr/>
        </p:nvSpPr>
        <p:spPr>
          <a:xfrm>
            <a:off x="3374136" y="1325880"/>
            <a:ext cx="1097280" cy="457200"/>
          </a:xfrm>
          <a:prstGeom prst="roundRect">
            <a:avLst>
              <a:gd fmla="val 3500" name="adj"/>
            </a:avLst>
          </a:prstGeom>
          <a:solidFill>
            <a:srgbClr val="F7EEEE"/>
          </a:solidFill>
          <a:ln cap="flat" cmpd="sng" w="9525">
            <a:solidFill>
              <a:srgbClr val="E6D2D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28" name="Google Shape;828;p12"/>
          <p:cNvSpPr txBox="1"/>
          <p:nvPr/>
        </p:nvSpPr>
        <p:spPr>
          <a:xfrm>
            <a:off x="3374136" y="1325880"/>
            <a:ext cx="1097280" cy="457200"/>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000" u="none" cap="none" strike="noStrike">
                <a:solidFill>
                  <a:srgbClr val="500000"/>
                </a:solidFill>
                <a:latin typeface="Arial"/>
                <a:ea typeface="Arial"/>
                <a:cs typeface="Arial"/>
                <a:sym typeface="Arial"/>
              </a:rPr>
              <a:t>read b</a:t>
            </a:r>
            <a:endParaRPr/>
          </a:p>
        </p:txBody>
      </p:sp>
      <p:sp>
        <p:nvSpPr>
          <p:cNvPr id="829" name="Google Shape;829;p12"/>
          <p:cNvSpPr/>
          <p:nvPr/>
        </p:nvSpPr>
        <p:spPr>
          <a:xfrm>
            <a:off x="4507992" y="1325880"/>
            <a:ext cx="1097280" cy="457200"/>
          </a:xfrm>
          <a:prstGeom prst="roundRect">
            <a:avLst>
              <a:gd fmla="val 3500" name="adj"/>
            </a:avLst>
          </a:prstGeom>
          <a:solidFill>
            <a:srgbClr val="5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30" name="Google Shape;830;p12"/>
          <p:cNvSpPr txBox="1"/>
          <p:nvPr/>
        </p:nvSpPr>
        <p:spPr>
          <a:xfrm>
            <a:off x="4507992" y="1325880"/>
            <a:ext cx="1097280" cy="457200"/>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000" u="none" cap="none" strike="noStrike">
                <a:solidFill>
                  <a:srgbClr val="FFFFFF"/>
                </a:solidFill>
                <a:latin typeface="Arial"/>
                <a:ea typeface="Arial"/>
                <a:cs typeface="Arial"/>
                <a:sym typeface="Arial"/>
              </a:rPr>
              <a:t>write diff</a:t>
            </a:r>
            <a:endParaRPr/>
          </a:p>
        </p:txBody>
      </p:sp>
      <p:sp>
        <p:nvSpPr>
          <p:cNvPr id="831" name="Google Shape;831;p12"/>
          <p:cNvSpPr/>
          <p:nvPr/>
        </p:nvSpPr>
        <p:spPr>
          <a:xfrm>
            <a:off x="5641848" y="1325880"/>
            <a:ext cx="1097280" cy="457200"/>
          </a:xfrm>
          <a:prstGeom prst="roundRect">
            <a:avLst>
              <a:gd fmla="val 3500" name="adj"/>
            </a:avLst>
          </a:prstGeom>
          <a:solidFill>
            <a:srgbClr val="5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32" name="Google Shape;832;p12"/>
          <p:cNvSpPr txBox="1"/>
          <p:nvPr/>
        </p:nvSpPr>
        <p:spPr>
          <a:xfrm>
            <a:off x="5641848" y="1325880"/>
            <a:ext cx="1097280" cy="457200"/>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000" u="none" cap="none" strike="noStrike">
                <a:solidFill>
                  <a:srgbClr val="FFFFFF"/>
                </a:solidFill>
                <a:latin typeface="Arial"/>
                <a:ea typeface="Arial"/>
                <a:cs typeface="Arial"/>
                <a:sym typeface="Arial"/>
              </a:rPr>
              <a:t>read diff</a:t>
            </a:r>
            <a:endParaRPr/>
          </a:p>
        </p:txBody>
      </p:sp>
      <p:sp>
        <p:nvSpPr>
          <p:cNvPr id="833" name="Google Shape;833;p12"/>
          <p:cNvSpPr txBox="1"/>
          <p:nvPr/>
        </p:nvSpPr>
        <p:spPr>
          <a:xfrm>
            <a:off x="6867144" y="1325880"/>
            <a:ext cx="1097280" cy="457200"/>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1" i="0" lang="en-US" sz="1400" u="none" cap="none" strike="noStrike">
                <a:solidFill>
                  <a:srgbClr val="500000"/>
                </a:solidFill>
                <a:latin typeface="Consolas"/>
                <a:ea typeface="Consolas"/>
                <a:cs typeface="Consolas"/>
                <a:sym typeface="Consolas"/>
              </a:rPr>
              <a:t>4n</a:t>
            </a:r>
            <a:endParaRPr/>
          </a:p>
        </p:txBody>
      </p:sp>
      <p:sp>
        <p:nvSpPr>
          <p:cNvPr id="834" name="Google Shape;834;p12"/>
          <p:cNvSpPr txBox="1"/>
          <p:nvPr/>
        </p:nvSpPr>
        <p:spPr>
          <a:xfrm>
            <a:off x="457200" y="1965960"/>
            <a:ext cx="1737360" cy="457200"/>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1" i="0" lang="en-US" sz="1200" u="none" cap="none" strike="noStrike">
                <a:solidFill>
                  <a:srgbClr val="2B2B2B"/>
                </a:solidFill>
                <a:latin typeface="Arial"/>
                <a:ea typeface="Arial"/>
                <a:cs typeface="Arial"/>
                <a:sym typeface="Arial"/>
              </a:rPr>
              <a:t>A plain for-loop</a:t>
            </a:r>
            <a:endParaRPr/>
          </a:p>
        </p:txBody>
      </p:sp>
      <p:sp>
        <p:nvSpPr>
          <p:cNvPr id="835" name="Google Shape;835;p12"/>
          <p:cNvSpPr/>
          <p:nvPr/>
        </p:nvSpPr>
        <p:spPr>
          <a:xfrm>
            <a:off x="2240280" y="1965960"/>
            <a:ext cx="1097280" cy="457200"/>
          </a:xfrm>
          <a:prstGeom prst="roundRect">
            <a:avLst>
              <a:gd fmla="val 3500" name="adj"/>
            </a:avLst>
          </a:prstGeom>
          <a:solidFill>
            <a:srgbClr val="F2F8E8"/>
          </a:solidFill>
          <a:ln cap="flat" cmpd="sng" w="9525">
            <a:solidFill>
              <a:srgbClr val="D8E8B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36" name="Google Shape;836;p12"/>
          <p:cNvSpPr txBox="1"/>
          <p:nvPr/>
        </p:nvSpPr>
        <p:spPr>
          <a:xfrm>
            <a:off x="2240280" y="1965960"/>
            <a:ext cx="1097280" cy="457200"/>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000" u="none" cap="none" strike="noStrike">
                <a:solidFill>
                  <a:srgbClr val="4E7A00"/>
                </a:solidFill>
                <a:latin typeface="Arial"/>
                <a:ea typeface="Arial"/>
                <a:cs typeface="Arial"/>
                <a:sym typeface="Arial"/>
              </a:rPr>
              <a:t>read a</a:t>
            </a:r>
            <a:endParaRPr/>
          </a:p>
        </p:txBody>
      </p:sp>
      <p:sp>
        <p:nvSpPr>
          <p:cNvPr id="837" name="Google Shape;837;p12"/>
          <p:cNvSpPr/>
          <p:nvPr/>
        </p:nvSpPr>
        <p:spPr>
          <a:xfrm>
            <a:off x="3374136" y="1965960"/>
            <a:ext cx="1097280" cy="457200"/>
          </a:xfrm>
          <a:prstGeom prst="roundRect">
            <a:avLst>
              <a:gd fmla="val 3500" name="adj"/>
            </a:avLst>
          </a:prstGeom>
          <a:solidFill>
            <a:srgbClr val="F2F8E8"/>
          </a:solidFill>
          <a:ln cap="flat" cmpd="sng" w="9525">
            <a:solidFill>
              <a:srgbClr val="D8E8B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38" name="Google Shape;838;p12"/>
          <p:cNvSpPr txBox="1"/>
          <p:nvPr/>
        </p:nvSpPr>
        <p:spPr>
          <a:xfrm>
            <a:off x="3374136" y="1965960"/>
            <a:ext cx="1097280" cy="457200"/>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000" u="none" cap="none" strike="noStrike">
                <a:solidFill>
                  <a:srgbClr val="4E7A00"/>
                </a:solidFill>
                <a:latin typeface="Arial"/>
                <a:ea typeface="Arial"/>
                <a:cs typeface="Arial"/>
                <a:sym typeface="Arial"/>
              </a:rPr>
              <a:t>read b</a:t>
            </a:r>
            <a:endParaRPr/>
          </a:p>
        </p:txBody>
      </p:sp>
      <p:sp>
        <p:nvSpPr>
          <p:cNvPr id="839" name="Google Shape;839;p12"/>
          <p:cNvSpPr txBox="1"/>
          <p:nvPr/>
        </p:nvSpPr>
        <p:spPr>
          <a:xfrm>
            <a:off x="4599432" y="1965960"/>
            <a:ext cx="1097280" cy="457200"/>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1" i="0" lang="en-US" sz="1400" u="none" cap="none" strike="noStrike">
                <a:solidFill>
                  <a:srgbClr val="500000"/>
                </a:solidFill>
                <a:latin typeface="Consolas"/>
                <a:ea typeface="Consolas"/>
                <a:cs typeface="Consolas"/>
                <a:sym typeface="Consolas"/>
              </a:rPr>
              <a:t>2n</a:t>
            </a:r>
            <a:endParaRPr/>
          </a:p>
        </p:txBody>
      </p:sp>
      <p:sp>
        <p:nvSpPr>
          <p:cNvPr id="840" name="Google Shape;840;p12"/>
          <p:cNvSpPr/>
          <p:nvPr/>
        </p:nvSpPr>
        <p:spPr>
          <a:xfrm>
            <a:off x="457200" y="2651760"/>
            <a:ext cx="3931920" cy="1051560"/>
          </a:xfrm>
          <a:prstGeom prst="roundRect">
            <a:avLst>
              <a:gd fmla="val 3500" name="adj"/>
            </a:avLst>
          </a:prstGeom>
          <a:solidFill>
            <a:srgbClr val="1B1B1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41" name="Google Shape;841;p12"/>
          <p:cNvSpPr txBox="1"/>
          <p:nvPr/>
        </p:nvSpPr>
        <p:spPr>
          <a:xfrm>
            <a:off x="594360" y="2743200"/>
            <a:ext cx="3657600" cy="86868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0" i="0" lang="en-US" sz="1050" u="none" cap="none" strike="noStrike">
                <a:solidFill>
                  <a:srgbClr val="C586C0"/>
                </a:solidFill>
                <a:latin typeface="Consolas"/>
                <a:ea typeface="Consolas"/>
                <a:cs typeface="Consolas"/>
                <a:sym typeface="Consolas"/>
              </a:rPr>
              <a:t>float</a:t>
            </a:r>
            <a:r>
              <a:rPr b="0" i="0" lang="en-US" sz="1050" u="none" cap="none" strike="noStrike">
                <a:solidFill>
                  <a:srgbClr val="9CDCFE"/>
                </a:solidFill>
                <a:latin typeface="Consolas"/>
                <a:ea typeface="Consolas"/>
                <a:cs typeface="Consolas"/>
                <a:sym typeface="Consolas"/>
              </a:rPr>
              <a:t> m = </a:t>
            </a:r>
            <a:r>
              <a:rPr b="0" i="0" lang="en-US" sz="1050" u="none" cap="none" strike="noStrike">
                <a:solidFill>
                  <a:srgbClr val="B5CEA8"/>
                </a:solidFill>
                <a:latin typeface="Consolas"/>
                <a:ea typeface="Consolas"/>
                <a:cs typeface="Consolas"/>
                <a:sym typeface="Consolas"/>
              </a:rPr>
              <a:t>0</a:t>
            </a:r>
            <a:r>
              <a:rPr b="0" i="0" lang="en-US" sz="1050" u="none" cap="none" strike="noStrike">
                <a:solidFill>
                  <a:srgbClr val="9CDCFE"/>
                </a:solidFill>
                <a:latin typeface="Consolas"/>
                <a:ea typeface="Consolas"/>
                <a:cs typeface="Consolas"/>
                <a:sym typeface="Consolas"/>
              </a:rPr>
              <a:t>;</a:t>
            </a:r>
            <a:endParaRPr/>
          </a:p>
          <a:p>
            <a:pPr indent="0" lvl="0" marL="0" marR="0" rtl="0" algn="l">
              <a:lnSpc>
                <a:spcPct val="100000"/>
              </a:lnSpc>
              <a:spcBef>
                <a:spcPts val="0"/>
              </a:spcBef>
              <a:spcAft>
                <a:spcPts val="0"/>
              </a:spcAft>
              <a:buNone/>
            </a:pPr>
            <a:r>
              <a:rPr b="0" i="0" lang="en-US" sz="1050" u="none" cap="none" strike="noStrike">
                <a:solidFill>
                  <a:srgbClr val="C586C0"/>
                </a:solidFill>
                <a:latin typeface="Consolas"/>
                <a:ea typeface="Consolas"/>
                <a:cs typeface="Consolas"/>
                <a:sym typeface="Consolas"/>
              </a:rPr>
              <a:t>for</a:t>
            </a:r>
            <a:r>
              <a:rPr b="0" i="0" lang="en-US" sz="1050" u="none" cap="none" strike="noStrike">
                <a:solidFill>
                  <a:srgbClr val="9CDCFE"/>
                </a:solidFill>
                <a:latin typeface="Consolas"/>
                <a:ea typeface="Consolas"/>
                <a:cs typeface="Consolas"/>
                <a:sym typeface="Consolas"/>
              </a:rPr>
              <a:t> (</a:t>
            </a:r>
            <a:r>
              <a:rPr b="0" i="0" lang="en-US" sz="1050" u="none" cap="none" strike="noStrike">
                <a:solidFill>
                  <a:srgbClr val="C586C0"/>
                </a:solidFill>
                <a:latin typeface="Consolas"/>
                <a:ea typeface="Consolas"/>
                <a:cs typeface="Consolas"/>
                <a:sym typeface="Consolas"/>
              </a:rPr>
              <a:t>int</a:t>
            </a:r>
            <a:r>
              <a:rPr b="0" i="0" lang="en-US" sz="1050" u="none" cap="none" strike="noStrike">
                <a:solidFill>
                  <a:srgbClr val="9CDCFE"/>
                </a:solidFill>
                <a:latin typeface="Consolas"/>
                <a:ea typeface="Consolas"/>
                <a:cs typeface="Consolas"/>
                <a:sym typeface="Consolas"/>
              </a:rPr>
              <a:t> i = </a:t>
            </a:r>
            <a:r>
              <a:rPr b="0" i="0" lang="en-US" sz="1050" u="none" cap="none" strike="noStrike">
                <a:solidFill>
                  <a:srgbClr val="B5CEA8"/>
                </a:solidFill>
                <a:latin typeface="Consolas"/>
                <a:ea typeface="Consolas"/>
                <a:cs typeface="Consolas"/>
                <a:sym typeface="Consolas"/>
              </a:rPr>
              <a:t>0</a:t>
            </a:r>
            <a:r>
              <a:rPr b="0" i="0" lang="en-US" sz="1050" u="none" cap="none" strike="noStrike">
                <a:solidFill>
                  <a:srgbClr val="9CDCFE"/>
                </a:solidFill>
                <a:latin typeface="Consolas"/>
                <a:ea typeface="Consolas"/>
                <a:cs typeface="Consolas"/>
                <a:sym typeface="Consolas"/>
              </a:rPr>
              <a:t>; i &lt; n; i++)</a:t>
            </a:r>
            <a:endParaRPr/>
          </a:p>
          <a:p>
            <a:pPr indent="0" lvl="0" marL="0" marR="0" rtl="0" algn="l">
              <a:lnSpc>
                <a:spcPct val="100000"/>
              </a:lnSpc>
              <a:spcBef>
                <a:spcPts val="0"/>
              </a:spcBef>
              <a:spcAft>
                <a:spcPts val="0"/>
              </a:spcAft>
              <a:buNone/>
            </a:pPr>
            <a:r>
              <a:rPr b="0" i="0" lang="en-US" sz="1050" u="none" cap="none" strike="noStrike">
                <a:solidFill>
                  <a:srgbClr val="9CDCFE"/>
                </a:solidFill>
                <a:latin typeface="Consolas"/>
                <a:ea typeface="Consolas"/>
                <a:cs typeface="Consolas"/>
                <a:sym typeface="Consolas"/>
              </a:rPr>
              <a:t>  m = max(m, abs(a[i] - b[i]));</a:t>
            </a:r>
            <a:endParaRPr/>
          </a:p>
        </p:txBody>
      </p:sp>
      <p:sp>
        <p:nvSpPr>
          <p:cNvPr id="842" name="Google Shape;842;p12"/>
          <p:cNvSpPr/>
          <p:nvPr/>
        </p:nvSpPr>
        <p:spPr>
          <a:xfrm>
            <a:off x="4572000" y="2651760"/>
            <a:ext cx="4114800" cy="1051560"/>
          </a:xfrm>
          <a:prstGeom prst="roundRect">
            <a:avLst>
              <a:gd fmla="val 3500" name="adj"/>
            </a:avLst>
          </a:prstGeom>
          <a:solidFill>
            <a:srgbClr val="F5F5F6"/>
          </a:solidFill>
          <a:ln cap="flat" cmpd="sng" w="9525">
            <a:solidFill>
              <a:srgbClr val="E2E2E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43" name="Google Shape;843;p12"/>
          <p:cNvSpPr txBox="1"/>
          <p:nvPr/>
        </p:nvSpPr>
        <p:spPr>
          <a:xfrm>
            <a:off x="4727448" y="2743200"/>
            <a:ext cx="3803904" cy="86868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1300" u="none" cap="none" strike="noStrike">
                <a:solidFill>
                  <a:srgbClr val="500000"/>
                </a:solidFill>
                <a:latin typeface="Arial"/>
                <a:ea typeface="Arial"/>
                <a:cs typeface="Arial"/>
                <a:sym typeface="Arial"/>
              </a:rPr>
              <a:t>Memory bound</a:t>
            </a:r>
            <a:endParaRPr/>
          </a:p>
          <a:p>
            <a:pPr indent="0" lvl="0" marL="0" marR="0" rtl="0" algn="l">
              <a:lnSpc>
                <a:spcPct val="100000"/>
              </a:lnSpc>
              <a:spcBef>
                <a:spcPts val="300"/>
              </a:spcBef>
              <a:spcAft>
                <a:spcPts val="0"/>
              </a:spcAft>
              <a:buNone/>
            </a:pPr>
            <a:r>
              <a:rPr b="0" i="0" lang="en-US" sz="1050" u="none" cap="none" strike="noStrike">
                <a:solidFill>
                  <a:srgbClr val="2B2B2B"/>
                </a:solidFill>
                <a:latin typeface="Arial"/>
                <a:ea typeface="Arial"/>
                <a:cs typeface="Arial"/>
                <a:sym typeface="Arial"/>
              </a:rPr>
              <a:t>Speed is limited by how fast memory can feed the cores, so half the trips ≈ twice as fast.</a:t>
            </a:r>
            <a:endParaRPr/>
          </a:p>
        </p:txBody>
      </p:sp>
      <p:sp>
        <p:nvSpPr>
          <p:cNvPr id="844" name="Google Shape;844;p12"/>
          <p:cNvSpPr/>
          <p:nvPr/>
        </p:nvSpPr>
        <p:spPr>
          <a:xfrm>
            <a:off x="457200" y="3931920"/>
            <a:ext cx="8229600" cy="457200"/>
          </a:xfrm>
          <a:prstGeom prst="roundRect">
            <a:avLst>
              <a:gd fmla="val 3500" name="adj"/>
            </a:avLst>
          </a:prstGeom>
          <a:solidFill>
            <a:srgbClr val="1B1B1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45" name="Google Shape;845;p12"/>
          <p:cNvSpPr txBox="1"/>
          <p:nvPr/>
        </p:nvSpPr>
        <p:spPr>
          <a:xfrm>
            <a:off x="621792" y="3931920"/>
            <a:ext cx="7955279" cy="457200"/>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1" i="0" lang="en-US" sz="1200" u="none" cap="none" strike="noStrike">
                <a:solidFill>
                  <a:srgbClr val="76B900"/>
                </a:solidFill>
                <a:latin typeface="Arial"/>
                <a:ea typeface="Arial"/>
                <a:cs typeface="Arial"/>
                <a:sym typeface="Arial"/>
              </a:rPr>
              <a:t>Goal: </a:t>
            </a:r>
            <a:r>
              <a:rPr b="0" i="0" lang="en-US" sz="1200" u="none" cap="none" strike="noStrike">
                <a:solidFill>
                  <a:srgbClr val="FFFFFF"/>
                </a:solidFill>
                <a:latin typeface="Arial"/>
                <a:ea typeface="Arial"/>
                <a:cs typeface="Arial"/>
                <a:sym typeface="Arial"/>
              </a:rPr>
              <a:t>get the for-loop's 2n trips while still using library algorithms.</a:t>
            </a:r>
            <a:endParaRPr/>
          </a:p>
        </p:txBody>
      </p:sp>
      <p:sp>
        <p:nvSpPr>
          <p:cNvPr id="846" name="Google Shape;846;p12"/>
          <p:cNvSpPr/>
          <p:nvPr/>
        </p:nvSpPr>
        <p:spPr>
          <a:xfrm>
            <a:off x="636879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12"/>
          <p:cNvSpPr/>
          <p:nvPr/>
        </p:nvSpPr>
        <p:spPr>
          <a:xfrm>
            <a:off x="644194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12"/>
          <p:cNvSpPr/>
          <p:nvPr/>
        </p:nvSpPr>
        <p:spPr>
          <a:xfrm>
            <a:off x="6515100"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12"/>
          <p:cNvSpPr/>
          <p:nvPr/>
        </p:nvSpPr>
        <p:spPr>
          <a:xfrm>
            <a:off x="6588252"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12"/>
          <p:cNvSpPr/>
          <p:nvPr/>
        </p:nvSpPr>
        <p:spPr>
          <a:xfrm>
            <a:off x="6661404"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12"/>
          <p:cNvSpPr/>
          <p:nvPr/>
        </p:nvSpPr>
        <p:spPr>
          <a:xfrm>
            <a:off x="673455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12"/>
          <p:cNvSpPr/>
          <p:nvPr/>
        </p:nvSpPr>
        <p:spPr>
          <a:xfrm>
            <a:off x="680770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12"/>
          <p:cNvSpPr/>
          <p:nvPr/>
        </p:nvSpPr>
        <p:spPr>
          <a:xfrm>
            <a:off x="6880860"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12"/>
          <p:cNvSpPr/>
          <p:nvPr/>
        </p:nvSpPr>
        <p:spPr>
          <a:xfrm>
            <a:off x="6954012"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12"/>
          <p:cNvSpPr/>
          <p:nvPr/>
        </p:nvSpPr>
        <p:spPr>
          <a:xfrm>
            <a:off x="7027164"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12"/>
          <p:cNvSpPr/>
          <p:nvPr/>
        </p:nvSpPr>
        <p:spPr>
          <a:xfrm>
            <a:off x="710031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12"/>
          <p:cNvSpPr/>
          <p:nvPr/>
        </p:nvSpPr>
        <p:spPr>
          <a:xfrm>
            <a:off x="717346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12"/>
          <p:cNvSpPr/>
          <p:nvPr/>
        </p:nvSpPr>
        <p:spPr>
          <a:xfrm>
            <a:off x="7246620"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12"/>
          <p:cNvSpPr/>
          <p:nvPr/>
        </p:nvSpPr>
        <p:spPr>
          <a:xfrm>
            <a:off x="7319772"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12"/>
          <p:cNvSpPr/>
          <p:nvPr/>
        </p:nvSpPr>
        <p:spPr>
          <a:xfrm>
            <a:off x="7392924" y="4901184"/>
            <a:ext cx="50292" cy="50292"/>
          </a:xfrm>
          <a:prstGeom prst="rect">
            <a:avLst/>
          </a:prstGeom>
          <a:solidFill>
            <a:srgbClr val="5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12"/>
          <p:cNvSpPr/>
          <p:nvPr/>
        </p:nvSpPr>
        <p:spPr>
          <a:xfrm>
            <a:off x="746607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12"/>
          <p:cNvSpPr/>
          <p:nvPr/>
        </p:nvSpPr>
        <p:spPr>
          <a:xfrm>
            <a:off x="753922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12"/>
          <p:cNvSpPr/>
          <p:nvPr/>
        </p:nvSpPr>
        <p:spPr>
          <a:xfrm>
            <a:off x="7612380"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12"/>
          <p:cNvSpPr/>
          <p:nvPr/>
        </p:nvSpPr>
        <p:spPr>
          <a:xfrm>
            <a:off x="768553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12"/>
          <p:cNvSpPr/>
          <p:nvPr/>
        </p:nvSpPr>
        <p:spPr>
          <a:xfrm>
            <a:off x="775868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12"/>
          <p:cNvSpPr/>
          <p:nvPr/>
        </p:nvSpPr>
        <p:spPr>
          <a:xfrm>
            <a:off x="783183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12"/>
          <p:cNvSpPr/>
          <p:nvPr/>
        </p:nvSpPr>
        <p:spPr>
          <a:xfrm>
            <a:off x="790498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12"/>
          <p:cNvSpPr/>
          <p:nvPr/>
        </p:nvSpPr>
        <p:spPr>
          <a:xfrm>
            <a:off x="7978140"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12"/>
          <p:cNvSpPr/>
          <p:nvPr/>
        </p:nvSpPr>
        <p:spPr>
          <a:xfrm>
            <a:off x="805129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12"/>
          <p:cNvSpPr/>
          <p:nvPr/>
        </p:nvSpPr>
        <p:spPr>
          <a:xfrm>
            <a:off x="812444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12"/>
          <p:cNvSpPr/>
          <p:nvPr/>
        </p:nvSpPr>
        <p:spPr>
          <a:xfrm>
            <a:off x="819759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12"/>
          <p:cNvSpPr/>
          <p:nvPr/>
        </p:nvSpPr>
        <p:spPr>
          <a:xfrm>
            <a:off x="827074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12"/>
          <p:cNvSpPr/>
          <p:nvPr/>
        </p:nvSpPr>
        <p:spPr>
          <a:xfrm>
            <a:off x="8343900"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12"/>
          <p:cNvSpPr/>
          <p:nvPr/>
        </p:nvSpPr>
        <p:spPr>
          <a:xfrm>
            <a:off x="841705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12"/>
          <p:cNvSpPr/>
          <p:nvPr/>
        </p:nvSpPr>
        <p:spPr>
          <a:xfrm>
            <a:off x="849020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12"/>
          <p:cNvSpPr/>
          <p:nvPr/>
        </p:nvSpPr>
        <p:spPr>
          <a:xfrm>
            <a:off x="856335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12"/>
          <p:cNvSpPr/>
          <p:nvPr/>
        </p:nvSpPr>
        <p:spPr>
          <a:xfrm>
            <a:off x="863650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12"/>
          <p:cNvSpPr txBox="1"/>
          <p:nvPr/>
        </p:nvSpPr>
        <p:spPr>
          <a:xfrm>
            <a:off x="5472684" y="4846320"/>
            <a:ext cx="822960" cy="15544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00" u="none" cap="none" strike="noStrike">
                <a:solidFill>
                  <a:srgbClr val="9A9AA0"/>
                </a:solidFill>
                <a:latin typeface="Consolas"/>
                <a:ea typeface="Consolas"/>
                <a:cs typeface="Consolas"/>
                <a:sym typeface="Consolas"/>
              </a:rPr>
              <a:t>slide[14]</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83" name="Shape 883"/>
        <p:cNvGrpSpPr/>
        <p:nvPr/>
      </p:nvGrpSpPr>
      <p:grpSpPr>
        <a:xfrm>
          <a:off x="0" y="0"/>
          <a:ext cx="0" cy="0"/>
          <a:chOff x="0" y="0"/>
          <a:chExt cx="0" cy="0"/>
        </a:xfrm>
      </p:grpSpPr>
      <p:sp>
        <p:nvSpPr>
          <p:cNvPr id="884" name="Google Shape;884;p13"/>
          <p:cNvSpPr txBox="1"/>
          <p:nvPr/>
        </p:nvSpPr>
        <p:spPr>
          <a:xfrm>
            <a:off x="457200" y="320040"/>
            <a:ext cx="8229600" cy="54864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2800" u="none" cap="none" strike="noStrike">
                <a:solidFill>
                  <a:srgbClr val="500000"/>
                </a:solidFill>
                <a:latin typeface="Arial"/>
                <a:ea typeface="Arial"/>
                <a:cs typeface="Arial"/>
                <a:sym typeface="Arial"/>
              </a:rPr>
              <a:t>Iterators: a pointer you get to program</a:t>
            </a:r>
            <a:endParaRPr/>
          </a:p>
        </p:txBody>
      </p:sp>
      <p:sp>
        <p:nvSpPr>
          <p:cNvPr id="885" name="Google Shape;885;p13"/>
          <p:cNvSpPr txBox="1"/>
          <p:nvPr/>
        </p:nvSpPr>
        <p:spPr>
          <a:xfrm>
            <a:off x="457200" y="868680"/>
            <a:ext cx="8229600" cy="27432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0" i="0" lang="en-US" sz="1200" u="none" cap="none" strike="noStrike">
                <a:solidFill>
                  <a:srgbClr val="6E6E6E"/>
                </a:solidFill>
                <a:latin typeface="Arial"/>
                <a:ea typeface="Arial"/>
                <a:cs typeface="Arial"/>
                <a:sym typeface="Arial"/>
              </a:rPr>
              <a:t>An iterator is anything you can index with [ ] or advance with ++</a:t>
            </a:r>
            <a:endParaRPr/>
          </a:p>
        </p:txBody>
      </p:sp>
      <p:sp>
        <p:nvSpPr>
          <p:cNvPr id="886" name="Google Shape;886;p13"/>
          <p:cNvSpPr/>
          <p:nvPr/>
        </p:nvSpPr>
        <p:spPr>
          <a:xfrm>
            <a:off x="457200" y="1234440"/>
            <a:ext cx="3931920" cy="1463040"/>
          </a:xfrm>
          <a:prstGeom prst="roundRect">
            <a:avLst>
              <a:gd fmla="val 3500" name="adj"/>
            </a:avLst>
          </a:prstGeom>
          <a:solidFill>
            <a:srgbClr val="1B1B1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87" name="Google Shape;887;p13"/>
          <p:cNvSpPr txBox="1"/>
          <p:nvPr/>
        </p:nvSpPr>
        <p:spPr>
          <a:xfrm>
            <a:off x="594360" y="1325880"/>
            <a:ext cx="3657600" cy="128016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0" i="0" lang="en-US" sz="1050" u="none" cap="none" strike="noStrike">
                <a:solidFill>
                  <a:srgbClr val="9CDCFE"/>
                </a:solidFill>
                <a:latin typeface="Consolas"/>
                <a:ea typeface="Consolas"/>
                <a:cs typeface="Consolas"/>
                <a:sym typeface="Consolas"/>
              </a:rPr>
              <a:t>std::array&lt;</a:t>
            </a:r>
            <a:r>
              <a:rPr b="0" i="0" lang="en-US" sz="1050" u="none" cap="none" strike="noStrike">
                <a:solidFill>
                  <a:srgbClr val="C586C0"/>
                </a:solidFill>
                <a:latin typeface="Consolas"/>
                <a:ea typeface="Consolas"/>
                <a:cs typeface="Consolas"/>
                <a:sym typeface="Consolas"/>
              </a:rPr>
              <a:t>int</a:t>
            </a:r>
            <a:r>
              <a:rPr b="0" i="0" lang="en-US" sz="1050" u="none" cap="none" strike="noStrike">
                <a:solidFill>
                  <a:srgbClr val="9CDCFE"/>
                </a:solidFill>
                <a:latin typeface="Consolas"/>
                <a:ea typeface="Consolas"/>
                <a:cs typeface="Consolas"/>
                <a:sym typeface="Consolas"/>
              </a:rPr>
              <a:t>, </a:t>
            </a:r>
            <a:r>
              <a:rPr b="0" i="0" lang="en-US" sz="1050" u="none" cap="none" strike="noStrike">
                <a:solidFill>
                  <a:srgbClr val="B5CEA8"/>
                </a:solidFill>
                <a:latin typeface="Consolas"/>
                <a:ea typeface="Consolas"/>
                <a:cs typeface="Consolas"/>
                <a:sym typeface="Consolas"/>
              </a:rPr>
              <a:t>3</a:t>
            </a:r>
            <a:r>
              <a:rPr b="0" i="0" lang="en-US" sz="1050" u="none" cap="none" strike="noStrike">
                <a:solidFill>
                  <a:srgbClr val="9CDCFE"/>
                </a:solidFill>
                <a:latin typeface="Consolas"/>
                <a:ea typeface="Consolas"/>
                <a:cs typeface="Consolas"/>
                <a:sym typeface="Consolas"/>
              </a:rPr>
              <a:t>&gt; a{</a:t>
            </a:r>
            <a:r>
              <a:rPr b="0" i="0" lang="en-US" sz="1050" u="none" cap="none" strike="noStrike">
                <a:solidFill>
                  <a:srgbClr val="B5CEA8"/>
                </a:solidFill>
                <a:latin typeface="Consolas"/>
                <a:ea typeface="Consolas"/>
                <a:cs typeface="Consolas"/>
                <a:sym typeface="Consolas"/>
              </a:rPr>
              <a:t>0</a:t>
            </a:r>
            <a:r>
              <a:rPr b="0" i="0" lang="en-US" sz="1050" u="none" cap="none" strike="noStrike">
                <a:solidFill>
                  <a:srgbClr val="9CDCFE"/>
                </a:solidFill>
                <a:latin typeface="Consolas"/>
                <a:ea typeface="Consolas"/>
                <a:cs typeface="Consolas"/>
                <a:sym typeface="Consolas"/>
              </a:rPr>
              <a:t>, </a:t>
            </a:r>
            <a:r>
              <a:rPr b="0" i="0" lang="en-US" sz="1050" u="none" cap="none" strike="noStrike">
                <a:solidFill>
                  <a:srgbClr val="B5CEA8"/>
                </a:solidFill>
                <a:latin typeface="Consolas"/>
                <a:ea typeface="Consolas"/>
                <a:cs typeface="Consolas"/>
                <a:sym typeface="Consolas"/>
              </a:rPr>
              <a:t>1</a:t>
            </a:r>
            <a:r>
              <a:rPr b="0" i="0" lang="en-US" sz="1050" u="none" cap="none" strike="noStrike">
                <a:solidFill>
                  <a:srgbClr val="9CDCFE"/>
                </a:solidFill>
                <a:latin typeface="Consolas"/>
                <a:ea typeface="Consolas"/>
                <a:cs typeface="Consolas"/>
                <a:sym typeface="Consolas"/>
              </a:rPr>
              <a:t>, </a:t>
            </a:r>
            <a:r>
              <a:rPr b="0" i="0" lang="en-US" sz="1050" u="none" cap="none" strike="noStrike">
                <a:solidFill>
                  <a:srgbClr val="B5CEA8"/>
                </a:solidFill>
                <a:latin typeface="Consolas"/>
                <a:ea typeface="Consolas"/>
                <a:cs typeface="Consolas"/>
                <a:sym typeface="Consolas"/>
              </a:rPr>
              <a:t>2</a:t>
            </a:r>
            <a:r>
              <a:rPr b="0" i="0" lang="en-US" sz="1050" u="none" cap="none" strike="noStrike">
                <a:solidFill>
                  <a:srgbClr val="9CDCFE"/>
                </a:solidFill>
                <a:latin typeface="Consolas"/>
                <a:ea typeface="Consolas"/>
                <a:cs typeface="Consolas"/>
                <a:sym typeface="Consolas"/>
              </a:rPr>
              <a:t>};</a:t>
            </a:r>
            <a:endParaRPr/>
          </a:p>
          <a:p>
            <a:pPr indent="0" lvl="0" marL="0" marR="0" rtl="0" algn="l">
              <a:lnSpc>
                <a:spcPct val="100000"/>
              </a:lnSpc>
              <a:spcBef>
                <a:spcPts val="0"/>
              </a:spcBef>
              <a:spcAft>
                <a:spcPts val="0"/>
              </a:spcAft>
              <a:buNone/>
            </a:pPr>
            <a:r>
              <a:rPr b="0" i="0" lang="en-US" sz="1050" u="none" cap="none" strike="noStrike">
                <a:solidFill>
                  <a:srgbClr val="C586C0"/>
                </a:solidFill>
                <a:latin typeface="Consolas"/>
                <a:ea typeface="Consolas"/>
                <a:cs typeface="Consolas"/>
                <a:sym typeface="Consolas"/>
              </a:rPr>
              <a:t>int</a:t>
            </a:r>
            <a:r>
              <a:rPr b="0" i="0" lang="en-US" sz="1050" u="none" cap="none" strike="noStrike">
                <a:solidFill>
                  <a:srgbClr val="9CDCFE"/>
                </a:solidFill>
                <a:latin typeface="Consolas"/>
                <a:ea typeface="Consolas"/>
                <a:cs typeface="Consolas"/>
                <a:sym typeface="Consolas"/>
              </a:rPr>
              <a:t>* pointer = a.data();</a:t>
            </a:r>
            <a:endParaRPr/>
          </a:p>
          <a:p>
            <a:pPr indent="0" lvl="0" marL="0" marR="0" rtl="0" algn="l">
              <a:lnSpc>
                <a:spcPct val="100000"/>
              </a:lnSpc>
              <a:spcBef>
                <a:spcPts val="0"/>
              </a:spcBef>
              <a:spcAft>
                <a:spcPts val="0"/>
              </a:spcAft>
              <a:buNone/>
            </a:pPr>
            <a:r>
              <a:rPr b="0" i="0" lang="en-US" sz="1050" u="none" cap="none" strike="noStrike">
                <a:solidFill>
                  <a:srgbClr val="2B2B2B"/>
                </a:solidFill>
                <a:latin typeface="Consolas"/>
                <a:ea typeface="Consolas"/>
                <a:cs typeface="Consolas"/>
                <a:sym typeface="Consolas"/>
              </a:rPr>
              <a:t> </a:t>
            </a:r>
            <a:endParaRPr/>
          </a:p>
          <a:p>
            <a:pPr indent="0" lvl="0" marL="0" marR="0" rtl="0" algn="l">
              <a:lnSpc>
                <a:spcPct val="100000"/>
              </a:lnSpc>
              <a:spcBef>
                <a:spcPts val="0"/>
              </a:spcBef>
              <a:spcAft>
                <a:spcPts val="0"/>
              </a:spcAft>
              <a:buNone/>
            </a:pPr>
            <a:r>
              <a:rPr b="0" i="0" lang="en-US" sz="1050" u="none" cap="none" strike="noStrike">
                <a:solidFill>
                  <a:srgbClr val="9CDCFE"/>
                </a:solidFill>
                <a:latin typeface="Consolas"/>
                <a:ea typeface="Consolas"/>
                <a:cs typeface="Consolas"/>
                <a:sym typeface="Consolas"/>
              </a:rPr>
              <a:t>pointer[</a:t>
            </a:r>
            <a:r>
              <a:rPr b="0" i="0" lang="en-US" sz="1050" u="none" cap="none" strike="noStrike">
                <a:solidFill>
                  <a:srgbClr val="B5CEA8"/>
                </a:solidFill>
                <a:latin typeface="Consolas"/>
                <a:ea typeface="Consolas"/>
                <a:cs typeface="Consolas"/>
                <a:sym typeface="Consolas"/>
              </a:rPr>
              <a:t>0</a:t>
            </a:r>
            <a:r>
              <a:rPr b="0" i="0" lang="en-US" sz="1050" u="none" cap="none" strike="noStrike">
                <a:solidFill>
                  <a:srgbClr val="9CDCFE"/>
                </a:solidFill>
                <a:latin typeface="Consolas"/>
                <a:ea typeface="Consolas"/>
                <a:cs typeface="Consolas"/>
                <a:sym typeface="Consolas"/>
              </a:rPr>
              <a:t>];   </a:t>
            </a:r>
            <a:r>
              <a:rPr b="0" i="0" lang="en-US" sz="1050" u="none" cap="none" strike="noStrike">
                <a:solidFill>
                  <a:srgbClr val="6A9955"/>
                </a:solidFill>
                <a:latin typeface="Consolas"/>
                <a:ea typeface="Consolas"/>
                <a:cs typeface="Consolas"/>
                <a:sym typeface="Consolas"/>
              </a:rPr>
              <a:t>// 0  (reads memory)</a:t>
            </a:r>
            <a:endParaRPr/>
          </a:p>
          <a:p>
            <a:pPr indent="0" lvl="0" marL="0" marR="0" rtl="0" algn="l">
              <a:lnSpc>
                <a:spcPct val="100000"/>
              </a:lnSpc>
              <a:spcBef>
                <a:spcPts val="0"/>
              </a:spcBef>
              <a:spcAft>
                <a:spcPts val="0"/>
              </a:spcAft>
              <a:buNone/>
            </a:pPr>
            <a:r>
              <a:rPr b="0" i="0" lang="en-US" sz="1050" u="none" cap="none" strike="noStrike">
                <a:solidFill>
                  <a:srgbClr val="9CDCFE"/>
                </a:solidFill>
                <a:latin typeface="Consolas"/>
                <a:ea typeface="Consolas"/>
                <a:cs typeface="Consolas"/>
                <a:sym typeface="Consolas"/>
              </a:rPr>
              <a:t>pointer[</a:t>
            </a:r>
            <a:r>
              <a:rPr b="0" i="0" lang="en-US" sz="1050" u="none" cap="none" strike="noStrike">
                <a:solidFill>
                  <a:srgbClr val="B5CEA8"/>
                </a:solidFill>
                <a:latin typeface="Consolas"/>
                <a:ea typeface="Consolas"/>
                <a:cs typeface="Consolas"/>
                <a:sym typeface="Consolas"/>
              </a:rPr>
              <a:t>1</a:t>
            </a:r>
            <a:r>
              <a:rPr b="0" i="0" lang="en-US" sz="1050" u="none" cap="none" strike="noStrike">
                <a:solidFill>
                  <a:srgbClr val="9CDCFE"/>
                </a:solidFill>
                <a:latin typeface="Consolas"/>
                <a:ea typeface="Consolas"/>
                <a:cs typeface="Consolas"/>
                <a:sym typeface="Consolas"/>
              </a:rPr>
              <a:t>];   </a:t>
            </a:r>
            <a:r>
              <a:rPr b="0" i="0" lang="en-US" sz="1050" u="none" cap="none" strike="noStrike">
                <a:solidFill>
                  <a:srgbClr val="6A9955"/>
                </a:solidFill>
                <a:latin typeface="Consolas"/>
                <a:ea typeface="Consolas"/>
                <a:cs typeface="Consolas"/>
                <a:sym typeface="Consolas"/>
              </a:rPr>
              <a:t>// 1  (reads memory)</a:t>
            </a:r>
            <a:endParaRPr/>
          </a:p>
        </p:txBody>
      </p:sp>
      <p:sp>
        <p:nvSpPr>
          <p:cNvPr id="888" name="Google Shape;888;p13"/>
          <p:cNvSpPr/>
          <p:nvPr/>
        </p:nvSpPr>
        <p:spPr>
          <a:xfrm>
            <a:off x="4754880" y="1234440"/>
            <a:ext cx="3931920" cy="1463040"/>
          </a:xfrm>
          <a:prstGeom prst="roundRect">
            <a:avLst>
              <a:gd fmla="val 3500" name="adj"/>
            </a:avLst>
          </a:prstGeom>
          <a:solidFill>
            <a:srgbClr val="1B1B1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89" name="Google Shape;889;p13"/>
          <p:cNvSpPr txBox="1"/>
          <p:nvPr/>
        </p:nvSpPr>
        <p:spPr>
          <a:xfrm>
            <a:off x="4892040" y="1325880"/>
            <a:ext cx="3657600" cy="128016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0" i="0" lang="en-US" sz="1050" u="none" cap="none" strike="noStrike">
                <a:solidFill>
                  <a:srgbClr val="C586C0"/>
                </a:solidFill>
                <a:latin typeface="Consolas"/>
                <a:ea typeface="Consolas"/>
                <a:cs typeface="Consolas"/>
                <a:sym typeface="Consolas"/>
              </a:rPr>
              <a:t>struct</a:t>
            </a:r>
            <a:r>
              <a:rPr b="0" i="0" lang="en-US" sz="1050" u="none" cap="none" strike="noStrike">
                <a:solidFill>
                  <a:srgbClr val="9CDCFE"/>
                </a:solidFill>
                <a:latin typeface="Consolas"/>
                <a:ea typeface="Consolas"/>
                <a:cs typeface="Consolas"/>
                <a:sym typeface="Consolas"/>
              </a:rPr>
              <a:t> counting_iterator {</a:t>
            </a:r>
            <a:endParaRPr/>
          </a:p>
          <a:p>
            <a:pPr indent="0" lvl="0" marL="0" marR="0" rtl="0" algn="l">
              <a:lnSpc>
                <a:spcPct val="100000"/>
              </a:lnSpc>
              <a:spcBef>
                <a:spcPts val="0"/>
              </a:spcBef>
              <a:spcAft>
                <a:spcPts val="0"/>
              </a:spcAft>
              <a:buNone/>
            </a:pPr>
            <a:r>
              <a:rPr b="1" i="0" lang="en-US" sz="1050" u="none" cap="none" strike="noStrike">
                <a:solidFill>
                  <a:srgbClr val="76B900"/>
                </a:solidFill>
                <a:latin typeface="Consolas"/>
                <a:ea typeface="Consolas"/>
                <a:cs typeface="Consolas"/>
                <a:sym typeface="Consolas"/>
              </a:rPr>
              <a:t>  </a:t>
            </a:r>
            <a:r>
              <a:rPr b="1" i="0" lang="en-US" sz="1050" u="none" cap="none" strike="noStrike">
                <a:solidFill>
                  <a:srgbClr val="C586C0"/>
                </a:solidFill>
                <a:latin typeface="Consolas"/>
                <a:ea typeface="Consolas"/>
                <a:cs typeface="Consolas"/>
                <a:sym typeface="Consolas"/>
              </a:rPr>
              <a:t>int</a:t>
            </a:r>
            <a:r>
              <a:rPr b="1" i="0" lang="en-US" sz="1050" u="none" cap="none" strike="noStrike">
                <a:solidFill>
                  <a:srgbClr val="76B900"/>
                </a:solidFill>
                <a:latin typeface="Consolas"/>
                <a:ea typeface="Consolas"/>
                <a:cs typeface="Consolas"/>
                <a:sym typeface="Consolas"/>
              </a:rPr>
              <a:t> </a:t>
            </a:r>
            <a:r>
              <a:rPr b="1" i="0" lang="en-US" sz="1050" u="none" cap="none" strike="noStrike">
                <a:solidFill>
                  <a:srgbClr val="C586C0"/>
                </a:solidFill>
                <a:latin typeface="Consolas"/>
                <a:ea typeface="Consolas"/>
                <a:cs typeface="Consolas"/>
                <a:sym typeface="Consolas"/>
              </a:rPr>
              <a:t>operator</a:t>
            </a:r>
            <a:r>
              <a:rPr b="1" i="0" lang="en-US" sz="1050" u="none" cap="none" strike="noStrike">
                <a:solidFill>
                  <a:srgbClr val="76B900"/>
                </a:solidFill>
                <a:latin typeface="Consolas"/>
                <a:ea typeface="Consolas"/>
                <a:cs typeface="Consolas"/>
                <a:sym typeface="Consolas"/>
              </a:rPr>
              <a:t>[](</a:t>
            </a:r>
            <a:r>
              <a:rPr b="1" i="0" lang="en-US" sz="1050" u="none" cap="none" strike="noStrike">
                <a:solidFill>
                  <a:srgbClr val="C586C0"/>
                </a:solidFill>
                <a:latin typeface="Consolas"/>
                <a:ea typeface="Consolas"/>
                <a:cs typeface="Consolas"/>
                <a:sym typeface="Consolas"/>
              </a:rPr>
              <a:t>int</a:t>
            </a:r>
            <a:r>
              <a:rPr b="1" i="0" lang="en-US" sz="1050" u="none" cap="none" strike="noStrike">
                <a:solidFill>
                  <a:srgbClr val="76B900"/>
                </a:solidFill>
                <a:latin typeface="Consolas"/>
                <a:ea typeface="Consolas"/>
                <a:cs typeface="Consolas"/>
                <a:sym typeface="Consolas"/>
              </a:rPr>
              <a:t> i) { </a:t>
            </a:r>
            <a:r>
              <a:rPr b="1" i="0" lang="en-US" sz="1050" u="none" cap="none" strike="noStrike">
                <a:solidFill>
                  <a:srgbClr val="C586C0"/>
                </a:solidFill>
                <a:latin typeface="Consolas"/>
                <a:ea typeface="Consolas"/>
                <a:cs typeface="Consolas"/>
                <a:sym typeface="Consolas"/>
              </a:rPr>
              <a:t>return</a:t>
            </a:r>
            <a:r>
              <a:rPr b="1" i="0" lang="en-US" sz="1050" u="none" cap="none" strike="noStrike">
                <a:solidFill>
                  <a:srgbClr val="76B900"/>
                </a:solidFill>
                <a:latin typeface="Consolas"/>
                <a:ea typeface="Consolas"/>
                <a:cs typeface="Consolas"/>
                <a:sym typeface="Consolas"/>
              </a:rPr>
              <a:t> i; }</a:t>
            </a:r>
            <a:endParaRPr/>
          </a:p>
          <a:p>
            <a:pPr indent="0" lvl="0" marL="0" marR="0" rtl="0" algn="l">
              <a:lnSpc>
                <a:spcPct val="100000"/>
              </a:lnSpc>
              <a:spcBef>
                <a:spcPts val="0"/>
              </a:spcBef>
              <a:spcAft>
                <a:spcPts val="0"/>
              </a:spcAft>
              <a:buNone/>
            </a:pPr>
            <a:r>
              <a:rPr b="0" i="0" lang="en-US" sz="1050" u="none" cap="none" strike="noStrike">
                <a:solidFill>
                  <a:srgbClr val="9CDCFE"/>
                </a:solidFill>
                <a:latin typeface="Consolas"/>
                <a:ea typeface="Consolas"/>
                <a:cs typeface="Consolas"/>
                <a:sym typeface="Consolas"/>
              </a:rPr>
              <a:t>};</a:t>
            </a:r>
            <a:endParaRPr/>
          </a:p>
          <a:p>
            <a:pPr indent="0" lvl="0" marL="0" marR="0" rtl="0" algn="l">
              <a:lnSpc>
                <a:spcPct val="100000"/>
              </a:lnSpc>
              <a:spcBef>
                <a:spcPts val="0"/>
              </a:spcBef>
              <a:spcAft>
                <a:spcPts val="0"/>
              </a:spcAft>
              <a:buNone/>
            </a:pPr>
            <a:r>
              <a:rPr b="0" i="0" lang="en-US" sz="1050" u="none" cap="none" strike="noStrike">
                <a:solidFill>
                  <a:srgbClr val="2B2B2B"/>
                </a:solidFill>
                <a:latin typeface="Consolas"/>
                <a:ea typeface="Consolas"/>
                <a:cs typeface="Consolas"/>
                <a:sym typeface="Consolas"/>
              </a:rPr>
              <a:t> </a:t>
            </a:r>
            <a:endParaRPr/>
          </a:p>
          <a:p>
            <a:pPr indent="0" lvl="0" marL="0" marR="0" rtl="0" algn="l">
              <a:lnSpc>
                <a:spcPct val="100000"/>
              </a:lnSpc>
              <a:spcBef>
                <a:spcPts val="0"/>
              </a:spcBef>
              <a:spcAft>
                <a:spcPts val="0"/>
              </a:spcAft>
              <a:buNone/>
            </a:pPr>
            <a:r>
              <a:rPr b="0" i="0" lang="en-US" sz="1050" u="none" cap="none" strike="noStrike">
                <a:solidFill>
                  <a:srgbClr val="9CDCFE"/>
                </a:solidFill>
                <a:latin typeface="Consolas"/>
                <a:ea typeface="Consolas"/>
                <a:cs typeface="Consolas"/>
                <a:sym typeface="Consolas"/>
              </a:rPr>
              <a:t>counting_iterator it;</a:t>
            </a:r>
            <a:endParaRPr/>
          </a:p>
          <a:p>
            <a:pPr indent="0" lvl="0" marL="0" marR="0" rtl="0" algn="l">
              <a:lnSpc>
                <a:spcPct val="100000"/>
              </a:lnSpc>
              <a:spcBef>
                <a:spcPts val="0"/>
              </a:spcBef>
              <a:spcAft>
                <a:spcPts val="0"/>
              </a:spcAft>
              <a:buNone/>
            </a:pPr>
            <a:r>
              <a:rPr b="0" i="0" lang="en-US" sz="1050" u="none" cap="none" strike="noStrike">
                <a:solidFill>
                  <a:srgbClr val="9CDCFE"/>
                </a:solidFill>
                <a:latin typeface="Consolas"/>
                <a:ea typeface="Consolas"/>
                <a:cs typeface="Consolas"/>
                <a:sym typeface="Consolas"/>
              </a:rPr>
              <a:t>it[</a:t>
            </a:r>
            <a:r>
              <a:rPr b="0" i="0" lang="en-US" sz="1050" u="none" cap="none" strike="noStrike">
                <a:solidFill>
                  <a:srgbClr val="B5CEA8"/>
                </a:solidFill>
                <a:latin typeface="Consolas"/>
                <a:ea typeface="Consolas"/>
                <a:cs typeface="Consolas"/>
                <a:sym typeface="Consolas"/>
              </a:rPr>
              <a:t>0</a:t>
            </a:r>
            <a:r>
              <a:rPr b="0" i="0" lang="en-US" sz="1050" u="none" cap="none" strike="noStrike">
                <a:solidFill>
                  <a:srgbClr val="9CDCFE"/>
                </a:solidFill>
                <a:latin typeface="Consolas"/>
                <a:ea typeface="Consolas"/>
                <a:cs typeface="Consolas"/>
                <a:sym typeface="Consolas"/>
              </a:rPr>
              <a:t>];   </a:t>
            </a:r>
            <a:r>
              <a:rPr b="0" i="0" lang="en-US" sz="1050" u="none" cap="none" strike="noStrike">
                <a:solidFill>
                  <a:srgbClr val="6A9955"/>
                </a:solidFill>
                <a:latin typeface="Consolas"/>
                <a:ea typeface="Consolas"/>
                <a:cs typeface="Consolas"/>
                <a:sym typeface="Consolas"/>
              </a:rPr>
              <a:t>// 0  (no memory at all!)</a:t>
            </a:r>
            <a:endParaRPr/>
          </a:p>
          <a:p>
            <a:pPr indent="0" lvl="0" marL="0" marR="0" rtl="0" algn="l">
              <a:lnSpc>
                <a:spcPct val="100000"/>
              </a:lnSpc>
              <a:spcBef>
                <a:spcPts val="0"/>
              </a:spcBef>
              <a:spcAft>
                <a:spcPts val="0"/>
              </a:spcAft>
              <a:buNone/>
            </a:pPr>
            <a:r>
              <a:rPr b="0" i="0" lang="en-US" sz="1050" u="none" cap="none" strike="noStrike">
                <a:solidFill>
                  <a:srgbClr val="9CDCFE"/>
                </a:solidFill>
                <a:latin typeface="Consolas"/>
                <a:ea typeface="Consolas"/>
                <a:cs typeface="Consolas"/>
                <a:sym typeface="Consolas"/>
              </a:rPr>
              <a:t>it[</a:t>
            </a:r>
            <a:r>
              <a:rPr b="0" i="0" lang="en-US" sz="1050" u="none" cap="none" strike="noStrike">
                <a:solidFill>
                  <a:srgbClr val="B5CEA8"/>
                </a:solidFill>
                <a:latin typeface="Consolas"/>
                <a:ea typeface="Consolas"/>
                <a:cs typeface="Consolas"/>
                <a:sym typeface="Consolas"/>
              </a:rPr>
              <a:t>1</a:t>
            </a:r>
            <a:r>
              <a:rPr b="0" i="0" lang="en-US" sz="1050" u="none" cap="none" strike="noStrike">
                <a:solidFill>
                  <a:srgbClr val="9CDCFE"/>
                </a:solidFill>
                <a:latin typeface="Consolas"/>
                <a:ea typeface="Consolas"/>
                <a:cs typeface="Consolas"/>
                <a:sym typeface="Consolas"/>
              </a:rPr>
              <a:t>];   </a:t>
            </a:r>
            <a:r>
              <a:rPr b="0" i="0" lang="en-US" sz="1050" u="none" cap="none" strike="noStrike">
                <a:solidFill>
                  <a:srgbClr val="6A9955"/>
                </a:solidFill>
                <a:latin typeface="Consolas"/>
                <a:ea typeface="Consolas"/>
                <a:cs typeface="Consolas"/>
                <a:sym typeface="Consolas"/>
              </a:rPr>
              <a:t>// 1</a:t>
            </a:r>
            <a:endParaRPr/>
          </a:p>
        </p:txBody>
      </p:sp>
      <p:sp>
        <p:nvSpPr>
          <p:cNvPr id="890" name="Google Shape;890;p13"/>
          <p:cNvSpPr txBox="1"/>
          <p:nvPr/>
        </p:nvSpPr>
        <p:spPr>
          <a:xfrm>
            <a:off x="457200" y="2788920"/>
            <a:ext cx="3931920" cy="27432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1200" u="none" cap="none" strike="noStrike">
                <a:solidFill>
                  <a:srgbClr val="500000"/>
                </a:solidFill>
                <a:latin typeface="Arial"/>
                <a:ea typeface="Arial"/>
                <a:cs typeface="Arial"/>
                <a:sym typeface="Arial"/>
              </a:rPr>
              <a:t>A pointer reads values stored in memory</a:t>
            </a:r>
            <a:endParaRPr/>
          </a:p>
        </p:txBody>
      </p:sp>
      <p:sp>
        <p:nvSpPr>
          <p:cNvPr id="891" name="Google Shape;891;p13"/>
          <p:cNvSpPr txBox="1"/>
          <p:nvPr/>
        </p:nvSpPr>
        <p:spPr>
          <a:xfrm>
            <a:off x="4754880" y="2788920"/>
            <a:ext cx="3931920" cy="27432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1200" u="none" cap="none" strike="noStrike">
                <a:solidFill>
                  <a:srgbClr val="4E7A00"/>
                </a:solidFill>
                <a:latin typeface="Arial"/>
                <a:ea typeface="Arial"/>
                <a:cs typeface="Arial"/>
                <a:sym typeface="Arial"/>
              </a:rPr>
              <a:t>A counting iterator computes them</a:t>
            </a:r>
            <a:endParaRPr/>
          </a:p>
        </p:txBody>
      </p:sp>
      <p:sp>
        <p:nvSpPr>
          <p:cNvPr id="892" name="Google Shape;892;p13"/>
          <p:cNvSpPr/>
          <p:nvPr/>
        </p:nvSpPr>
        <p:spPr>
          <a:xfrm>
            <a:off x="457200" y="3291840"/>
            <a:ext cx="8229600" cy="457200"/>
          </a:xfrm>
          <a:prstGeom prst="roundRect">
            <a:avLst>
              <a:gd fmla="val 3500" name="adj"/>
            </a:avLst>
          </a:prstGeom>
          <a:solidFill>
            <a:srgbClr val="1B1B1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93" name="Google Shape;893;p13"/>
          <p:cNvSpPr txBox="1"/>
          <p:nvPr/>
        </p:nvSpPr>
        <p:spPr>
          <a:xfrm>
            <a:off x="621792" y="3291840"/>
            <a:ext cx="7955279" cy="457200"/>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C++ lets us redefine </a:t>
            </a:r>
            <a:r>
              <a:rPr b="1" i="0" lang="en-US" sz="1200" u="none" cap="none" strike="noStrike">
                <a:solidFill>
                  <a:srgbClr val="76B900"/>
                </a:solidFill>
                <a:latin typeface="Consolas"/>
                <a:ea typeface="Consolas"/>
                <a:cs typeface="Consolas"/>
                <a:sym typeface="Consolas"/>
              </a:rPr>
              <a:t>operator[]</a:t>
            </a:r>
            <a:r>
              <a:rPr b="0" i="0" lang="en-US" sz="1200" u="none" cap="none" strike="noStrike">
                <a:solidFill>
                  <a:srgbClr val="FFFFFF"/>
                </a:solidFill>
                <a:latin typeface="Arial"/>
                <a:ea typeface="Arial"/>
                <a:cs typeface="Arial"/>
                <a:sym typeface="Arial"/>
              </a:rPr>
              <a:t>. So "reading" from an iterator can run any code we want.</a:t>
            </a:r>
            <a:endParaRPr/>
          </a:p>
        </p:txBody>
      </p:sp>
      <p:sp>
        <p:nvSpPr>
          <p:cNvPr id="894" name="Google Shape;894;p13"/>
          <p:cNvSpPr txBox="1"/>
          <p:nvPr/>
        </p:nvSpPr>
        <p:spPr>
          <a:xfrm>
            <a:off x="457200" y="3931920"/>
            <a:ext cx="8229600" cy="54864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0" i="0" lang="en-US" sz="1200" u="none" cap="none" strike="noStrike">
                <a:solidFill>
                  <a:srgbClr val="2B2B2B"/>
                </a:solidFill>
                <a:latin typeface="Arial"/>
                <a:ea typeface="Arial"/>
                <a:cs typeface="Arial"/>
                <a:sym typeface="Arial"/>
              </a:rPr>
              <a:t>An infinite sequence 0, 1, 2, 3, … without allocating a single byte.</a:t>
            </a:r>
            <a:endParaRPr/>
          </a:p>
        </p:txBody>
      </p:sp>
      <p:sp>
        <p:nvSpPr>
          <p:cNvPr id="895" name="Google Shape;895;p13"/>
          <p:cNvSpPr/>
          <p:nvPr/>
        </p:nvSpPr>
        <p:spPr>
          <a:xfrm>
            <a:off x="636879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13"/>
          <p:cNvSpPr/>
          <p:nvPr/>
        </p:nvSpPr>
        <p:spPr>
          <a:xfrm>
            <a:off x="644194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13"/>
          <p:cNvSpPr/>
          <p:nvPr/>
        </p:nvSpPr>
        <p:spPr>
          <a:xfrm>
            <a:off x="6515100"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13"/>
          <p:cNvSpPr/>
          <p:nvPr/>
        </p:nvSpPr>
        <p:spPr>
          <a:xfrm>
            <a:off x="6588252"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13"/>
          <p:cNvSpPr/>
          <p:nvPr/>
        </p:nvSpPr>
        <p:spPr>
          <a:xfrm>
            <a:off x="6661404"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13"/>
          <p:cNvSpPr/>
          <p:nvPr/>
        </p:nvSpPr>
        <p:spPr>
          <a:xfrm>
            <a:off x="673455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13"/>
          <p:cNvSpPr/>
          <p:nvPr/>
        </p:nvSpPr>
        <p:spPr>
          <a:xfrm>
            <a:off x="680770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13"/>
          <p:cNvSpPr/>
          <p:nvPr/>
        </p:nvSpPr>
        <p:spPr>
          <a:xfrm>
            <a:off x="6880860"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13"/>
          <p:cNvSpPr/>
          <p:nvPr/>
        </p:nvSpPr>
        <p:spPr>
          <a:xfrm>
            <a:off x="6954012"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13"/>
          <p:cNvSpPr/>
          <p:nvPr/>
        </p:nvSpPr>
        <p:spPr>
          <a:xfrm>
            <a:off x="7027164"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13"/>
          <p:cNvSpPr/>
          <p:nvPr/>
        </p:nvSpPr>
        <p:spPr>
          <a:xfrm>
            <a:off x="710031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13"/>
          <p:cNvSpPr/>
          <p:nvPr/>
        </p:nvSpPr>
        <p:spPr>
          <a:xfrm>
            <a:off x="717346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13"/>
          <p:cNvSpPr/>
          <p:nvPr/>
        </p:nvSpPr>
        <p:spPr>
          <a:xfrm>
            <a:off x="7246620"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13"/>
          <p:cNvSpPr/>
          <p:nvPr/>
        </p:nvSpPr>
        <p:spPr>
          <a:xfrm>
            <a:off x="7319772"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13"/>
          <p:cNvSpPr/>
          <p:nvPr/>
        </p:nvSpPr>
        <p:spPr>
          <a:xfrm>
            <a:off x="7392924"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13"/>
          <p:cNvSpPr/>
          <p:nvPr/>
        </p:nvSpPr>
        <p:spPr>
          <a:xfrm>
            <a:off x="7466076" y="4901184"/>
            <a:ext cx="50292" cy="50292"/>
          </a:xfrm>
          <a:prstGeom prst="rect">
            <a:avLst/>
          </a:prstGeom>
          <a:solidFill>
            <a:srgbClr val="5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13"/>
          <p:cNvSpPr/>
          <p:nvPr/>
        </p:nvSpPr>
        <p:spPr>
          <a:xfrm>
            <a:off x="753922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13"/>
          <p:cNvSpPr/>
          <p:nvPr/>
        </p:nvSpPr>
        <p:spPr>
          <a:xfrm>
            <a:off x="7612380"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13"/>
          <p:cNvSpPr/>
          <p:nvPr/>
        </p:nvSpPr>
        <p:spPr>
          <a:xfrm>
            <a:off x="768553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13"/>
          <p:cNvSpPr/>
          <p:nvPr/>
        </p:nvSpPr>
        <p:spPr>
          <a:xfrm>
            <a:off x="775868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13"/>
          <p:cNvSpPr/>
          <p:nvPr/>
        </p:nvSpPr>
        <p:spPr>
          <a:xfrm>
            <a:off x="783183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13"/>
          <p:cNvSpPr/>
          <p:nvPr/>
        </p:nvSpPr>
        <p:spPr>
          <a:xfrm>
            <a:off x="790498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13"/>
          <p:cNvSpPr/>
          <p:nvPr/>
        </p:nvSpPr>
        <p:spPr>
          <a:xfrm>
            <a:off x="7978140"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13"/>
          <p:cNvSpPr/>
          <p:nvPr/>
        </p:nvSpPr>
        <p:spPr>
          <a:xfrm>
            <a:off x="805129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13"/>
          <p:cNvSpPr/>
          <p:nvPr/>
        </p:nvSpPr>
        <p:spPr>
          <a:xfrm>
            <a:off x="812444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13"/>
          <p:cNvSpPr/>
          <p:nvPr/>
        </p:nvSpPr>
        <p:spPr>
          <a:xfrm>
            <a:off x="819759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13"/>
          <p:cNvSpPr/>
          <p:nvPr/>
        </p:nvSpPr>
        <p:spPr>
          <a:xfrm>
            <a:off x="827074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13"/>
          <p:cNvSpPr/>
          <p:nvPr/>
        </p:nvSpPr>
        <p:spPr>
          <a:xfrm>
            <a:off x="8343900"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13"/>
          <p:cNvSpPr/>
          <p:nvPr/>
        </p:nvSpPr>
        <p:spPr>
          <a:xfrm>
            <a:off x="841705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13"/>
          <p:cNvSpPr/>
          <p:nvPr/>
        </p:nvSpPr>
        <p:spPr>
          <a:xfrm>
            <a:off x="849020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13"/>
          <p:cNvSpPr/>
          <p:nvPr/>
        </p:nvSpPr>
        <p:spPr>
          <a:xfrm>
            <a:off x="856335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13"/>
          <p:cNvSpPr/>
          <p:nvPr/>
        </p:nvSpPr>
        <p:spPr>
          <a:xfrm>
            <a:off x="863650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13"/>
          <p:cNvSpPr txBox="1"/>
          <p:nvPr/>
        </p:nvSpPr>
        <p:spPr>
          <a:xfrm>
            <a:off x="5472684" y="4846320"/>
            <a:ext cx="822960" cy="15544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00" u="none" cap="none" strike="noStrike">
                <a:solidFill>
                  <a:srgbClr val="9A9AA0"/>
                </a:solidFill>
                <a:latin typeface="Consolas"/>
                <a:ea typeface="Consolas"/>
                <a:cs typeface="Consolas"/>
                <a:sym typeface="Consolas"/>
              </a:rPr>
              <a:t>slide[15]</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32" name="Shape 932"/>
        <p:cNvGrpSpPr/>
        <p:nvPr/>
      </p:nvGrpSpPr>
      <p:grpSpPr>
        <a:xfrm>
          <a:off x="0" y="0"/>
          <a:ext cx="0" cy="0"/>
          <a:chOff x="0" y="0"/>
          <a:chExt cx="0" cy="0"/>
        </a:xfrm>
      </p:grpSpPr>
      <p:sp>
        <p:nvSpPr>
          <p:cNvPr id="933" name="Google Shape;933;p14"/>
          <p:cNvSpPr txBox="1"/>
          <p:nvPr/>
        </p:nvSpPr>
        <p:spPr>
          <a:xfrm>
            <a:off x="457200" y="320040"/>
            <a:ext cx="8229600" cy="54864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2800" u="none" cap="none" strike="noStrike">
                <a:solidFill>
                  <a:srgbClr val="500000"/>
                </a:solidFill>
                <a:latin typeface="Arial"/>
                <a:ea typeface="Arial"/>
                <a:cs typeface="Arial"/>
                <a:sym typeface="Arial"/>
              </a:rPr>
              <a:t>Two more building blocks: transform and zip</a:t>
            </a:r>
            <a:endParaRPr/>
          </a:p>
        </p:txBody>
      </p:sp>
      <p:sp>
        <p:nvSpPr>
          <p:cNvPr id="934" name="Google Shape;934;p14"/>
          <p:cNvSpPr txBox="1"/>
          <p:nvPr/>
        </p:nvSpPr>
        <p:spPr>
          <a:xfrm>
            <a:off x="457200" y="868680"/>
            <a:ext cx="8229600" cy="27432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0" i="0" lang="en-US" sz="1200" u="none" cap="none" strike="noStrike">
                <a:solidFill>
                  <a:srgbClr val="6E6E6E"/>
                </a:solidFill>
                <a:latin typeface="Arial"/>
                <a:ea typeface="Arial"/>
                <a:cs typeface="Arial"/>
                <a:sym typeface="Arial"/>
              </a:rPr>
              <a:t>Hand-written versions, so you can see there is no magic</a:t>
            </a:r>
            <a:endParaRPr/>
          </a:p>
        </p:txBody>
      </p:sp>
      <p:sp>
        <p:nvSpPr>
          <p:cNvPr id="935" name="Google Shape;935;p14"/>
          <p:cNvSpPr txBox="1"/>
          <p:nvPr/>
        </p:nvSpPr>
        <p:spPr>
          <a:xfrm>
            <a:off x="457200" y="1188720"/>
            <a:ext cx="3931920" cy="27432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1200" u="none" cap="none" strike="noStrike">
                <a:solidFill>
                  <a:srgbClr val="500000"/>
                </a:solidFill>
                <a:latin typeface="Arial"/>
                <a:ea typeface="Arial"/>
                <a:cs typeface="Arial"/>
                <a:sym typeface="Arial"/>
              </a:rPr>
              <a:t>transform: apply a function on read</a:t>
            </a:r>
            <a:endParaRPr/>
          </a:p>
        </p:txBody>
      </p:sp>
      <p:sp>
        <p:nvSpPr>
          <p:cNvPr id="936" name="Google Shape;936;p14"/>
          <p:cNvSpPr/>
          <p:nvPr/>
        </p:nvSpPr>
        <p:spPr>
          <a:xfrm>
            <a:off x="457200" y="1481328"/>
            <a:ext cx="3931920" cy="1417320"/>
          </a:xfrm>
          <a:prstGeom prst="roundRect">
            <a:avLst>
              <a:gd fmla="val 3500" name="adj"/>
            </a:avLst>
          </a:prstGeom>
          <a:solidFill>
            <a:srgbClr val="1B1B1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37" name="Google Shape;937;p14"/>
          <p:cNvSpPr txBox="1"/>
          <p:nvPr/>
        </p:nvSpPr>
        <p:spPr>
          <a:xfrm>
            <a:off x="594360" y="1572768"/>
            <a:ext cx="3657600" cy="123444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0" i="0" lang="en-US" sz="1050" u="none" cap="none" strike="noStrike">
                <a:solidFill>
                  <a:srgbClr val="C586C0"/>
                </a:solidFill>
                <a:latin typeface="Consolas"/>
                <a:ea typeface="Consolas"/>
                <a:cs typeface="Consolas"/>
                <a:sym typeface="Consolas"/>
              </a:rPr>
              <a:t>struct</a:t>
            </a:r>
            <a:r>
              <a:rPr b="0" i="0" lang="en-US" sz="1050" u="none" cap="none" strike="noStrike">
                <a:solidFill>
                  <a:srgbClr val="9CDCFE"/>
                </a:solidFill>
                <a:latin typeface="Consolas"/>
                <a:ea typeface="Consolas"/>
                <a:cs typeface="Consolas"/>
                <a:sym typeface="Consolas"/>
              </a:rPr>
              <a:t> transform_iterator {</a:t>
            </a:r>
            <a:endParaRPr/>
          </a:p>
          <a:p>
            <a:pPr indent="0" lvl="0" marL="0" marR="0" rtl="0" algn="l">
              <a:lnSpc>
                <a:spcPct val="100000"/>
              </a:lnSpc>
              <a:spcBef>
                <a:spcPts val="0"/>
              </a:spcBef>
              <a:spcAft>
                <a:spcPts val="0"/>
              </a:spcAft>
              <a:buNone/>
            </a:pPr>
            <a:r>
              <a:rPr b="0" i="0" lang="en-US" sz="1050" u="none" cap="none" strike="noStrike">
                <a:solidFill>
                  <a:srgbClr val="9CDCFE"/>
                </a:solidFill>
                <a:latin typeface="Consolas"/>
                <a:ea typeface="Consolas"/>
                <a:cs typeface="Consolas"/>
                <a:sym typeface="Consolas"/>
              </a:rPr>
              <a:t>  </a:t>
            </a:r>
            <a:r>
              <a:rPr b="0" i="0" lang="en-US" sz="1050" u="none" cap="none" strike="noStrike">
                <a:solidFill>
                  <a:srgbClr val="C586C0"/>
                </a:solidFill>
                <a:latin typeface="Consolas"/>
                <a:ea typeface="Consolas"/>
                <a:cs typeface="Consolas"/>
                <a:sym typeface="Consolas"/>
              </a:rPr>
              <a:t>int</a:t>
            </a:r>
            <a:r>
              <a:rPr b="0" i="0" lang="en-US" sz="1050" u="none" cap="none" strike="noStrike">
                <a:solidFill>
                  <a:srgbClr val="9CDCFE"/>
                </a:solidFill>
                <a:latin typeface="Consolas"/>
                <a:ea typeface="Consolas"/>
                <a:cs typeface="Consolas"/>
                <a:sym typeface="Consolas"/>
              </a:rPr>
              <a:t>* a;</a:t>
            </a:r>
            <a:endParaRPr/>
          </a:p>
          <a:p>
            <a:pPr indent="0" lvl="0" marL="0" marR="0" rtl="0" algn="l">
              <a:lnSpc>
                <a:spcPct val="100000"/>
              </a:lnSpc>
              <a:spcBef>
                <a:spcPts val="0"/>
              </a:spcBef>
              <a:spcAft>
                <a:spcPts val="0"/>
              </a:spcAft>
              <a:buNone/>
            </a:pPr>
            <a:r>
              <a:rPr b="0" i="0" lang="en-US" sz="1050" u="none" cap="none" strike="noStrike">
                <a:solidFill>
                  <a:srgbClr val="9CDCFE"/>
                </a:solidFill>
                <a:latin typeface="Consolas"/>
                <a:ea typeface="Consolas"/>
                <a:cs typeface="Consolas"/>
                <a:sym typeface="Consolas"/>
              </a:rPr>
              <a:t>  </a:t>
            </a:r>
            <a:r>
              <a:rPr b="0" i="0" lang="en-US" sz="1050" u="none" cap="none" strike="noStrike">
                <a:solidFill>
                  <a:srgbClr val="C586C0"/>
                </a:solidFill>
                <a:latin typeface="Consolas"/>
                <a:ea typeface="Consolas"/>
                <a:cs typeface="Consolas"/>
                <a:sym typeface="Consolas"/>
              </a:rPr>
              <a:t>int</a:t>
            </a:r>
            <a:r>
              <a:rPr b="0" i="0" lang="en-US" sz="1050" u="none" cap="none" strike="noStrike">
                <a:solidFill>
                  <a:srgbClr val="9CDCFE"/>
                </a:solidFill>
                <a:latin typeface="Consolas"/>
                <a:ea typeface="Consolas"/>
                <a:cs typeface="Consolas"/>
                <a:sym typeface="Consolas"/>
              </a:rPr>
              <a:t> </a:t>
            </a:r>
            <a:r>
              <a:rPr b="0" i="0" lang="en-US" sz="1050" u="none" cap="none" strike="noStrike">
                <a:solidFill>
                  <a:srgbClr val="C586C0"/>
                </a:solidFill>
                <a:latin typeface="Consolas"/>
                <a:ea typeface="Consolas"/>
                <a:cs typeface="Consolas"/>
                <a:sym typeface="Consolas"/>
              </a:rPr>
              <a:t>operator</a:t>
            </a:r>
            <a:r>
              <a:rPr b="0" i="0" lang="en-US" sz="1050" u="none" cap="none" strike="noStrike">
                <a:solidFill>
                  <a:srgbClr val="9CDCFE"/>
                </a:solidFill>
                <a:latin typeface="Consolas"/>
                <a:ea typeface="Consolas"/>
                <a:cs typeface="Consolas"/>
                <a:sym typeface="Consolas"/>
              </a:rPr>
              <a:t>[](</a:t>
            </a:r>
            <a:r>
              <a:rPr b="0" i="0" lang="en-US" sz="1050" u="none" cap="none" strike="noStrike">
                <a:solidFill>
                  <a:srgbClr val="C586C0"/>
                </a:solidFill>
                <a:latin typeface="Consolas"/>
                <a:ea typeface="Consolas"/>
                <a:cs typeface="Consolas"/>
                <a:sym typeface="Consolas"/>
              </a:rPr>
              <a:t>int</a:t>
            </a:r>
            <a:r>
              <a:rPr b="0" i="0" lang="en-US" sz="1050" u="none" cap="none" strike="noStrike">
                <a:solidFill>
                  <a:srgbClr val="9CDCFE"/>
                </a:solidFill>
                <a:latin typeface="Consolas"/>
                <a:ea typeface="Consolas"/>
                <a:cs typeface="Consolas"/>
                <a:sym typeface="Consolas"/>
              </a:rPr>
              <a:t> i) {</a:t>
            </a:r>
            <a:endParaRPr/>
          </a:p>
          <a:p>
            <a:pPr indent="0" lvl="0" marL="0" marR="0" rtl="0" algn="l">
              <a:lnSpc>
                <a:spcPct val="100000"/>
              </a:lnSpc>
              <a:spcBef>
                <a:spcPts val="0"/>
              </a:spcBef>
              <a:spcAft>
                <a:spcPts val="0"/>
              </a:spcAft>
              <a:buNone/>
            </a:pPr>
            <a:r>
              <a:rPr b="1" i="0" lang="en-US" sz="1050" u="none" cap="none" strike="noStrike">
                <a:solidFill>
                  <a:srgbClr val="76B900"/>
                </a:solidFill>
                <a:latin typeface="Consolas"/>
                <a:ea typeface="Consolas"/>
                <a:cs typeface="Consolas"/>
                <a:sym typeface="Consolas"/>
              </a:rPr>
              <a:t>    </a:t>
            </a:r>
            <a:r>
              <a:rPr b="1" i="0" lang="en-US" sz="1050" u="none" cap="none" strike="noStrike">
                <a:solidFill>
                  <a:srgbClr val="C586C0"/>
                </a:solidFill>
                <a:latin typeface="Consolas"/>
                <a:ea typeface="Consolas"/>
                <a:cs typeface="Consolas"/>
                <a:sym typeface="Consolas"/>
              </a:rPr>
              <a:t>return</a:t>
            </a:r>
            <a:r>
              <a:rPr b="1" i="0" lang="en-US" sz="1050" u="none" cap="none" strike="noStrike">
                <a:solidFill>
                  <a:srgbClr val="76B900"/>
                </a:solidFill>
                <a:latin typeface="Consolas"/>
                <a:ea typeface="Consolas"/>
                <a:cs typeface="Consolas"/>
                <a:sym typeface="Consolas"/>
              </a:rPr>
              <a:t> a[i] * </a:t>
            </a:r>
            <a:r>
              <a:rPr b="1" i="0" lang="en-US" sz="1050" u="none" cap="none" strike="noStrike">
                <a:solidFill>
                  <a:srgbClr val="B5CEA8"/>
                </a:solidFill>
                <a:latin typeface="Consolas"/>
                <a:ea typeface="Consolas"/>
                <a:cs typeface="Consolas"/>
                <a:sym typeface="Consolas"/>
              </a:rPr>
              <a:t>2</a:t>
            </a:r>
            <a:r>
              <a:rPr b="1" i="0" lang="en-US" sz="1050" u="none" cap="none" strike="noStrike">
                <a:solidFill>
                  <a:srgbClr val="76B900"/>
                </a:solidFill>
                <a:latin typeface="Consolas"/>
                <a:ea typeface="Consolas"/>
                <a:cs typeface="Consolas"/>
                <a:sym typeface="Consolas"/>
              </a:rPr>
              <a:t>;</a:t>
            </a:r>
            <a:endParaRPr/>
          </a:p>
          <a:p>
            <a:pPr indent="0" lvl="0" marL="0" marR="0" rtl="0" algn="l">
              <a:lnSpc>
                <a:spcPct val="100000"/>
              </a:lnSpc>
              <a:spcBef>
                <a:spcPts val="0"/>
              </a:spcBef>
              <a:spcAft>
                <a:spcPts val="0"/>
              </a:spcAft>
              <a:buNone/>
            </a:pPr>
            <a:r>
              <a:rPr b="0" i="0" lang="en-US" sz="1050" u="none" cap="none" strike="noStrike">
                <a:solidFill>
                  <a:srgbClr val="9CDCFE"/>
                </a:solidFill>
                <a:latin typeface="Consolas"/>
                <a:ea typeface="Consolas"/>
                <a:cs typeface="Consolas"/>
                <a:sym typeface="Consolas"/>
              </a:rPr>
              <a:t>  }</a:t>
            </a:r>
            <a:endParaRPr/>
          </a:p>
          <a:p>
            <a:pPr indent="0" lvl="0" marL="0" marR="0" rtl="0" algn="l">
              <a:lnSpc>
                <a:spcPct val="100000"/>
              </a:lnSpc>
              <a:spcBef>
                <a:spcPts val="0"/>
              </a:spcBef>
              <a:spcAft>
                <a:spcPts val="0"/>
              </a:spcAft>
              <a:buNone/>
            </a:pPr>
            <a:r>
              <a:rPr b="0" i="0" lang="en-US" sz="1050" u="none" cap="none" strike="noStrike">
                <a:solidFill>
                  <a:srgbClr val="9CDCFE"/>
                </a:solidFill>
                <a:latin typeface="Consolas"/>
                <a:ea typeface="Consolas"/>
                <a:cs typeface="Consolas"/>
                <a:sym typeface="Consolas"/>
              </a:rPr>
              <a:t>};   </a:t>
            </a:r>
            <a:r>
              <a:rPr b="0" i="0" lang="en-US" sz="1050" u="none" cap="none" strike="noStrike">
                <a:solidFill>
                  <a:srgbClr val="6A9955"/>
                </a:solidFill>
                <a:latin typeface="Consolas"/>
                <a:ea typeface="Consolas"/>
                <a:cs typeface="Consolas"/>
                <a:sym typeface="Consolas"/>
              </a:rPr>
              <a:t>// a = {0,1,2}: it[1] → 2</a:t>
            </a:r>
            <a:endParaRPr/>
          </a:p>
        </p:txBody>
      </p:sp>
      <p:sp>
        <p:nvSpPr>
          <p:cNvPr id="938" name="Google Shape;938;p14"/>
          <p:cNvSpPr txBox="1"/>
          <p:nvPr/>
        </p:nvSpPr>
        <p:spPr>
          <a:xfrm>
            <a:off x="4754880" y="1188720"/>
            <a:ext cx="3931920" cy="27432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1200" u="none" cap="none" strike="noStrike">
                <a:solidFill>
                  <a:srgbClr val="4E7A00"/>
                </a:solidFill>
                <a:latin typeface="Arial"/>
                <a:ea typeface="Arial"/>
                <a:cs typeface="Arial"/>
                <a:sym typeface="Arial"/>
              </a:rPr>
              <a:t>zip: read two sequences as pairs</a:t>
            </a:r>
            <a:endParaRPr/>
          </a:p>
        </p:txBody>
      </p:sp>
      <p:sp>
        <p:nvSpPr>
          <p:cNvPr id="939" name="Google Shape;939;p14"/>
          <p:cNvSpPr/>
          <p:nvPr/>
        </p:nvSpPr>
        <p:spPr>
          <a:xfrm>
            <a:off x="4754880" y="1481328"/>
            <a:ext cx="3931920" cy="1417320"/>
          </a:xfrm>
          <a:prstGeom prst="roundRect">
            <a:avLst>
              <a:gd fmla="val 3500" name="adj"/>
            </a:avLst>
          </a:prstGeom>
          <a:solidFill>
            <a:srgbClr val="1B1B1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40" name="Google Shape;940;p14"/>
          <p:cNvSpPr txBox="1"/>
          <p:nvPr/>
        </p:nvSpPr>
        <p:spPr>
          <a:xfrm>
            <a:off x="4892040" y="1572768"/>
            <a:ext cx="3657600" cy="123444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0" i="0" lang="en-US" sz="1050" u="none" cap="none" strike="noStrike">
                <a:solidFill>
                  <a:srgbClr val="C586C0"/>
                </a:solidFill>
                <a:latin typeface="Consolas"/>
                <a:ea typeface="Consolas"/>
                <a:cs typeface="Consolas"/>
                <a:sym typeface="Consolas"/>
              </a:rPr>
              <a:t>struct</a:t>
            </a:r>
            <a:r>
              <a:rPr b="0" i="0" lang="en-US" sz="1050" u="none" cap="none" strike="noStrike">
                <a:solidFill>
                  <a:srgbClr val="9CDCFE"/>
                </a:solidFill>
                <a:latin typeface="Consolas"/>
                <a:ea typeface="Consolas"/>
                <a:cs typeface="Consolas"/>
                <a:sym typeface="Consolas"/>
              </a:rPr>
              <a:t> zip_iterator {</a:t>
            </a:r>
            <a:endParaRPr/>
          </a:p>
          <a:p>
            <a:pPr indent="0" lvl="0" marL="0" marR="0" rtl="0" algn="l">
              <a:lnSpc>
                <a:spcPct val="100000"/>
              </a:lnSpc>
              <a:spcBef>
                <a:spcPts val="0"/>
              </a:spcBef>
              <a:spcAft>
                <a:spcPts val="0"/>
              </a:spcAft>
              <a:buNone/>
            </a:pPr>
            <a:r>
              <a:rPr b="0" i="0" lang="en-US" sz="1050" u="none" cap="none" strike="noStrike">
                <a:solidFill>
                  <a:srgbClr val="9CDCFE"/>
                </a:solidFill>
                <a:latin typeface="Consolas"/>
                <a:ea typeface="Consolas"/>
                <a:cs typeface="Consolas"/>
                <a:sym typeface="Consolas"/>
              </a:rPr>
              <a:t>  </a:t>
            </a:r>
            <a:r>
              <a:rPr b="0" i="0" lang="en-US" sz="1050" u="none" cap="none" strike="noStrike">
                <a:solidFill>
                  <a:srgbClr val="C586C0"/>
                </a:solidFill>
                <a:latin typeface="Consolas"/>
                <a:ea typeface="Consolas"/>
                <a:cs typeface="Consolas"/>
                <a:sym typeface="Consolas"/>
              </a:rPr>
              <a:t>int</a:t>
            </a:r>
            <a:r>
              <a:rPr b="0" i="0" lang="en-US" sz="1050" u="none" cap="none" strike="noStrike">
                <a:solidFill>
                  <a:srgbClr val="9CDCFE"/>
                </a:solidFill>
                <a:latin typeface="Consolas"/>
                <a:ea typeface="Consolas"/>
                <a:cs typeface="Consolas"/>
                <a:sym typeface="Consolas"/>
              </a:rPr>
              <a:t>* a; </a:t>
            </a:r>
            <a:r>
              <a:rPr b="0" i="0" lang="en-US" sz="1050" u="none" cap="none" strike="noStrike">
                <a:solidFill>
                  <a:srgbClr val="C586C0"/>
                </a:solidFill>
                <a:latin typeface="Consolas"/>
                <a:ea typeface="Consolas"/>
                <a:cs typeface="Consolas"/>
                <a:sym typeface="Consolas"/>
              </a:rPr>
              <a:t>int</a:t>
            </a:r>
            <a:r>
              <a:rPr b="0" i="0" lang="en-US" sz="1050" u="none" cap="none" strike="noStrike">
                <a:solidFill>
                  <a:srgbClr val="9CDCFE"/>
                </a:solidFill>
                <a:latin typeface="Consolas"/>
                <a:ea typeface="Consolas"/>
                <a:cs typeface="Consolas"/>
                <a:sym typeface="Consolas"/>
              </a:rPr>
              <a:t>* b;</a:t>
            </a:r>
            <a:endParaRPr/>
          </a:p>
          <a:p>
            <a:pPr indent="0" lvl="0" marL="0" marR="0" rtl="0" algn="l">
              <a:lnSpc>
                <a:spcPct val="100000"/>
              </a:lnSpc>
              <a:spcBef>
                <a:spcPts val="0"/>
              </a:spcBef>
              <a:spcAft>
                <a:spcPts val="0"/>
              </a:spcAft>
              <a:buNone/>
            </a:pPr>
            <a:r>
              <a:rPr b="0" i="0" lang="en-US" sz="1050" u="none" cap="none" strike="noStrike">
                <a:solidFill>
                  <a:srgbClr val="9CDCFE"/>
                </a:solidFill>
                <a:latin typeface="Consolas"/>
                <a:ea typeface="Consolas"/>
                <a:cs typeface="Consolas"/>
                <a:sym typeface="Consolas"/>
              </a:rPr>
              <a:t>  std::tuple&lt;</a:t>
            </a:r>
            <a:r>
              <a:rPr b="0" i="0" lang="en-US" sz="1050" u="none" cap="none" strike="noStrike">
                <a:solidFill>
                  <a:srgbClr val="C586C0"/>
                </a:solidFill>
                <a:latin typeface="Consolas"/>
                <a:ea typeface="Consolas"/>
                <a:cs typeface="Consolas"/>
                <a:sym typeface="Consolas"/>
              </a:rPr>
              <a:t>int</a:t>
            </a:r>
            <a:r>
              <a:rPr b="0" i="0" lang="en-US" sz="1050" u="none" cap="none" strike="noStrike">
                <a:solidFill>
                  <a:srgbClr val="9CDCFE"/>
                </a:solidFill>
                <a:latin typeface="Consolas"/>
                <a:ea typeface="Consolas"/>
                <a:cs typeface="Consolas"/>
                <a:sym typeface="Consolas"/>
              </a:rPr>
              <a:t>,</a:t>
            </a:r>
            <a:r>
              <a:rPr b="0" i="0" lang="en-US" sz="1050" u="none" cap="none" strike="noStrike">
                <a:solidFill>
                  <a:srgbClr val="C586C0"/>
                </a:solidFill>
                <a:latin typeface="Consolas"/>
                <a:ea typeface="Consolas"/>
                <a:cs typeface="Consolas"/>
                <a:sym typeface="Consolas"/>
              </a:rPr>
              <a:t>int</a:t>
            </a:r>
            <a:r>
              <a:rPr b="0" i="0" lang="en-US" sz="1050" u="none" cap="none" strike="noStrike">
                <a:solidFill>
                  <a:srgbClr val="9CDCFE"/>
                </a:solidFill>
                <a:latin typeface="Consolas"/>
                <a:ea typeface="Consolas"/>
                <a:cs typeface="Consolas"/>
                <a:sym typeface="Consolas"/>
              </a:rPr>
              <a:t>&gt; </a:t>
            </a:r>
            <a:r>
              <a:rPr b="0" i="0" lang="en-US" sz="1050" u="none" cap="none" strike="noStrike">
                <a:solidFill>
                  <a:srgbClr val="C586C0"/>
                </a:solidFill>
                <a:latin typeface="Consolas"/>
                <a:ea typeface="Consolas"/>
                <a:cs typeface="Consolas"/>
                <a:sym typeface="Consolas"/>
              </a:rPr>
              <a:t>operator</a:t>
            </a:r>
            <a:r>
              <a:rPr b="0" i="0" lang="en-US" sz="1050" u="none" cap="none" strike="noStrike">
                <a:solidFill>
                  <a:srgbClr val="9CDCFE"/>
                </a:solidFill>
                <a:latin typeface="Consolas"/>
                <a:ea typeface="Consolas"/>
                <a:cs typeface="Consolas"/>
                <a:sym typeface="Consolas"/>
              </a:rPr>
              <a:t>[](</a:t>
            </a:r>
            <a:r>
              <a:rPr b="0" i="0" lang="en-US" sz="1050" u="none" cap="none" strike="noStrike">
                <a:solidFill>
                  <a:srgbClr val="C586C0"/>
                </a:solidFill>
                <a:latin typeface="Consolas"/>
                <a:ea typeface="Consolas"/>
                <a:cs typeface="Consolas"/>
                <a:sym typeface="Consolas"/>
              </a:rPr>
              <a:t>int</a:t>
            </a:r>
            <a:r>
              <a:rPr b="0" i="0" lang="en-US" sz="1050" u="none" cap="none" strike="noStrike">
                <a:solidFill>
                  <a:srgbClr val="9CDCFE"/>
                </a:solidFill>
                <a:latin typeface="Consolas"/>
                <a:ea typeface="Consolas"/>
                <a:cs typeface="Consolas"/>
                <a:sym typeface="Consolas"/>
              </a:rPr>
              <a:t> i) {</a:t>
            </a:r>
            <a:endParaRPr/>
          </a:p>
          <a:p>
            <a:pPr indent="0" lvl="0" marL="0" marR="0" rtl="0" algn="l">
              <a:lnSpc>
                <a:spcPct val="100000"/>
              </a:lnSpc>
              <a:spcBef>
                <a:spcPts val="0"/>
              </a:spcBef>
              <a:spcAft>
                <a:spcPts val="0"/>
              </a:spcAft>
              <a:buNone/>
            </a:pPr>
            <a:r>
              <a:rPr b="1" i="0" lang="en-US" sz="1050" u="none" cap="none" strike="noStrike">
                <a:solidFill>
                  <a:srgbClr val="76B900"/>
                </a:solidFill>
                <a:latin typeface="Consolas"/>
                <a:ea typeface="Consolas"/>
                <a:cs typeface="Consolas"/>
                <a:sym typeface="Consolas"/>
              </a:rPr>
              <a:t>    </a:t>
            </a:r>
            <a:r>
              <a:rPr b="1" i="0" lang="en-US" sz="1050" u="none" cap="none" strike="noStrike">
                <a:solidFill>
                  <a:srgbClr val="C586C0"/>
                </a:solidFill>
                <a:latin typeface="Consolas"/>
                <a:ea typeface="Consolas"/>
                <a:cs typeface="Consolas"/>
                <a:sym typeface="Consolas"/>
              </a:rPr>
              <a:t>return</a:t>
            </a:r>
            <a:r>
              <a:rPr b="1" i="0" lang="en-US" sz="1050" u="none" cap="none" strike="noStrike">
                <a:solidFill>
                  <a:srgbClr val="76B900"/>
                </a:solidFill>
                <a:latin typeface="Consolas"/>
                <a:ea typeface="Consolas"/>
                <a:cs typeface="Consolas"/>
                <a:sym typeface="Consolas"/>
              </a:rPr>
              <a:t> {a[i], b[i]};</a:t>
            </a:r>
            <a:endParaRPr/>
          </a:p>
          <a:p>
            <a:pPr indent="0" lvl="0" marL="0" marR="0" rtl="0" algn="l">
              <a:lnSpc>
                <a:spcPct val="100000"/>
              </a:lnSpc>
              <a:spcBef>
                <a:spcPts val="0"/>
              </a:spcBef>
              <a:spcAft>
                <a:spcPts val="0"/>
              </a:spcAft>
              <a:buNone/>
            </a:pPr>
            <a:r>
              <a:rPr b="0" i="0" lang="en-US" sz="1050" u="none" cap="none" strike="noStrike">
                <a:solidFill>
                  <a:srgbClr val="9CDCFE"/>
                </a:solidFill>
                <a:latin typeface="Consolas"/>
                <a:ea typeface="Consolas"/>
                <a:cs typeface="Consolas"/>
                <a:sym typeface="Consolas"/>
              </a:rPr>
              <a:t>  }</a:t>
            </a:r>
            <a:endParaRPr/>
          </a:p>
          <a:p>
            <a:pPr indent="0" lvl="0" marL="0" marR="0" rtl="0" algn="l">
              <a:lnSpc>
                <a:spcPct val="100000"/>
              </a:lnSpc>
              <a:spcBef>
                <a:spcPts val="0"/>
              </a:spcBef>
              <a:spcAft>
                <a:spcPts val="0"/>
              </a:spcAft>
              <a:buNone/>
            </a:pPr>
            <a:r>
              <a:rPr b="0" i="0" lang="en-US" sz="1050" u="none" cap="none" strike="noStrike">
                <a:solidFill>
                  <a:srgbClr val="9CDCFE"/>
                </a:solidFill>
                <a:latin typeface="Consolas"/>
                <a:ea typeface="Consolas"/>
                <a:cs typeface="Consolas"/>
                <a:sym typeface="Consolas"/>
              </a:rPr>
              <a:t>};   </a:t>
            </a:r>
            <a:r>
              <a:rPr b="0" i="0" lang="en-US" sz="1050" u="none" cap="none" strike="noStrike">
                <a:solidFill>
                  <a:srgbClr val="6A9955"/>
                </a:solidFill>
                <a:latin typeface="Consolas"/>
                <a:ea typeface="Consolas"/>
                <a:cs typeface="Consolas"/>
                <a:sym typeface="Consolas"/>
              </a:rPr>
              <a:t>// it[0] → (a[0], b[0])</a:t>
            </a:r>
            <a:endParaRPr/>
          </a:p>
        </p:txBody>
      </p:sp>
      <p:sp>
        <p:nvSpPr>
          <p:cNvPr id="941" name="Google Shape;941;p14"/>
          <p:cNvSpPr/>
          <p:nvPr/>
        </p:nvSpPr>
        <p:spPr>
          <a:xfrm>
            <a:off x="457200" y="3108960"/>
            <a:ext cx="1371600" cy="502920"/>
          </a:xfrm>
          <a:prstGeom prst="roundRect">
            <a:avLst>
              <a:gd fmla="val 3500" name="adj"/>
            </a:avLst>
          </a:prstGeom>
          <a:solidFill>
            <a:srgbClr val="F5F5F6"/>
          </a:solidFill>
          <a:ln cap="flat" cmpd="sng" w="9525">
            <a:solidFill>
              <a:srgbClr val="E2E2E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42" name="Google Shape;942;p14"/>
          <p:cNvSpPr txBox="1"/>
          <p:nvPr/>
        </p:nvSpPr>
        <p:spPr>
          <a:xfrm>
            <a:off x="457200" y="3108960"/>
            <a:ext cx="1371600" cy="502920"/>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100" u="none" cap="none" strike="noStrike">
                <a:solidFill>
                  <a:srgbClr val="2B2B2B"/>
                </a:solidFill>
                <a:latin typeface="Consolas"/>
                <a:ea typeface="Consolas"/>
                <a:cs typeface="Consolas"/>
                <a:sym typeface="Consolas"/>
              </a:rPr>
              <a:t>a[i], b[i]</a:t>
            </a:r>
            <a:endParaRPr/>
          </a:p>
        </p:txBody>
      </p:sp>
      <p:sp>
        <p:nvSpPr>
          <p:cNvPr id="943" name="Google Shape;943;p14"/>
          <p:cNvSpPr/>
          <p:nvPr/>
        </p:nvSpPr>
        <p:spPr>
          <a:xfrm>
            <a:off x="1874519" y="3108960"/>
            <a:ext cx="1097280" cy="502920"/>
          </a:xfrm>
          <a:prstGeom prst="roundRect">
            <a:avLst>
              <a:gd fmla="val 3500" name="adj"/>
            </a:avLst>
          </a:prstGeom>
          <a:solidFill>
            <a:srgbClr val="F7EEEE"/>
          </a:solidFill>
          <a:ln cap="flat" cmpd="sng" w="9525">
            <a:solidFill>
              <a:srgbClr val="E6D2D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44" name="Google Shape;944;p14"/>
          <p:cNvSpPr txBox="1"/>
          <p:nvPr/>
        </p:nvSpPr>
        <p:spPr>
          <a:xfrm>
            <a:off x="1874519" y="3108960"/>
            <a:ext cx="1097280" cy="502920"/>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100" u="none" cap="none" strike="noStrike">
                <a:solidFill>
                  <a:srgbClr val="500000"/>
                </a:solidFill>
                <a:latin typeface="Arial"/>
                <a:ea typeface="Arial"/>
                <a:cs typeface="Arial"/>
                <a:sym typeface="Arial"/>
              </a:rPr>
              <a:t>zip</a:t>
            </a:r>
            <a:endParaRPr/>
          </a:p>
        </p:txBody>
      </p:sp>
      <p:sp>
        <p:nvSpPr>
          <p:cNvPr id="945" name="Google Shape;945;p14"/>
          <p:cNvSpPr/>
          <p:nvPr/>
        </p:nvSpPr>
        <p:spPr>
          <a:xfrm>
            <a:off x="3017520" y="3108960"/>
            <a:ext cx="1600200" cy="502920"/>
          </a:xfrm>
          <a:prstGeom prst="roundRect">
            <a:avLst>
              <a:gd fmla="val 3500" name="adj"/>
            </a:avLst>
          </a:prstGeom>
          <a:solidFill>
            <a:srgbClr val="F5F5F6"/>
          </a:solidFill>
          <a:ln cap="flat" cmpd="sng" w="9525">
            <a:solidFill>
              <a:srgbClr val="E2E2E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46" name="Google Shape;946;p14"/>
          <p:cNvSpPr txBox="1"/>
          <p:nvPr/>
        </p:nvSpPr>
        <p:spPr>
          <a:xfrm>
            <a:off x="3017520" y="3108960"/>
            <a:ext cx="1600200" cy="502920"/>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100" u="none" cap="none" strike="noStrike">
                <a:solidFill>
                  <a:srgbClr val="2B2B2B"/>
                </a:solidFill>
                <a:latin typeface="Consolas"/>
                <a:ea typeface="Consolas"/>
                <a:cs typeface="Consolas"/>
                <a:sym typeface="Consolas"/>
              </a:rPr>
              <a:t>(a[i], b[i])</a:t>
            </a:r>
            <a:endParaRPr/>
          </a:p>
        </p:txBody>
      </p:sp>
      <p:sp>
        <p:nvSpPr>
          <p:cNvPr id="947" name="Google Shape;947;p14"/>
          <p:cNvSpPr/>
          <p:nvPr/>
        </p:nvSpPr>
        <p:spPr>
          <a:xfrm>
            <a:off x="4663440" y="3108960"/>
            <a:ext cx="1325880" cy="502920"/>
          </a:xfrm>
          <a:prstGeom prst="roundRect">
            <a:avLst>
              <a:gd fmla="val 3500" name="adj"/>
            </a:avLst>
          </a:prstGeom>
          <a:solidFill>
            <a:srgbClr val="F2F8E8"/>
          </a:solidFill>
          <a:ln cap="flat" cmpd="sng" w="9525">
            <a:solidFill>
              <a:srgbClr val="D8E8B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48" name="Google Shape;948;p14"/>
          <p:cNvSpPr txBox="1"/>
          <p:nvPr/>
        </p:nvSpPr>
        <p:spPr>
          <a:xfrm>
            <a:off x="4663440" y="3108960"/>
            <a:ext cx="1325880" cy="502920"/>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100" u="none" cap="none" strike="noStrike">
                <a:solidFill>
                  <a:srgbClr val="4E7A00"/>
                </a:solidFill>
                <a:latin typeface="Arial"/>
                <a:ea typeface="Arial"/>
                <a:cs typeface="Arial"/>
                <a:sym typeface="Arial"/>
              </a:rPr>
              <a:t>transform</a:t>
            </a:r>
            <a:endParaRPr/>
          </a:p>
        </p:txBody>
      </p:sp>
      <p:sp>
        <p:nvSpPr>
          <p:cNvPr id="949" name="Google Shape;949;p14"/>
          <p:cNvSpPr/>
          <p:nvPr/>
        </p:nvSpPr>
        <p:spPr>
          <a:xfrm>
            <a:off x="6035040" y="3108960"/>
            <a:ext cx="1737360" cy="502920"/>
          </a:xfrm>
          <a:prstGeom prst="roundRect">
            <a:avLst>
              <a:gd fmla="val 3500" name="adj"/>
            </a:avLst>
          </a:prstGeom>
          <a:solidFill>
            <a:srgbClr val="5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50" name="Google Shape;950;p14"/>
          <p:cNvSpPr txBox="1"/>
          <p:nvPr/>
        </p:nvSpPr>
        <p:spPr>
          <a:xfrm>
            <a:off x="6035040" y="3108960"/>
            <a:ext cx="1737360" cy="502920"/>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100" u="none" cap="none" strike="noStrike">
                <a:solidFill>
                  <a:srgbClr val="FFFFFF"/>
                </a:solidFill>
                <a:latin typeface="Consolas"/>
                <a:ea typeface="Consolas"/>
                <a:cs typeface="Consolas"/>
                <a:sym typeface="Consolas"/>
              </a:rPr>
              <a:t>|a[i] − b[i]|</a:t>
            </a:r>
            <a:endParaRPr/>
          </a:p>
        </p:txBody>
      </p:sp>
      <p:sp>
        <p:nvSpPr>
          <p:cNvPr id="951" name="Google Shape;951;p14"/>
          <p:cNvSpPr txBox="1"/>
          <p:nvPr/>
        </p:nvSpPr>
        <p:spPr>
          <a:xfrm>
            <a:off x="457200" y="3749039"/>
            <a:ext cx="8229600" cy="82296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1200" u="none" cap="none" strike="noStrike">
                <a:solidFill>
                  <a:srgbClr val="2B2B2B"/>
                </a:solidFill>
                <a:latin typeface="Arial"/>
                <a:ea typeface="Arial"/>
                <a:cs typeface="Arial"/>
                <a:sym typeface="Arial"/>
              </a:rPr>
              <a:t>Nest them: </a:t>
            </a:r>
            <a:r>
              <a:rPr b="0" i="0" lang="en-US" sz="1200" u="none" cap="none" strike="noStrike">
                <a:solidFill>
                  <a:srgbClr val="2B2B2B"/>
                </a:solidFill>
                <a:latin typeface="Arial"/>
                <a:ea typeface="Arial"/>
                <a:cs typeface="Arial"/>
                <a:sym typeface="Arial"/>
              </a:rPr>
              <a:t>a transform iterator wrapping a zip iterator gives the absolute difference of element i, </a:t>
            </a:r>
            <a:r>
              <a:rPr b="1" i="0" lang="en-US" sz="1200" u="none" cap="none" strike="noStrike">
                <a:solidFill>
                  <a:srgbClr val="500000"/>
                </a:solidFill>
                <a:latin typeface="Arial"/>
                <a:ea typeface="Arial"/>
                <a:cs typeface="Arial"/>
                <a:sym typeface="Arial"/>
              </a:rPr>
              <a:t>computed only when someone reads it</a:t>
            </a:r>
            <a:r>
              <a:rPr b="0" i="0" lang="en-US" sz="1200" u="none" cap="none" strike="noStrike">
                <a:solidFill>
                  <a:srgbClr val="2B2B2B"/>
                </a:solidFill>
                <a:latin typeface="Arial"/>
                <a:ea typeface="Arial"/>
                <a:cs typeface="Arial"/>
                <a:sym typeface="Arial"/>
              </a:rPr>
              <a:t>. Nothing is stored.</a:t>
            </a:r>
            <a:endParaRPr/>
          </a:p>
        </p:txBody>
      </p:sp>
      <p:sp>
        <p:nvSpPr>
          <p:cNvPr id="952" name="Google Shape;952;p14"/>
          <p:cNvSpPr/>
          <p:nvPr/>
        </p:nvSpPr>
        <p:spPr>
          <a:xfrm>
            <a:off x="636879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14"/>
          <p:cNvSpPr/>
          <p:nvPr/>
        </p:nvSpPr>
        <p:spPr>
          <a:xfrm>
            <a:off x="644194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14"/>
          <p:cNvSpPr/>
          <p:nvPr/>
        </p:nvSpPr>
        <p:spPr>
          <a:xfrm>
            <a:off x="6515100"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14"/>
          <p:cNvSpPr/>
          <p:nvPr/>
        </p:nvSpPr>
        <p:spPr>
          <a:xfrm>
            <a:off x="6588252"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14"/>
          <p:cNvSpPr/>
          <p:nvPr/>
        </p:nvSpPr>
        <p:spPr>
          <a:xfrm>
            <a:off x="6661404"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14"/>
          <p:cNvSpPr/>
          <p:nvPr/>
        </p:nvSpPr>
        <p:spPr>
          <a:xfrm>
            <a:off x="673455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14"/>
          <p:cNvSpPr/>
          <p:nvPr/>
        </p:nvSpPr>
        <p:spPr>
          <a:xfrm>
            <a:off x="680770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14"/>
          <p:cNvSpPr/>
          <p:nvPr/>
        </p:nvSpPr>
        <p:spPr>
          <a:xfrm>
            <a:off x="6880860"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14"/>
          <p:cNvSpPr/>
          <p:nvPr/>
        </p:nvSpPr>
        <p:spPr>
          <a:xfrm>
            <a:off x="6954012"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14"/>
          <p:cNvSpPr/>
          <p:nvPr/>
        </p:nvSpPr>
        <p:spPr>
          <a:xfrm>
            <a:off x="7027164"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14"/>
          <p:cNvSpPr/>
          <p:nvPr/>
        </p:nvSpPr>
        <p:spPr>
          <a:xfrm>
            <a:off x="710031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14"/>
          <p:cNvSpPr/>
          <p:nvPr/>
        </p:nvSpPr>
        <p:spPr>
          <a:xfrm>
            <a:off x="717346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14"/>
          <p:cNvSpPr/>
          <p:nvPr/>
        </p:nvSpPr>
        <p:spPr>
          <a:xfrm>
            <a:off x="7246620"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14"/>
          <p:cNvSpPr/>
          <p:nvPr/>
        </p:nvSpPr>
        <p:spPr>
          <a:xfrm>
            <a:off x="7319772"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14"/>
          <p:cNvSpPr/>
          <p:nvPr/>
        </p:nvSpPr>
        <p:spPr>
          <a:xfrm>
            <a:off x="7392924"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14"/>
          <p:cNvSpPr/>
          <p:nvPr/>
        </p:nvSpPr>
        <p:spPr>
          <a:xfrm>
            <a:off x="746607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14"/>
          <p:cNvSpPr/>
          <p:nvPr/>
        </p:nvSpPr>
        <p:spPr>
          <a:xfrm>
            <a:off x="7539228" y="4901184"/>
            <a:ext cx="50292" cy="50292"/>
          </a:xfrm>
          <a:prstGeom prst="rect">
            <a:avLst/>
          </a:prstGeom>
          <a:solidFill>
            <a:srgbClr val="5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14"/>
          <p:cNvSpPr/>
          <p:nvPr/>
        </p:nvSpPr>
        <p:spPr>
          <a:xfrm>
            <a:off x="7612380"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14"/>
          <p:cNvSpPr/>
          <p:nvPr/>
        </p:nvSpPr>
        <p:spPr>
          <a:xfrm>
            <a:off x="768553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14"/>
          <p:cNvSpPr/>
          <p:nvPr/>
        </p:nvSpPr>
        <p:spPr>
          <a:xfrm>
            <a:off x="775868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14"/>
          <p:cNvSpPr/>
          <p:nvPr/>
        </p:nvSpPr>
        <p:spPr>
          <a:xfrm>
            <a:off x="783183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14"/>
          <p:cNvSpPr/>
          <p:nvPr/>
        </p:nvSpPr>
        <p:spPr>
          <a:xfrm>
            <a:off x="790498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14"/>
          <p:cNvSpPr/>
          <p:nvPr/>
        </p:nvSpPr>
        <p:spPr>
          <a:xfrm>
            <a:off x="7978140"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14"/>
          <p:cNvSpPr/>
          <p:nvPr/>
        </p:nvSpPr>
        <p:spPr>
          <a:xfrm>
            <a:off x="805129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14"/>
          <p:cNvSpPr/>
          <p:nvPr/>
        </p:nvSpPr>
        <p:spPr>
          <a:xfrm>
            <a:off x="812444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14"/>
          <p:cNvSpPr/>
          <p:nvPr/>
        </p:nvSpPr>
        <p:spPr>
          <a:xfrm>
            <a:off x="819759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14"/>
          <p:cNvSpPr/>
          <p:nvPr/>
        </p:nvSpPr>
        <p:spPr>
          <a:xfrm>
            <a:off x="827074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14"/>
          <p:cNvSpPr/>
          <p:nvPr/>
        </p:nvSpPr>
        <p:spPr>
          <a:xfrm>
            <a:off x="8343900"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14"/>
          <p:cNvSpPr/>
          <p:nvPr/>
        </p:nvSpPr>
        <p:spPr>
          <a:xfrm>
            <a:off x="841705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14"/>
          <p:cNvSpPr/>
          <p:nvPr/>
        </p:nvSpPr>
        <p:spPr>
          <a:xfrm>
            <a:off x="849020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14"/>
          <p:cNvSpPr/>
          <p:nvPr/>
        </p:nvSpPr>
        <p:spPr>
          <a:xfrm>
            <a:off x="856335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14"/>
          <p:cNvSpPr/>
          <p:nvPr/>
        </p:nvSpPr>
        <p:spPr>
          <a:xfrm>
            <a:off x="863650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14"/>
          <p:cNvSpPr txBox="1"/>
          <p:nvPr/>
        </p:nvSpPr>
        <p:spPr>
          <a:xfrm>
            <a:off x="5472684" y="4846320"/>
            <a:ext cx="822960" cy="15544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00" u="none" cap="none" strike="noStrike">
                <a:solidFill>
                  <a:srgbClr val="9A9AA0"/>
                </a:solidFill>
                <a:latin typeface="Consolas"/>
                <a:ea typeface="Consolas"/>
                <a:cs typeface="Consolas"/>
                <a:sym typeface="Consolas"/>
              </a:rPr>
              <a:t>slide[16]</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89" name="Shape 989"/>
        <p:cNvGrpSpPr/>
        <p:nvPr/>
      </p:nvGrpSpPr>
      <p:grpSpPr>
        <a:xfrm>
          <a:off x="0" y="0"/>
          <a:ext cx="0" cy="0"/>
          <a:chOff x="0" y="0"/>
          <a:chExt cx="0" cy="0"/>
        </a:xfrm>
      </p:grpSpPr>
      <p:sp>
        <p:nvSpPr>
          <p:cNvPr id="990" name="Google Shape;990;p15"/>
          <p:cNvSpPr txBox="1"/>
          <p:nvPr/>
        </p:nvSpPr>
        <p:spPr>
          <a:xfrm>
            <a:off x="457200" y="320040"/>
            <a:ext cx="8229600" cy="54864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2800" u="none" cap="none" strike="noStrike">
                <a:solidFill>
                  <a:srgbClr val="500000"/>
                </a:solidFill>
                <a:latin typeface="Arial"/>
                <a:ea typeface="Arial"/>
                <a:cs typeface="Arial"/>
                <a:sym typeface="Arial"/>
              </a:rPr>
              <a:t>Thrust's fancy iterators</a:t>
            </a:r>
            <a:endParaRPr/>
          </a:p>
        </p:txBody>
      </p:sp>
      <p:sp>
        <p:nvSpPr>
          <p:cNvPr id="991" name="Google Shape;991;p15"/>
          <p:cNvSpPr txBox="1"/>
          <p:nvPr/>
        </p:nvSpPr>
        <p:spPr>
          <a:xfrm>
            <a:off x="457200" y="868680"/>
            <a:ext cx="8229600" cy="27432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0" i="0" lang="en-US" sz="1200" u="none" cap="none" strike="noStrike">
                <a:solidFill>
                  <a:srgbClr val="6E6E6E"/>
                </a:solidFill>
                <a:latin typeface="Arial"/>
                <a:ea typeface="Arial"/>
                <a:cs typeface="Arial"/>
                <a:sym typeface="Arial"/>
              </a:rPr>
              <a:t>Library versions of what we just built. They work on the GPU and plug into any algorithm.</a:t>
            </a:r>
            <a:endParaRPr/>
          </a:p>
        </p:txBody>
      </p:sp>
      <p:sp>
        <p:nvSpPr>
          <p:cNvPr id="992" name="Google Shape;992;p15"/>
          <p:cNvSpPr txBox="1"/>
          <p:nvPr/>
        </p:nvSpPr>
        <p:spPr>
          <a:xfrm>
            <a:off x="457200" y="1234440"/>
            <a:ext cx="3108960" cy="27432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1000" u="none" cap="none" strike="noStrike">
                <a:solidFill>
                  <a:srgbClr val="6E6E6E"/>
                </a:solidFill>
                <a:latin typeface="Arial"/>
                <a:ea typeface="Arial"/>
                <a:cs typeface="Arial"/>
                <a:sym typeface="Arial"/>
              </a:rPr>
              <a:t>thrust::…</a:t>
            </a:r>
            <a:endParaRPr/>
          </a:p>
        </p:txBody>
      </p:sp>
      <p:sp>
        <p:nvSpPr>
          <p:cNvPr id="993" name="Google Shape;993;p15"/>
          <p:cNvSpPr txBox="1"/>
          <p:nvPr/>
        </p:nvSpPr>
        <p:spPr>
          <a:xfrm>
            <a:off x="3611880" y="1234440"/>
            <a:ext cx="2743200" cy="27432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1000" u="none" cap="none" strike="noStrike">
                <a:solidFill>
                  <a:srgbClr val="6E6E6E"/>
                </a:solidFill>
                <a:latin typeface="Arial"/>
                <a:ea typeface="Arial"/>
                <a:cs typeface="Arial"/>
                <a:sym typeface="Arial"/>
              </a:rPr>
              <a:t>Looks like</a:t>
            </a:r>
            <a:endParaRPr/>
          </a:p>
        </p:txBody>
      </p:sp>
      <p:sp>
        <p:nvSpPr>
          <p:cNvPr id="994" name="Google Shape;994;p15"/>
          <p:cNvSpPr txBox="1"/>
          <p:nvPr/>
        </p:nvSpPr>
        <p:spPr>
          <a:xfrm>
            <a:off x="6400800" y="1234440"/>
            <a:ext cx="2286000" cy="27432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1000" u="none" cap="none" strike="noStrike">
                <a:solidFill>
                  <a:srgbClr val="6E6E6E"/>
                </a:solidFill>
                <a:latin typeface="Arial"/>
                <a:ea typeface="Arial"/>
                <a:cs typeface="Arial"/>
                <a:sym typeface="Arial"/>
              </a:rPr>
              <a:t>Use it to…</a:t>
            </a:r>
            <a:endParaRPr/>
          </a:p>
        </p:txBody>
      </p:sp>
      <p:sp>
        <p:nvSpPr>
          <p:cNvPr id="995" name="Google Shape;995;p15"/>
          <p:cNvSpPr/>
          <p:nvPr/>
        </p:nvSpPr>
        <p:spPr>
          <a:xfrm>
            <a:off x="457200" y="1536192"/>
            <a:ext cx="8229600" cy="402336"/>
          </a:xfrm>
          <a:prstGeom prst="roundRect">
            <a:avLst>
              <a:gd fmla="val 3500" name="adj"/>
            </a:avLst>
          </a:prstGeom>
          <a:solidFill>
            <a:srgbClr val="F7EEEE"/>
          </a:solidFill>
          <a:ln cap="flat" cmpd="sng" w="9525">
            <a:solidFill>
              <a:srgbClr val="E6D2D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96" name="Google Shape;996;p15"/>
          <p:cNvSpPr txBox="1"/>
          <p:nvPr/>
        </p:nvSpPr>
        <p:spPr>
          <a:xfrm>
            <a:off x="548640" y="1536192"/>
            <a:ext cx="3063240" cy="402336"/>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1" i="0" lang="en-US" sz="1000" u="none" cap="none" strike="noStrike">
                <a:solidFill>
                  <a:srgbClr val="500000"/>
                </a:solidFill>
                <a:latin typeface="Consolas"/>
                <a:ea typeface="Consolas"/>
                <a:cs typeface="Consolas"/>
                <a:sym typeface="Consolas"/>
              </a:rPr>
              <a:t>make_counting_iterator(0)</a:t>
            </a:r>
            <a:endParaRPr/>
          </a:p>
        </p:txBody>
      </p:sp>
      <p:sp>
        <p:nvSpPr>
          <p:cNvPr id="997" name="Google Shape;997;p15"/>
          <p:cNvSpPr txBox="1"/>
          <p:nvPr/>
        </p:nvSpPr>
        <p:spPr>
          <a:xfrm>
            <a:off x="3611880" y="1536192"/>
            <a:ext cx="2743200" cy="402336"/>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0" i="0" lang="en-US" sz="1000" u="none" cap="none" strike="noStrike">
                <a:solidFill>
                  <a:srgbClr val="2B2B2B"/>
                </a:solidFill>
                <a:latin typeface="Consolas"/>
                <a:ea typeface="Consolas"/>
                <a:cs typeface="Consolas"/>
                <a:sym typeface="Consolas"/>
              </a:rPr>
              <a:t>0, 1, 2, 3, …</a:t>
            </a:r>
            <a:endParaRPr/>
          </a:p>
        </p:txBody>
      </p:sp>
      <p:sp>
        <p:nvSpPr>
          <p:cNvPr id="998" name="Google Shape;998;p15"/>
          <p:cNvSpPr txBox="1"/>
          <p:nvPr/>
        </p:nvSpPr>
        <p:spPr>
          <a:xfrm>
            <a:off x="6400800" y="1536192"/>
            <a:ext cx="2240280" cy="402336"/>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0" i="0" lang="en-US" sz="1000" u="none" cap="none" strike="noStrike">
                <a:solidFill>
                  <a:srgbClr val="2B2B2B"/>
                </a:solidFill>
                <a:latin typeface="Arial"/>
                <a:ea typeface="Arial"/>
                <a:cs typeface="Arial"/>
                <a:sym typeface="Arial"/>
              </a:rPr>
              <a:t>Indices without storing them</a:t>
            </a:r>
            <a:endParaRPr/>
          </a:p>
        </p:txBody>
      </p:sp>
      <p:sp>
        <p:nvSpPr>
          <p:cNvPr id="999" name="Google Shape;999;p15"/>
          <p:cNvSpPr/>
          <p:nvPr/>
        </p:nvSpPr>
        <p:spPr>
          <a:xfrm>
            <a:off x="457200" y="1993391"/>
            <a:ext cx="8229600" cy="402336"/>
          </a:xfrm>
          <a:prstGeom prst="roundRect">
            <a:avLst>
              <a:gd fmla="val 3500" name="adj"/>
            </a:avLst>
          </a:prstGeom>
          <a:solidFill>
            <a:srgbClr val="F5F5F6"/>
          </a:solidFill>
          <a:ln cap="flat" cmpd="sng" w="9525">
            <a:solidFill>
              <a:srgbClr val="E2E2E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00" name="Google Shape;1000;p15"/>
          <p:cNvSpPr txBox="1"/>
          <p:nvPr/>
        </p:nvSpPr>
        <p:spPr>
          <a:xfrm>
            <a:off x="548640" y="1993391"/>
            <a:ext cx="3063240" cy="402336"/>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1" i="0" lang="en-US" sz="1000" u="none" cap="none" strike="noStrike">
                <a:solidFill>
                  <a:srgbClr val="500000"/>
                </a:solidFill>
                <a:latin typeface="Consolas"/>
                <a:ea typeface="Consolas"/>
                <a:cs typeface="Consolas"/>
                <a:sym typeface="Consolas"/>
              </a:rPr>
              <a:t>make_transform_iterator(it, f)</a:t>
            </a:r>
            <a:endParaRPr/>
          </a:p>
        </p:txBody>
      </p:sp>
      <p:sp>
        <p:nvSpPr>
          <p:cNvPr id="1001" name="Google Shape;1001;p15"/>
          <p:cNvSpPr txBox="1"/>
          <p:nvPr/>
        </p:nvSpPr>
        <p:spPr>
          <a:xfrm>
            <a:off x="3611880" y="1993391"/>
            <a:ext cx="2743200" cy="402336"/>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0" i="0" lang="en-US" sz="1000" u="none" cap="none" strike="noStrike">
                <a:solidFill>
                  <a:srgbClr val="2B2B2B"/>
                </a:solidFill>
                <a:latin typeface="Consolas"/>
                <a:ea typeface="Consolas"/>
                <a:cs typeface="Consolas"/>
                <a:sym typeface="Consolas"/>
              </a:rPr>
              <a:t>f(it[0]), f(it[1]), …</a:t>
            </a:r>
            <a:endParaRPr/>
          </a:p>
        </p:txBody>
      </p:sp>
      <p:sp>
        <p:nvSpPr>
          <p:cNvPr id="1002" name="Google Shape;1002;p15"/>
          <p:cNvSpPr txBox="1"/>
          <p:nvPr/>
        </p:nvSpPr>
        <p:spPr>
          <a:xfrm>
            <a:off x="6400800" y="1993391"/>
            <a:ext cx="2240280" cy="402336"/>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0" i="0" lang="en-US" sz="1000" u="none" cap="none" strike="noStrike">
                <a:solidFill>
                  <a:srgbClr val="2B2B2B"/>
                </a:solidFill>
                <a:latin typeface="Arial"/>
                <a:ea typeface="Arial"/>
                <a:cs typeface="Arial"/>
                <a:sym typeface="Arial"/>
              </a:rPr>
              <a:t>Apply a function on read</a:t>
            </a:r>
            <a:endParaRPr/>
          </a:p>
        </p:txBody>
      </p:sp>
      <p:sp>
        <p:nvSpPr>
          <p:cNvPr id="1003" name="Google Shape;1003;p15"/>
          <p:cNvSpPr/>
          <p:nvPr/>
        </p:nvSpPr>
        <p:spPr>
          <a:xfrm>
            <a:off x="457200" y="2450591"/>
            <a:ext cx="8229600" cy="402336"/>
          </a:xfrm>
          <a:prstGeom prst="roundRect">
            <a:avLst>
              <a:gd fmla="val 3500" name="adj"/>
            </a:avLst>
          </a:prstGeom>
          <a:solidFill>
            <a:srgbClr val="F7EEEE"/>
          </a:solidFill>
          <a:ln cap="flat" cmpd="sng" w="9525">
            <a:solidFill>
              <a:srgbClr val="E6D2D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04" name="Google Shape;1004;p15"/>
          <p:cNvSpPr txBox="1"/>
          <p:nvPr/>
        </p:nvSpPr>
        <p:spPr>
          <a:xfrm>
            <a:off x="548640" y="2450591"/>
            <a:ext cx="3063240" cy="402336"/>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1" i="0" lang="en-US" sz="1000" u="none" cap="none" strike="noStrike">
                <a:solidFill>
                  <a:srgbClr val="500000"/>
                </a:solidFill>
                <a:latin typeface="Consolas"/>
                <a:ea typeface="Consolas"/>
                <a:cs typeface="Consolas"/>
                <a:sym typeface="Consolas"/>
              </a:rPr>
              <a:t>make_zip_iterator(a, b)</a:t>
            </a:r>
            <a:endParaRPr/>
          </a:p>
        </p:txBody>
      </p:sp>
      <p:sp>
        <p:nvSpPr>
          <p:cNvPr id="1005" name="Google Shape;1005;p15"/>
          <p:cNvSpPr txBox="1"/>
          <p:nvPr/>
        </p:nvSpPr>
        <p:spPr>
          <a:xfrm>
            <a:off x="3611880" y="2450591"/>
            <a:ext cx="2743200" cy="402336"/>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0" i="0" lang="en-US" sz="1000" u="none" cap="none" strike="noStrike">
                <a:solidFill>
                  <a:srgbClr val="2B2B2B"/>
                </a:solidFill>
                <a:latin typeface="Consolas"/>
                <a:ea typeface="Consolas"/>
                <a:cs typeface="Consolas"/>
                <a:sym typeface="Consolas"/>
              </a:rPr>
              <a:t>(a[0],b[0]), (a[1],b[1]), …</a:t>
            </a:r>
            <a:endParaRPr/>
          </a:p>
        </p:txBody>
      </p:sp>
      <p:sp>
        <p:nvSpPr>
          <p:cNvPr id="1006" name="Google Shape;1006;p15"/>
          <p:cNvSpPr txBox="1"/>
          <p:nvPr/>
        </p:nvSpPr>
        <p:spPr>
          <a:xfrm>
            <a:off x="6400800" y="2450591"/>
            <a:ext cx="2240280" cy="402336"/>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0" i="0" lang="en-US" sz="1000" u="none" cap="none" strike="noStrike">
                <a:solidFill>
                  <a:srgbClr val="2B2B2B"/>
                </a:solidFill>
                <a:latin typeface="Arial"/>
                <a:ea typeface="Arial"/>
                <a:cs typeface="Arial"/>
                <a:sym typeface="Arial"/>
              </a:rPr>
              <a:t>Walk several sequences at once</a:t>
            </a:r>
            <a:endParaRPr/>
          </a:p>
        </p:txBody>
      </p:sp>
      <p:sp>
        <p:nvSpPr>
          <p:cNvPr id="1007" name="Google Shape;1007;p15"/>
          <p:cNvSpPr/>
          <p:nvPr/>
        </p:nvSpPr>
        <p:spPr>
          <a:xfrm>
            <a:off x="457200" y="2907791"/>
            <a:ext cx="8229600" cy="402336"/>
          </a:xfrm>
          <a:prstGeom prst="roundRect">
            <a:avLst>
              <a:gd fmla="val 3500" name="adj"/>
            </a:avLst>
          </a:prstGeom>
          <a:solidFill>
            <a:srgbClr val="F5F5F6"/>
          </a:solidFill>
          <a:ln cap="flat" cmpd="sng" w="9525">
            <a:solidFill>
              <a:srgbClr val="E2E2E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08" name="Google Shape;1008;p15"/>
          <p:cNvSpPr txBox="1"/>
          <p:nvPr/>
        </p:nvSpPr>
        <p:spPr>
          <a:xfrm>
            <a:off x="548640" y="2907791"/>
            <a:ext cx="3063240" cy="402336"/>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1" i="0" lang="en-US" sz="1000" u="none" cap="none" strike="noStrike">
                <a:solidFill>
                  <a:srgbClr val="500000"/>
                </a:solidFill>
                <a:latin typeface="Consolas"/>
                <a:ea typeface="Consolas"/>
                <a:cs typeface="Consolas"/>
                <a:sym typeface="Consolas"/>
              </a:rPr>
              <a:t>make_discard_iterator()</a:t>
            </a:r>
            <a:endParaRPr/>
          </a:p>
        </p:txBody>
      </p:sp>
      <p:sp>
        <p:nvSpPr>
          <p:cNvPr id="1009" name="Google Shape;1009;p15"/>
          <p:cNvSpPr txBox="1"/>
          <p:nvPr/>
        </p:nvSpPr>
        <p:spPr>
          <a:xfrm>
            <a:off x="3611880" y="2907791"/>
            <a:ext cx="2743200" cy="402336"/>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0" i="0" lang="en-US" sz="1000" u="none" cap="none" strike="noStrike">
                <a:solidFill>
                  <a:srgbClr val="2B2B2B"/>
                </a:solidFill>
                <a:latin typeface="Consolas"/>
                <a:ea typeface="Consolas"/>
                <a:cs typeface="Consolas"/>
                <a:sym typeface="Consolas"/>
              </a:rPr>
              <a:t>writes go nowhere</a:t>
            </a:r>
            <a:endParaRPr/>
          </a:p>
        </p:txBody>
      </p:sp>
      <p:sp>
        <p:nvSpPr>
          <p:cNvPr id="1010" name="Google Shape;1010;p15"/>
          <p:cNvSpPr txBox="1"/>
          <p:nvPr/>
        </p:nvSpPr>
        <p:spPr>
          <a:xfrm>
            <a:off x="6400800" y="2907791"/>
            <a:ext cx="2240280" cy="402336"/>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0" i="0" lang="en-US" sz="1000" u="none" cap="none" strike="noStrike">
                <a:solidFill>
                  <a:srgbClr val="2B2B2B"/>
                </a:solidFill>
                <a:latin typeface="Arial"/>
                <a:ea typeface="Arial"/>
                <a:cs typeface="Arial"/>
                <a:sym typeface="Arial"/>
              </a:rPr>
              <a:t>Ignore outputs you don't need</a:t>
            </a:r>
            <a:endParaRPr/>
          </a:p>
        </p:txBody>
      </p:sp>
      <p:sp>
        <p:nvSpPr>
          <p:cNvPr id="1011" name="Google Shape;1011;p15"/>
          <p:cNvSpPr/>
          <p:nvPr/>
        </p:nvSpPr>
        <p:spPr>
          <a:xfrm>
            <a:off x="457200" y="3364991"/>
            <a:ext cx="8229600" cy="402336"/>
          </a:xfrm>
          <a:prstGeom prst="roundRect">
            <a:avLst>
              <a:gd fmla="val 3500" name="adj"/>
            </a:avLst>
          </a:prstGeom>
          <a:solidFill>
            <a:srgbClr val="F7EEEE"/>
          </a:solidFill>
          <a:ln cap="flat" cmpd="sng" w="9525">
            <a:solidFill>
              <a:srgbClr val="E6D2D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12" name="Google Shape;1012;p15"/>
          <p:cNvSpPr txBox="1"/>
          <p:nvPr/>
        </p:nvSpPr>
        <p:spPr>
          <a:xfrm>
            <a:off x="548640" y="3364991"/>
            <a:ext cx="3063240" cy="402336"/>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1" i="0" lang="en-US" sz="1000" u="none" cap="none" strike="noStrike">
                <a:solidFill>
                  <a:srgbClr val="500000"/>
                </a:solidFill>
                <a:latin typeface="Consolas"/>
                <a:ea typeface="Consolas"/>
                <a:cs typeface="Consolas"/>
                <a:sym typeface="Consolas"/>
              </a:rPr>
              <a:t>make_transform_output_iterator</a:t>
            </a:r>
            <a:endParaRPr/>
          </a:p>
        </p:txBody>
      </p:sp>
      <p:sp>
        <p:nvSpPr>
          <p:cNvPr id="1013" name="Google Shape;1013;p15"/>
          <p:cNvSpPr txBox="1"/>
          <p:nvPr/>
        </p:nvSpPr>
        <p:spPr>
          <a:xfrm>
            <a:off x="3611880" y="3364991"/>
            <a:ext cx="2743200" cy="402336"/>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0" i="0" lang="en-US" sz="1000" u="none" cap="none" strike="noStrike">
                <a:solidFill>
                  <a:srgbClr val="2B2B2B"/>
                </a:solidFill>
                <a:latin typeface="Consolas"/>
                <a:ea typeface="Consolas"/>
                <a:cs typeface="Consolas"/>
                <a:sym typeface="Consolas"/>
              </a:rPr>
              <a:t>f(value) on write</a:t>
            </a:r>
            <a:endParaRPr/>
          </a:p>
        </p:txBody>
      </p:sp>
      <p:sp>
        <p:nvSpPr>
          <p:cNvPr id="1014" name="Google Shape;1014;p15"/>
          <p:cNvSpPr txBox="1"/>
          <p:nvPr/>
        </p:nvSpPr>
        <p:spPr>
          <a:xfrm>
            <a:off x="6400800" y="3364991"/>
            <a:ext cx="2240280" cy="402336"/>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0" i="0" lang="en-US" sz="1000" u="none" cap="none" strike="noStrike">
                <a:solidFill>
                  <a:srgbClr val="2B2B2B"/>
                </a:solidFill>
                <a:latin typeface="Arial"/>
                <a:ea typeface="Arial"/>
                <a:cs typeface="Arial"/>
                <a:sym typeface="Arial"/>
              </a:rPr>
              <a:t>Change values as they are stored</a:t>
            </a:r>
            <a:endParaRPr/>
          </a:p>
        </p:txBody>
      </p:sp>
      <p:sp>
        <p:nvSpPr>
          <p:cNvPr id="1015" name="Google Shape;1015;p15"/>
          <p:cNvSpPr txBox="1"/>
          <p:nvPr/>
        </p:nvSpPr>
        <p:spPr>
          <a:xfrm>
            <a:off x="457200" y="3931920"/>
            <a:ext cx="8229600" cy="27432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0" i="0" lang="en-US" sz="1000" u="none" cap="none" strike="noStrike">
                <a:solidFill>
                  <a:srgbClr val="6E6E6E"/>
                </a:solidFill>
                <a:latin typeface="Arial"/>
                <a:ea typeface="Arial"/>
                <a:cs typeface="Arial"/>
                <a:sym typeface="Arial"/>
              </a:rPr>
              <a:t>All live in &lt;thrust/iterator/…&gt;.  Full reference: nvidia.github.io/cccl/thrust</a:t>
            </a:r>
            <a:endParaRPr/>
          </a:p>
        </p:txBody>
      </p:sp>
      <p:sp>
        <p:nvSpPr>
          <p:cNvPr id="1016" name="Google Shape;1016;p15"/>
          <p:cNvSpPr/>
          <p:nvPr/>
        </p:nvSpPr>
        <p:spPr>
          <a:xfrm>
            <a:off x="636879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15"/>
          <p:cNvSpPr/>
          <p:nvPr/>
        </p:nvSpPr>
        <p:spPr>
          <a:xfrm>
            <a:off x="644194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15"/>
          <p:cNvSpPr/>
          <p:nvPr/>
        </p:nvSpPr>
        <p:spPr>
          <a:xfrm>
            <a:off x="6515100"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15"/>
          <p:cNvSpPr/>
          <p:nvPr/>
        </p:nvSpPr>
        <p:spPr>
          <a:xfrm>
            <a:off x="6588252"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15"/>
          <p:cNvSpPr/>
          <p:nvPr/>
        </p:nvSpPr>
        <p:spPr>
          <a:xfrm>
            <a:off x="6661404"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15"/>
          <p:cNvSpPr/>
          <p:nvPr/>
        </p:nvSpPr>
        <p:spPr>
          <a:xfrm>
            <a:off x="673455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15"/>
          <p:cNvSpPr/>
          <p:nvPr/>
        </p:nvSpPr>
        <p:spPr>
          <a:xfrm>
            <a:off x="680770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15"/>
          <p:cNvSpPr/>
          <p:nvPr/>
        </p:nvSpPr>
        <p:spPr>
          <a:xfrm>
            <a:off x="6880860"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15"/>
          <p:cNvSpPr/>
          <p:nvPr/>
        </p:nvSpPr>
        <p:spPr>
          <a:xfrm>
            <a:off x="6954012"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15"/>
          <p:cNvSpPr/>
          <p:nvPr/>
        </p:nvSpPr>
        <p:spPr>
          <a:xfrm>
            <a:off x="7027164"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15"/>
          <p:cNvSpPr/>
          <p:nvPr/>
        </p:nvSpPr>
        <p:spPr>
          <a:xfrm>
            <a:off x="710031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15"/>
          <p:cNvSpPr/>
          <p:nvPr/>
        </p:nvSpPr>
        <p:spPr>
          <a:xfrm>
            <a:off x="717346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15"/>
          <p:cNvSpPr/>
          <p:nvPr/>
        </p:nvSpPr>
        <p:spPr>
          <a:xfrm>
            <a:off x="7246620"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15"/>
          <p:cNvSpPr/>
          <p:nvPr/>
        </p:nvSpPr>
        <p:spPr>
          <a:xfrm>
            <a:off x="7319772"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15"/>
          <p:cNvSpPr/>
          <p:nvPr/>
        </p:nvSpPr>
        <p:spPr>
          <a:xfrm>
            <a:off x="7392924"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15"/>
          <p:cNvSpPr/>
          <p:nvPr/>
        </p:nvSpPr>
        <p:spPr>
          <a:xfrm>
            <a:off x="746607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15"/>
          <p:cNvSpPr/>
          <p:nvPr/>
        </p:nvSpPr>
        <p:spPr>
          <a:xfrm>
            <a:off x="753922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15"/>
          <p:cNvSpPr/>
          <p:nvPr/>
        </p:nvSpPr>
        <p:spPr>
          <a:xfrm>
            <a:off x="7612380" y="4901184"/>
            <a:ext cx="50292" cy="50292"/>
          </a:xfrm>
          <a:prstGeom prst="rect">
            <a:avLst/>
          </a:prstGeom>
          <a:solidFill>
            <a:srgbClr val="5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15"/>
          <p:cNvSpPr/>
          <p:nvPr/>
        </p:nvSpPr>
        <p:spPr>
          <a:xfrm>
            <a:off x="768553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15"/>
          <p:cNvSpPr/>
          <p:nvPr/>
        </p:nvSpPr>
        <p:spPr>
          <a:xfrm>
            <a:off x="775868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15"/>
          <p:cNvSpPr/>
          <p:nvPr/>
        </p:nvSpPr>
        <p:spPr>
          <a:xfrm>
            <a:off x="783183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15"/>
          <p:cNvSpPr/>
          <p:nvPr/>
        </p:nvSpPr>
        <p:spPr>
          <a:xfrm>
            <a:off x="790498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15"/>
          <p:cNvSpPr/>
          <p:nvPr/>
        </p:nvSpPr>
        <p:spPr>
          <a:xfrm>
            <a:off x="7978140"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15"/>
          <p:cNvSpPr/>
          <p:nvPr/>
        </p:nvSpPr>
        <p:spPr>
          <a:xfrm>
            <a:off x="805129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15"/>
          <p:cNvSpPr/>
          <p:nvPr/>
        </p:nvSpPr>
        <p:spPr>
          <a:xfrm>
            <a:off x="812444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15"/>
          <p:cNvSpPr/>
          <p:nvPr/>
        </p:nvSpPr>
        <p:spPr>
          <a:xfrm>
            <a:off x="819759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15"/>
          <p:cNvSpPr/>
          <p:nvPr/>
        </p:nvSpPr>
        <p:spPr>
          <a:xfrm>
            <a:off x="827074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15"/>
          <p:cNvSpPr/>
          <p:nvPr/>
        </p:nvSpPr>
        <p:spPr>
          <a:xfrm>
            <a:off x="8343900"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15"/>
          <p:cNvSpPr/>
          <p:nvPr/>
        </p:nvSpPr>
        <p:spPr>
          <a:xfrm>
            <a:off x="841705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15"/>
          <p:cNvSpPr/>
          <p:nvPr/>
        </p:nvSpPr>
        <p:spPr>
          <a:xfrm>
            <a:off x="849020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15"/>
          <p:cNvSpPr/>
          <p:nvPr/>
        </p:nvSpPr>
        <p:spPr>
          <a:xfrm>
            <a:off x="856335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15"/>
          <p:cNvSpPr/>
          <p:nvPr/>
        </p:nvSpPr>
        <p:spPr>
          <a:xfrm>
            <a:off x="863650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15"/>
          <p:cNvSpPr txBox="1"/>
          <p:nvPr/>
        </p:nvSpPr>
        <p:spPr>
          <a:xfrm>
            <a:off x="5472684" y="4846320"/>
            <a:ext cx="822960" cy="15544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00" u="none" cap="none" strike="noStrike">
                <a:solidFill>
                  <a:srgbClr val="9A9AA0"/>
                </a:solidFill>
                <a:latin typeface="Consolas"/>
                <a:ea typeface="Consolas"/>
                <a:cs typeface="Consolas"/>
                <a:sym typeface="Consolas"/>
              </a:rPr>
              <a:t>slide[17]</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53" name="Shape 1053"/>
        <p:cNvGrpSpPr/>
        <p:nvPr/>
      </p:nvGrpSpPr>
      <p:grpSpPr>
        <a:xfrm>
          <a:off x="0" y="0"/>
          <a:ext cx="0" cy="0"/>
          <a:chOff x="0" y="0"/>
          <a:chExt cx="0" cy="0"/>
        </a:xfrm>
      </p:grpSpPr>
      <p:sp>
        <p:nvSpPr>
          <p:cNvPr id="1054" name="Google Shape;1054;p19"/>
          <p:cNvSpPr txBox="1"/>
          <p:nvPr/>
        </p:nvSpPr>
        <p:spPr>
          <a:xfrm>
            <a:off x="457200" y="320040"/>
            <a:ext cx="8229600" cy="54864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2800" u="none" cap="none" strike="noStrike">
                <a:solidFill>
                  <a:srgbClr val="500000"/>
                </a:solidFill>
                <a:latin typeface="Arial"/>
                <a:ea typeface="Arial"/>
                <a:cs typeface="Arial"/>
                <a:sym typeface="Arial"/>
              </a:rPr>
              <a:t>Exercise 5: variance without extra memory</a:t>
            </a:r>
            <a:endParaRPr/>
          </a:p>
        </p:txBody>
      </p:sp>
      <p:sp>
        <p:nvSpPr>
          <p:cNvPr id="1055" name="Google Shape;1055;p19"/>
          <p:cNvSpPr txBox="1"/>
          <p:nvPr/>
        </p:nvSpPr>
        <p:spPr>
          <a:xfrm>
            <a:off x="457200" y="868680"/>
            <a:ext cx="8229600" cy="27432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0" i="0" lang="en-US" sz="1200" u="none" cap="none" strike="noStrike">
                <a:solidFill>
                  <a:srgbClr val="6E6E6E"/>
                </a:solidFill>
                <a:latin typeface="Arial"/>
                <a:ea typeface="Arial"/>
                <a:cs typeface="Arial"/>
                <a:sym typeface="Arial"/>
              </a:rPr>
              <a:t>5 minutes  ·  build the squared differences with a transform iterator</a:t>
            </a:r>
            <a:endParaRPr/>
          </a:p>
        </p:txBody>
      </p:sp>
      <p:sp>
        <p:nvSpPr>
          <p:cNvPr id="1056" name="Google Shape;1056;p19"/>
          <p:cNvSpPr txBox="1"/>
          <p:nvPr/>
        </p:nvSpPr>
        <p:spPr>
          <a:xfrm>
            <a:off x="457200" y="1188720"/>
            <a:ext cx="3657600" cy="45720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1600" u="none" cap="none" strike="noStrike">
                <a:solidFill>
                  <a:srgbClr val="500000"/>
                </a:solidFill>
                <a:latin typeface="Consolas"/>
                <a:ea typeface="Consolas"/>
                <a:cs typeface="Consolas"/>
                <a:sym typeface="Consolas"/>
              </a:rPr>
              <a:t>variance = Σ (xᵢ − mean)² / N</a:t>
            </a:r>
            <a:endParaRPr/>
          </a:p>
        </p:txBody>
      </p:sp>
      <p:sp>
        <p:nvSpPr>
          <p:cNvPr id="1057" name="Google Shape;1057;p19"/>
          <p:cNvSpPr/>
          <p:nvPr/>
        </p:nvSpPr>
        <p:spPr>
          <a:xfrm>
            <a:off x="457200" y="1737360"/>
            <a:ext cx="6035040" cy="1783080"/>
          </a:xfrm>
          <a:prstGeom prst="roundRect">
            <a:avLst>
              <a:gd fmla="val 3500" name="adj"/>
            </a:avLst>
          </a:prstGeom>
          <a:solidFill>
            <a:srgbClr val="1B1B1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58" name="Google Shape;1058;p19"/>
          <p:cNvSpPr txBox="1"/>
          <p:nvPr/>
        </p:nvSpPr>
        <p:spPr>
          <a:xfrm>
            <a:off x="594360" y="1828800"/>
            <a:ext cx="5760720" cy="160020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0" i="0" lang="en-US" sz="1000" u="none" cap="none" strike="noStrike">
                <a:solidFill>
                  <a:srgbClr val="C586C0"/>
                </a:solidFill>
                <a:latin typeface="Consolas"/>
                <a:ea typeface="Consolas"/>
                <a:cs typeface="Consolas"/>
                <a:sym typeface="Consolas"/>
              </a:rPr>
              <a:t>float</a:t>
            </a:r>
            <a:r>
              <a:rPr b="0" i="0" lang="en-US" sz="1000" u="none" cap="none" strike="noStrike">
                <a:solidFill>
                  <a:srgbClr val="9CDCFE"/>
                </a:solidFill>
                <a:latin typeface="Consolas"/>
                <a:ea typeface="Consolas"/>
                <a:cs typeface="Consolas"/>
                <a:sym typeface="Consolas"/>
              </a:rPr>
              <a:t> variance(</a:t>
            </a:r>
            <a:r>
              <a:rPr b="0" i="0" lang="en-US" sz="1000" u="none" cap="none" strike="noStrike">
                <a:solidFill>
                  <a:srgbClr val="C586C0"/>
                </a:solidFill>
                <a:latin typeface="Consolas"/>
                <a:ea typeface="Consolas"/>
                <a:cs typeface="Consolas"/>
                <a:sym typeface="Consolas"/>
              </a:rPr>
              <a:t>const</a:t>
            </a:r>
            <a:r>
              <a:rPr b="0" i="0" lang="en-US" sz="1000" u="none" cap="none" strike="noStrike">
                <a:solidFill>
                  <a:srgbClr val="9CDCFE"/>
                </a:solidFill>
                <a:latin typeface="Consolas"/>
                <a:ea typeface="Consolas"/>
                <a:cs typeface="Consolas"/>
                <a:sym typeface="Consolas"/>
              </a:rPr>
              <a:t> universal_vector&lt;</a:t>
            </a:r>
            <a:r>
              <a:rPr b="0" i="0" lang="en-US" sz="1000" u="none" cap="none" strike="noStrike">
                <a:solidFill>
                  <a:srgbClr val="C586C0"/>
                </a:solidFill>
                <a:latin typeface="Consolas"/>
                <a:ea typeface="Consolas"/>
                <a:cs typeface="Consolas"/>
                <a:sym typeface="Consolas"/>
              </a:rPr>
              <a:t>float</a:t>
            </a:r>
            <a:r>
              <a:rPr b="0" i="0" lang="en-US" sz="1000" u="none" cap="none" strike="noStrike">
                <a:solidFill>
                  <a:srgbClr val="9CDCFE"/>
                </a:solidFill>
                <a:latin typeface="Consolas"/>
                <a:ea typeface="Consolas"/>
                <a:cs typeface="Consolas"/>
                <a:sym typeface="Consolas"/>
              </a:rPr>
              <a:t>&gt;&amp; x, </a:t>
            </a:r>
            <a:r>
              <a:rPr b="0" i="0" lang="en-US" sz="1000" u="none" cap="none" strike="noStrike">
                <a:solidFill>
                  <a:srgbClr val="C586C0"/>
                </a:solidFill>
                <a:latin typeface="Consolas"/>
                <a:ea typeface="Consolas"/>
                <a:cs typeface="Consolas"/>
                <a:sym typeface="Consolas"/>
              </a:rPr>
              <a:t>float</a:t>
            </a:r>
            <a:r>
              <a:rPr b="0" i="0" lang="en-US" sz="1000" u="none" cap="none" strike="noStrike">
                <a:solidFill>
                  <a:srgbClr val="9CDCFE"/>
                </a:solidFill>
                <a:latin typeface="Consolas"/>
                <a:ea typeface="Consolas"/>
                <a:cs typeface="Consolas"/>
                <a:sym typeface="Consolas"/>
              </a:rPr>
              <a:t> mean)</a:t>
            </a:r>
            <a:endParaRPr/>
          </a:p>
          <a:p>
            <a:pPr indent="0" lvl="0" marL="0" marR="0" rtl="0" algn="l">
              <a:lnSpc>
                <a:spcPct val="100000"/>
              </a:lnSpc>
              <a:spcBef>
                <a:spcPts val="0"/>
              </a:spcBef>
              <a:spcAft>
                <a:spcPts val="0"/>
              </a:spcAft>
              <a:buNone/>
            </a:pPr>
            <a:r>
              <a:rPr b="0" i="0" lang="en-US" sz="1000" u="none" cap="none" strike="noStrike">
                <a:solidFill>
                  <a:srgbClr val="9CDCFE"/>
                </a:solidFill>
                <a:latin typeface="Consolas"/>
                <a:ea typeface="Consolas"/>
                <a:cs typeface="Consolas"/>
                <a:sym typeface="Consolas"/>
              </a:rPr>
              <a:t>{</a:t>
            </a:r>
            <a:endParaRPr/>
          </a:p>
          <a:p>
            <a:pPr indent="0" lvl="0" marL="0" marR="0" rtl="0" algn="l">
              <a:lnSpc>
                <a:spcPct val="100000"/>
              </a:lnSpc>
              <a:spcBef>
                <a:spcPts val="0"/>
              </a:spcBef>
              <a:spcAft>
                <a:spcPts val="0"/>
              </a:spcAft>
              <a:buNone/>
            </a:pPr>
            <a:r>
              <a:rPr b="0" i="0" lang="en-US" sz="1000" u="none" cap="none" strike="noStrike">
                <a:solidFill>
                  <a:srgbClr val="9CDCFE"/>
                </a:solidFill>
                <a:latin typeface="Consolas"/>
                <a:ea typeface="Consolas"/>
                <a:cs typeface="Consolas"/>
                <a:sym typeface="Consolas"/>
              </a:rPr>
              <a:t>  </a:t>
            </a:r>
            <a:r>
              <a:rPr b="0" i="0" lang="en-US" sz="1000" u="none" cap="none" strike="noStrike">
                <a:solidFill>
                  <a:srgbClr val="6A9955"/>
                </a:solidFill>
                <a:latin typeface="Consolas"/>
                <a:ea typeface="Consolas"/>
                <a:cs typeface="Consolas"/>
                <a:sym typeface="Consolas"/>
              </a:rPr>
              <a:t>// TODO: dereferencing squared_differences should give</a:t>
            </a:r>
            <a:endParaRPr/>
          </a:p>
          <a:p>
            <a:pPr indent="0" lvl="0" marL="0" marR="0" rtl="0" algn="l">
              <a:lnSpc>
                <a:spcPct val="100000"/>
              </a:lnSpc>
              <a:spcBef>
                <a:spcPts val="0"/>
              </a:spcBef>
              <a:spcAft>
                <a:spcPts val="0"/>
              </a:spcAft>
              <a:buNone/>
            </a:pPr>
            <a:r>
              <a:rPr b="0" i="0" lang="en-US" sz="1000" u="none" cap="none" strike="noStrike">
                <a:solidFill>
                  <a:srgbClr val="9CDCFE"/>
                </a:solidFill>
                <a:latin typeface="Consolas"/>
                <a:ea typeface="Consolas"/>
                <a:cs typeface="Consolas"/>
                <a:sym typeface="Consolas"/>
              </a:rPr>
              <a:t>  </a:t>
            </a:r>
            <a:r>
              <a:rPr b="0" i="0" lang="en-US" sz="1000" u="none" cap="none" strike="noStrike">
                <a:solidFill>
                  <a:srgbClr val="6A9955"/>
                </a:solidFill>
                <a:latin typeface="Consolas"/>
                <a:ea typeface="Consolas"/>
                <a:cs typeface="Consolas"/>
                <a:sym typeface="Consolas"/>
              </a:rPr>
              <a:t>//       (xi - mean) * (xi - mean)</a:t>
            </a:r>
            <a:endParaRPr/>
          </a:p>
          <a:p>
            <a:pPr indent="0" lvl="0" marL="0" marR="0" rtl="0" algn="l">
              <a:lnSpc>
                <a:spcPct val="100000"/>
              </a:lnSpc>
              <a:spcBef>
                <a:spcPts val="0"/>
              </a:spcBef>
              <a:spcAft>
                <a:spcPts val="0"/>
              </a:spcAft>
              <a:buNone/>
            </a:pPr>
            <a:r>
              <a:rPr b="1" i="0" lang="en-US" sz="1000" u="none" cap="none" strike="noStrike">
                <a:solidFill>
                  <a:srgbClr val="76B900"/>
                </a:solidFill>
                <a:latin typeface="Consolas"/>
                <a:ea typeface="Consolas"/>
                <a:cs typeface="Consolas"/>
                <a:sym typeface="Consolas"/>
              </a:rPr>
              <a:t>  </a:t>
            </a:r>
            <a:r>
              <a:rPr b="1" i="0" lang="en-US" sz="1000" u="none" cap="none" strike="noStrike">
                <a:solidFill>
                  <a:srgbClr val="C586C0"/>
                </a:solidFill>
                <a:latin typeface="Consolas"/>
                <a:ea typeface="Consolas"/>
                <a:cs typeface="Consolas"/>
                <a:sym typeface="Consolas"/>
              </a:rPr>
              <a:t>auto</a:t>
            </a:r>
            <a:r>
              <a:rPr b="1" i="0" lang="en-US" sz="1000" u="none" cap="none" strike="noStrike">
                <a:solidFill>
                  <a:srgbClr val="76B900"/>
                </a:solidFill>
                <a:latin typeface="Consolas"/>
                <a:ea typeface="Consolas"/>
                <a:cs typeface="Consolas"/>
                <a:sym typeface="Consolas"/>
              </a:rPr>
              <a:t> squared_differences = ...;</a:t>
            </a:r>
            <a:endParaRPr/>
          </a:p>
          <a:p>
            <a:pPr indent="0" lvl="0" marL="0" marR="0" rtl="0" algn="l">
              <a:lnSpc>
                <a:spcPct val="100000"/>
              </a:lnSpc>
              <a:spcBef>
                <a:spcPts val="0"/>
              </a:spcBef>
              <a:spcAft>
                <a:spcPts val="0"/>
              </a:spcAft>
              <a:buNone/>
            </a:pPr>
            <a:r>
              <a:rPr b="0" i="0" lang="en-US" sz="1000" u="none" cap="none" strike="noStrike">
                <a:solidFill>
                  <a:srgbClr val="2B2B2B"/>
                </a:solidFill>
                <a:latin typeface="Consolas"/>
                <a:ea typeface="Consolas"/>
                <a:cs typeface="Consolas"/>
                <a:sym typeface="Consolas"/>
              </a:rPr>
              <a:t> </a:t>
            </a:r>
            <a:endParaRPr/>
          </a:p>
          <a:p>
            <a:pPr indent="0" lvl="0" marL="0" marR="0" rtl="0" algn="l">
              <a:lnSpc>
                <a:spcPct val="100000"/>
              </a:lnSpc>
              <a:spcBef>
                <a:spcPts val="0"/>
              </a:spcBef>
              <a:spcAft>
                <a:spcPts val="0"/>
              </a:spcAft>
              <a:buNone/>
            </a:pPr>
            <a:r>
              <a:rPr b="0" i="0" lang="en-US" sz="1000" u="none" cap="none" strike="noStrike">
                <a:solidFill>
                  <a:srgbClr val="9CDCFE"/>
                </a:solidFill>
                <a:latin typeface="Consolas"/>
                <a:ea typeface="Consolas"/>
                <a:cs typeface="Consolas"/>
                <a:sym typeface="Consolas"/>
              </a:rPr>
              <a:t>  </a:t>
            </a:r>
            <a:r>
              <a:rPr b="0" i="0" lang="en-US" sz="1000" u="none" cap="none" strike="noStrike">
                <a:solidFill>
                  <a:srgbClr val="C586C0"/>
                </a:solidFill>
                <a:latin typeface="Consolas"/>
                <a:ea typeface="Consolas"/>
                <a:cs typeface="Consolas"/>
                <a:sym typeface="Consolas"/>
              </a:rPr>
              <a:t>return</a:t>
            </a:r>
            <a:r>
              <a:rPr b="0" i="0" lang="en-US" sz="1000" u="none" cap="none" strike="noStrike">
                <a:solidFill>
                  <a:srgbClr val="9CDCFE"/>
                </a:solidFill>
                <a:latin typeface="Consolas"/>
                <a:ea typeface="Consolas"/>
                <a:cs typeface="Consolas"/>
                <a:sym typeface="Consolas"/>
              </a:rPr>
              <a:t> thrust::reduce(thrust::device, squared_differences,</a:t>
            </a:r>
            <a:endParaRPr/>
          </a:p>
          <a:p>
            <a:pPr indent="0" lvl="0" marL="0" marR="0" rtl="0" algn="l">
              <a:lnSpc>
                <a:spcPct val="100000"/>
              </a:lnSpc>
              <a:spcBef>
                <a:spcPts val="0"/>
              </a:spcBef>
              <a:spcAft>
                <a:spcPts val="0"/>
              </a:spcAft>
              <a:buNone/>
            </a:pPr>
            <a:r>
              <a:rPr b="0" i="0" lang="en-US" sz="1000" u="none" cap="none" strike="noStrike">
                <a:solidFill>
                  <a:srgbClr val="9CDCFE"/>
                </a:solidFill>
                <a:latin typeface="Consolas"/>
                <a:ea typeface="Consolas"/>
                <a:cs typeface="Consolas"/>
                <a:sym typeface="Consolas"/>
              </a:rPr>
              <a:t>                        squared_differences + x.size()) / x.size();</a:t>
            </a:r>
            <a:endParaRPr/>
          </a:p>
          <a:p>
            <a:pPr indent="0" lvl="0" marL="0" marR="0" rtl="0" algn="l">
              <a:lnSpc>
                <a:spcPct val="100000"/>
              </a:lnSpc>
              <a:spcBef>
                <a:spcPts val="0"/>
              </a:spcBef>
              <a:spcAft>
                <a:spcPts val="0"/>
              </a:spcAft>
              <a:buNone/>
            </a:pPr>
            <a:r>
              <a:rPr b="0" i="0" lang="en-US" sz="1000" u="none" cap="none" strike="noStrike">
                <a:solidFill>
                  <a:srgbClr val="9CDCFE"/>
                </a:solidFill>
                <a:latin typeface="Consolas"/>
                <a:ea typeface="Consolas"/>
                <a:cs typeface="Consolas"/>
                <a:sym typeface="Consolas"/>
              </a:rPr>
              <a:t>}</a:t>
            </a:r>
            <a:endParaRPr/>
          </a:p>
        </p:txBody>
      </p:sp>
      <p:sp>
        <p:nvSpPr>
          <p:cNvPr id="1059" name="Google Shape;1059;p19"/>
          <p:cNvSpPr/>
          <p:nvPr/>
        </p:nvSpPr>
        <p:spPr>
          <a:xfrm>
            <a:off x="6720840" y="1188720"/>
            <a:ext cx="1965960" cy="2331720"/>
          </a:xfrm>
          <a:prstGeom prst="roundRect">
            <a:avLst>
              <a:gd fmla="val 3500" name="adj"/>
            </a:avLst>
          </a:prstGeom>
          <a:solidFill>
            <a:srgbClr val="F7EEEE"/>
          </a:solidFill>
          <a:ln cap="flat" cmpd="sng" w="9525">
            <a:solidFill>
              <a:srgbClr val="E6D2D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60" name="Google Shape;1060;p19"/>
          <p:cNvSpPr txBox="1"/>
          <p:nvPr/>
        </p:nvSpPr>
        <p:spPr>
          <a:xfrm>
            <a:off x="6876288" y="1280160"/>
            <a:ext cx="1655063" cy="2148839"/>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1300" u="none" cap="none" strike="noStrike">
                <a:solidFill>
                  <a:srgbClr val="500000"/>
                </a:solidFill>
                <a:latin typeface="Arial"/>
                <a:ea typeface="Arial"/>
                <a:cs typeface="Arial"/>
                <a:sym typeface="Arial"/>
              </a:rPr>
              <a:t>Expected output</a:t>
            </a:r>
            <a:endParaRPr/>
          </a:p>
          <a:p>
            <a:pPr indent="0" lvl="0" marL="0" marR="0" rtl="0" algn="l">
              <a:lnSpc>
                <a:spcPct val="100000"/>
              </a:lnSpc>
              <a:spcBef>
                <a:spcPts val="300"/>
              </a:spcBef>
              <a:spcAft>
                <a:spcPts val="0"/>
              </a:spcAft>
              <a:buNone/>
            </a:pPr>
            <a:r>
              <a:rPr b="0" i="0" lang="en-US" sz="1000" u="none" cap="none" strike="noStrike">
                <a:solidFill>
                  <a:srgbClr val="2B2B2B"/>
                </a:solidFill>
                <a:latin typeface="Consolas"/>
                <a:ea typeface="Consolas"/>
                <a:cs typeface="Consolas"/>
                <a:sym typeface="Consolas"/>
              </a:rPr>
              <a:t>step  variance</a:t>
            </a:r>
            <a:endParaRPr/>
          </a:p>
          <a:p>
            <a:pPr indent="0" lvl="0" marL="0" marR="0" rtl="0" algn="l">
              <a:lnSpc>
                <a:spcPct val="100000"/>
              </a:lnSpc>
              <a:spcBef>
                <a:spcPts val="300"/>
              </a:spcBef>
              <a:spcAft>
                <a:spcPts val="0"/>
              </a:spcAft>
              <a:buNone/>
            </a:pPr>
            <a:r>
              <a:rPr b="0" i="0" lang="en-US" sz="1000" u="none" cap="none" strike="noStrike">
                <a:solidFill>
                  <a:srgbClr val="2B2B2B"/>
                </a:solidFill>
                <a:latin typeface="Consolas"/>
                <a:ea typeface="Consolas"/>
                <a:cs typeface="Consolas"/>
                <a:sym typeface="Consolas"/>
              </a:rPr>
              <a:t>0     29.56</a:t>
            </a:r>
            <a:endParaRPr/>
          </a:p>
          <a:p>
            <a:pPr indent="0" lvl="0" marL="0" marR="0" rtl="0" algn="l">
              <a:lnSpc>
                <a:spcPct val="100000"/>
              </a:lnSpc>
              <a:spcBef>
                <a:spcPts val="300"/>
              </a:spcBef>
              <a:spcAft>
                <a:spcPts val="0"/>
              </a:spcAft>
              <a:buNone/>
            </a:pPr>
            <a:r>
              <a:rPr b="0" i="0" lang="en-US" sz="1000" u="none" cap="none" strike="noStrike">
                <a:solidFill>
                  <a:srgbClr val="2B2B2B"/>
                </a:solidFill>
                <a:latin typeface="Consolas"/>
                <a:ea typeface="Consolas"/>
                <a:cs typeface="Consolas"/>
                <a:sym typeface="Consolas"/>
              </a:rPr>
              <a:t>1     7.39</a:t>
            </a:r>
            <a:endParaRPr/>
          </a:p>
          <a:p>
            <a:pPr indent="0" lvl="0" marL="0" marR="0" rtl="0" algn="l">
              <a:lnSpc>
                <a:spcPct val="100000"/>
              </a:lnSpc>
              <a:spcBef>
                <a:spcPts val="300"/>
              </a:spcBef>
              <a:spcAft>
                <a:spcPts val="0"/>
              </a:spcAft>
              <a:buNone/>
            </a:pPr>
            <a:r>
              <a:rPr b="0" i="0" lang="en-US" sz="1000" u="none" cap="none" strike="noStrike">
                <a:solidFill>
                  <a:srgbClr val="2B2B2B"/>
                </a:solidFill>
                <a:latin typeface="Consolas"/>
                <a:ea typeface="Consolas"/>
                <a:cs typeface="Consolas"/>
                <a:sym typeface="Consolas"/>
              </a:rPr>
              <a:t>2     1.85</a:t>
            </a:r>
            <a:endParaRPr/>
          </a:p>
        </p:txBody>
      </p:sp>
      <p:sp>
        <p:nvSpPr>
          <p:cNvPr id="1061" name="Google Shape;1061;p19"/>
          <p:cNvSpPr/>
          <p:nvPr/>
        </p:nvSpPr>
        <p:spPr>
          <a:xfrm>
            <a:off x="457200" y="3639312"/>
            <a:ext cx="8229600" cy="749808"/>
          </a:xfrm>
          <a:prstGeom prst="roundRect">
            <a:avLst>
              <a:gd fmla="val 3500" name="adj"/>
            </a:avLst>
          </a:prstGeom>
          <a:solidFill>
            <a:srgbClr val="F5F5F6"/>
          </a:solidFill>
          <a:ln cap="flat" cmpd="sng" w="9525">
            <a:solidFill>
              <a:srgbClr val="E2E2E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62" name="Google Shape;1062;p19"/>
          <p:cNvSpPr txBox="1"/>
          <p:nvPr/>
        </p:nvSpPr>
        <p:spPr>
          <a:xfrm>
            <a:off x="612648" y="3730752"/>
            <a:ext cx="7918704" cy="566927"/>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1200" u="none" cap="none" strike="noStrike">
                <a:solidFill>
                  <a:srgbClr val="500000"/>
                </a:solidFill>
                <a:latin typeface="Arial"/>
                <a:ea typeface="Arial"/>
                <a:cs typeface="Arial"/>
                <a:sym typeface="Arial"/>
              </a:rPr>
              <a:t>Hint</a:t>
            </a:r>
            <a:endParaRPr/>
          </a:p>
          <a:p>
            <a:pPr indent="0" lvl="0" marL="0" marR="0" rtl="0" algn="l">
              <a:lnSpc>
                <a:spcPct val="100000"/>
              </a:lnSpc>
              <a:spcBef>
                <a:spcPts val="300"/>
              </a:spcBef>
              <a:spcAft>
                <a:spcPts val="0"/>
              </a:spcAft>
              <a:buNone/>
            </a:pPr>
            <a:r>
              <a:rPr b="0" i="0" lang="en-US" sz="1100" u="none" cap="none" strike="noStrike">
                <a:solidFill>
                  <a:srgbClr val="2B2B2B"/>
                </a:solidFill>
                <a:latin typeface="Arial"/>
                <a:ea typeface="Arial"/>
                <a:cs typeface="Arial"/>
                <a:sym typeface="Arial"/>
              </a:rPr>
              <a:t>Use </a:t>
            </a:r>
            <a:r>
              <a:rPr b="1" i="0" lang="en-US" sz="1100" u="none" cap="none" strike="noStrike">
                <a:solidFill>
                  <a:srgbClr val="500000"/>
                </a:solidFill>
                <a:latin typeface="Consolas"/>
                <a:ea typeface="Consolas"/>
                <a:cs typeface="Consolas"/>
                <a:sym typeface="Consolas"/>
              </a:rPr>
              <a:t>thrust::make_transform_iterator(x.begin(), …)</a:t>
            </a:r>
            <a:r>
              <a:rPr b="0" i="0" lang="en-US" sz="1100" u="none" cap="none" strike="noStrike">
                <a:solidFill>
                  <a:srgbClr val="2B2B2B"/>
                </a:solidFill>
                <a:latin typeface="Arial"/>
                <a:ea typeface="Arial"/>
                <a:cs typeface="Arial"/>
                <a:sym typeface="Arial"/>
              </a:rPr>
              <a:t>. The lambda needs </a:t>
            </a:r>
            <a:r>
              <a:rPr b="1" i="0" lang="en-US" sz="1100" u="none" cap="none" strike="noStrike">
                <a:solidFill>
                  <a:srgbClr val="500000"/>
                </a:solidFill>
                <a:latin typeface="Consolas"/>
                <a:ea typeface="Consolas"/>
                <a:cs typeface="Consolas"/>
                <a:sym typeface="Consolas"/>
              </a:rPr>
              <a:t>mean</a:t>
            </a:r>
            <a:r>
              <a:rPr b="0" i="0" lang="en-US" sz="1100" u="none" cap="none" strike="noStrike">
                <a:solidFill>
                  <a:srgbClr val="2B2B2B"/>
                </a:solidFill>
                <a:latin typeface="Arial"/>
                <a:ea typeface="Arial"/>
                <a:cs typeface="Arial"/>
                <a:sym typeface="Arial"/>
              </a:rPr>
              <a:t>: capture it with </a:t>
            </a:r>
            <a:r>
              <a:rPr b="1" i="0" lang="en-US" sz="1100" u="none" cap="none" strike="noStrike">
                <a:solidFill>
                  <a:srgbClr val="500000"/>
                </a:solidFill>
                <a:latin typeface="Consolas"/>
                <a:ea typeface="Consolas"/>
                <a:cs typeface="Consolas"/>
                <a:sym typeface="Consolas"/>
              </a:rPr>
              <a:t>[mean]</a:t>
            </a:r>
            <a:r>
              <a:rPr b="0" i="0" lang="en-US" sz="1100" u="none" cap="none" strike="noStrike">
                <a:solidFill>
                  <a:srgbClr val="2B2B2B"/>
                </a:solidFill>
                <a:latin typeface="Arial"/>
                <a:ea typeface="Arial"/>
                <a:cs typeface="Arial"/>
                <a:sym typeface="Arial"/>
              </a:rPr>
              <a:t>.</a:t>
            </a:r>
            <a:endParaRPr/>
          </a:p>
        </p:txBody>
      </p:sp>
      <p:sp>
        <p:nvSpPr>
          <p:cNvPr id="1063" name="Google Shape;1063;p19"/>
          <p:cNvSpPr txBox="1"/>
          <p:nvPr/>
        </p:nvSpPr>
        <p:spPr>
          <a:xfrm>
            <a:off x="457200" y="4526280"/>
            <a:ext cx="8229600" cy="27432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1000" u="none" cap="none" strike="noStrike">
                <a:solidFill>
                  <a:srgbClr val="6E6E6E"/>
                </a:solidFill>
                <a:latin typeface="Arial"/>
                <a:ea typeface="Arial"/>
                <a:cs typeface="Arial"/>
                <a:sym typeface="Arial"/>
              </a:rPr>
              <a:t>File: </a:t>
            </a:r>
            <a:r>
              <a:rPr b="0" i="0" lang="en-US" sz="1000" u="none" cap="none" strike="noStrike">
                <a:solidFill>
                  <a:srgbClr val="6E6E6E"/>
                </a:solidFill>
                <a:latin typeface="Consolas"/>
                <a:ea typeface="Consolas"/>
                <a:cs typeface="Consolas"/>
                <a:sym typeface="Consolas"/>
              </a:rPr>
              <a:t>02-extending/ex5_variance_problem.cu</a:t>
            </a:r>
            <a:endParaRPr/>
          </a:p>
        </p:txBody>
      </p:sp>
      <p:sp>
        <p:nvSpPr>
          <p:cNvPr id="1064" name="Google Shape;1064;p19"/>
          <p:cNvSpPr/>
          <p:nvPr/>
        </p:nvSpPr>
        <p:spPr>
          <a:xfrm>
            <a:off x="636879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19"/>
          <p:cNvSpPr/>
          <p:nvPr/>
        </p:nvSpPr>
        <p:spPr>
          <a:xfrm>
            <a:off x="644194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19"/>
          <p:cNvSpPr/>
          <p:nvPr/>
        </p:nvSpPr>
        <p:spPr>
          <a:xfrm>
            <a:off x="6515100"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19"/>
          <p:cNvSpPr/>
          <p:nvPr/>
        </p:nvSpPr>
        <p:spPr>
          <a:xfrm>
            <a:off x="6588252"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19"/>
          <p:cNvSpPr/>
          <p:nvPr/>
        </p:nvSpPr>
        <p:spPr>
          <a:xfrm>
            <a:off x="6661404"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19"/>
          <p:cNvSpPr/>
          <p:nvPr/>
        </p:nvSpPr>
        <p:spPr>
          <a:xfrm>
            <a:off x="673455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19"/>
          <p:cNvSpPr/>
          <p:nvPr/>
        </p:nvSpPr>
        <p:spPr>
          <a:xfrm>
            <a:off x="680770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19"/>
          <p:cNvSpPr/>
          <p:nvPr/>
        </p:nvSpPr>
        <p:spPr>
          <a:xfrm>
            <a:off x="6880860"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19"/>
          <p:cNvSpPr/>
          <p:nvPr/>
        </p:nvSpPr>
        <p:spPr>
          <a:xfrm>
            <a:off x="6954012"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19"/>
          <p:cNvSpPr/>
          <p:nvPr/>
        </p:nvSpPr>
        <p:spPr>
          <a:xfrm>
            <a:off x="7027164"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19"/>
          <p:cNvSpPr/>
          <p:nvPr/>
        </p:nvSpPr>
        <p:spPr>
          <a:xfrm>
            <a:off x="710031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19"/>
          <p:cNvSpPr/>
          <p:nvPr/>
        </p:nvSpPr>
        <p:spPr>
          <a:xfrm>
            <a:off x="717346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19"/>
          <p:cNvSpPr/>
          <p:nvPr/>
        </p:nvSpPr>
        <p:spPr>
          <a:xfrm>
            <a:off x="7246620"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19"/>
          <p:cNvSpPr/>
          <p:nvPr/>
        </p:nvSpPr>
        <p:spPr>
          <a:xfrm>
            <a:off x="7319772"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19"/>
          <p:cNvSpPr/>
          <p:nvPr/>
        </p:nvSpPr>
        <p:spPr>
          <a:xfrm>
            <a:off x="7392924"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19"/>
          <p:cNvSpPr/>
          <p:nvPr/>
        </p:nvSpPr>
        <p:spPr>
          <a:xfrm>
            <a:off x="746607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19"/>
          <p:cNvSpPr/>
          <p:nvPr/>
        </p:nvSpPr>
        <p:spPr>
          <a:xfrm>
            <a:off x="753922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19"/>
          <p:cNvSpPr/>
          <p:nvPr/>
        </p:nvSpPr>
        <p:spPr>
          <a:xfrm>
            <a:off x="7612380"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19"/>
          <p:cNvSpPr/>
          <p:nvPr/>
        </p:nvSpPr>
        <p:spPr>
          <a:xfrm>
            <a:off x="7685532"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19"/>
          <p:cNvSpPr/>
          <p:nvPr/>
        </p:nvSpPr>
        <p:spPr>
          <a:xfrm>
            <a:off x="7758684"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19"/>
          <p:cNvSpPr/>
          <p:nvPr/>
        </p:nvSpPr>
        <p:spPr>
          <a:xfrm>
            <a:off x="783183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19"/>
          <p:cNvSpPr/>
          <p:nvPr/>
        </p:nvSpPr>
        <p:spPr>
          <a:xfrm>
            <a:off x="7904988" y="4901184"/>
            <a:ext cx="50292" cy="50292"/>
          </a:xfrm>
          <a:prstGeom prst="rect">
            <a:avLst/>
          </a:prstGeom>
          <a:solidFill>
            <a:srgbClr val="5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19"/>
          <p:cNvSpPr/>
          <p:nvPr/>
        </p:nvSpPr>
        <p:spPr>
          <a:xfrm>
            <a:off x="7978140"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19"/>
          <p:cNvSpPr/>
          <p:nvPr/>
        </p:nvSpPr>
        <p:spPr>
          <a:xfrm>
            <a:off x="805129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19"/>
          <p:cNvSpPr/>
          <p:nvPr/>
        </p:nvSpPr>
        <p:spPr>
          <a:xfrm>
            <a:off x="812444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19"/>
          <p:cNvSpPr/>
          <p:nvPr/>
        </p:nvSpPr>
        <p:spPr>
          <a:xfrm>
            <a:off x="819759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19"/>
          <p:cNvSpPr/>
          <p:nvPr/>
        </p:nvSpPr>
        <p:spPr>
          <a:xfrm>
            <a:off x="827074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19"/>
          <p:cNvSpPr/>
          <p:nvPr/>
        </p:nvSpPr>
        <p:spPr>
          <a:xfrm>
            <a:off x="8343900"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19"/>
          <p:cNvSpPr/>
          <p:nvPr/>
        </p:nvSpPr>
        <p:spPr>
          <a:xfrm>
            <a:off x="841705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19"/>
          <p:cNvSpPr/>
          <p:nvPr/>
        </p:nvSpPr>
        <p:spPr>
          <a:xfrm>
            <a:off x="849020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19"/>
          <p:cNvSpPr/>
          <p:nvPr/>
        </p:nvSpPr>
        <p:spPr>
          <a:xfrm>
            <a:off x="856335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19"/>
          <p:cNvSpPr/>
          <p:nvPr/>
        </p:nvSpPr>
        <p:spPr>
          <a:xfrm>
            <a:off x="863650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19"/>
          <p:cNvSpPr txBox="1"/>
          <p:nvPr/>
        </p:nvSpPr>
        <p:spPr>
          <a:xfrm>
            <a:off x="5472684" y="4846320"/>
            <a:ext cx="822960" cy="15544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00" u="none" cap="none" strike="noStrike">
                <a:solidFill>
                  <a:srgbClr val="9A9AA0"/>
                </a:solidFill>
                <a:latin typeface="Consolas"/>
                <a:ea typeface="Consolas"/>
                <a:cs typeface="Consolas"/>
                <a:sym typeface="Consolas"/>
              </a:rPr>
              <a:t>slide[21]</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01" name="Shape 1101"/>
        <p:cNvGrpSpPr/>
        <p:nvPr/>
      </p:nvGrpSpPr>
      <p:grpSpPr>
        <a:xfrm>
          <a:off x="0" y="0"/>
          <a:ext cx="0" cy="0"/>
          <a:chOff x="0" y="0"/>
          <a:chExt cx="0" cy="0"/>
        </a:xfrm>
      </p:grpSpPr>
      <p:sp>
        <p:nvSpPr>
          <p:cNvPr id="1102" name="Google Shape;1102;p20"/>
          <p:cNvSpPr txBox="1"/>
          <p:nvPr/>
        </p:nvSpPr>
        <p:spPr>
          <a:xfrm>
            <a:off x="457200" y="320040"/>
            <a:ext cx="8229600" cy="54864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2800" u="none" cap="none" strike="noStrike">
                <a:solidFill>
                  <a:srgbClr val="500000"/>
                </a:solidFill>
                <a:latin typeface="Arial"/>
                <a:ea typeface="Arial"/>
                <a:cs typeface="Arial"/>
                <a:sym typeface="Arial"/>
              </a:rPr>
              <a:t>Exercise 5: solution</a:t>
            </a:r>
            <a:endParaRPr/>
          </a:p>
        </p:txBody>
      </p:sp>
      <p:sp>
        <p:nvSpPr>
          <p:cNvPr id="1103" name="Google Shape;1103;p20"/>
          <p:cNvSpPr/>
          <p:nvPr/>
        </p:nvSpPr>
        <p:spPr>
          <a:xfrm>
            <a:off x="457200" y="1051560"/>
            <a:ext cx="8229600" cy="1417320"/>
          </a:xfrm>
          <a:prstGeom prst="roundRect">
            <a:avLst>
              <a:gd fmla="val 3500" name="adj"/>
            </a:avLst>
          </a:prstGeom>
          <a:solidFill>
            <a:srgbClr val="1B1B1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04" name="Google Shape;1104;p20"/>
          <p:cNvSpPr txBox="1"/>
          <p:nvPr/>
        </p:nvSpPr>
        <p:spPr>
          <a:xfrm>
            <a:off x="594360" y="1143000"/>
            <a:ext cx="7955279" cy="123444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1200" u="none" cap="none" strike="noStrike">
                <a:solidFill>
                  <a:srgbClr val="C586C0"/>
                </a:solidFill>
                <a:latin typeface="Consolas"/>
                <a:ea typeface="Consolas"/>
                <a:cs typeface="Consolas"/>
                <a:sym typeface="Consolas"/>
              </a:rPr>
              <a:t>auto</a:t>
            </a:r>
            <a:r>
              <a:rPr b="1" i="0" lang="en-US" sz="1200" u="none" cap="none" strike="noStrike">
                <a:solidFill>
                  <a:srgbClr val="76B900"/>
                </a:solidFill>
                <a:latin typeface="Consolas"/>
                <a:ea typeface="Consolas"/>
                <a:cs typeface="Consolas"/>
                <a:sym typeface="Consolas"/>
              </a:rPr>
              <a:t> squared_differences = thrust::make_transform_iterator(</a:t>
            </a:r>
            <a:endParaRPr/>
          </a:p>
          <a:p>
            <a:pPr indent="0" lvl="0" marL="0" marR="0" rtl="0" algn="l">
              <a:lnSpc>
                <a:spcPct val="100000"/>
              </a:lnSpc>
              <a:spcBef>
                <a:spcPts val="0"/>
              </a:spcBef>
              <a:spcAft>
                <a:spcPts val="0"/>
              </a:spcAft>
              <a:buNone/>
            </a:pPr>
            <a:r>
              <a:rPr b="0" i="0" lang="en-US" sz="1200" u="none" cap="none" strike="noStrike">
                <a:solidFill>
                  <a:srgbClr val="9CDCFE"/>
                </a:solidFill>
                <a:latin typeface="Consolas"/>
                <a:ea typeface="Consolas"/>
                <a:cs typeface="Consolas"/>
                <a:sym typeface="Consolas"/>
              </a:rPr>
              <a:t>    x.begin(),</a:t>
            </a:r>
            <a:endParaRPr/>
          </a:p>
          <a:p>
            <a:pPr indent="0" lvl="0" marL="0" marR="0" rtl="0" algn="l">
              <a:lnSpc>
                <a:spcPct val="100000"/>
              </a:lnSpc>
              <a:spcBef>
                <a:spcPts val="0"/>
              </a:spcBef>
              <a:spcAft>
                <a:spcPts val="0"/>
              </a:spcAft>
              <a:buNone/>
            </a:pPr>
            <a:r>
              <a:rPr b="1" i="0" lang="en-US" sz="1200" u="none" cap="none" strike="noStrike">
                <a:solidFill>
                  <a:srgbClr val="76B900"/>
                </a:solidFill>
                <a:latin typeface="Consolas"/>
                <a:ea typeface="Consolas"/>
                <a:cs typeface="Consolas"/>
                <a:sym typeface="Consolas"/>
              </a:rPr>
              <a:t>    [mean] </a:t>
            </a:r>
            <a:r>
              <a:rPr b="1" i="0" lang="en-US" sz="1200" u="none" cap="none" strike="noStrike">
                <a:solidFill>
                  <a:srgbClr val="C586C0"/>
                </a:solidFill>
                <a:latin typeface="Consolas"/>
                <a:ea typeface="Consolas"/>
                <a:cs typeface="Consolas"/>
                <a:sym typeface="Consolas"/>
              </a:rPr>
              <a:t>__host__</a:t>
            </a:r>
            <a:r>
              <a:rPr b="1" i="0" lang="en-US" sz="1200" u="none" cap="none" strike="noStrike">
                <a:solidFill>
                  <a:srgbClr val="76B900"/>
                </a:solidFill>
                <a:latin typeface="Consolas"/>
                <a:ea typeface="Consolas"/>
                <a:cs typeface="Consolas"/>
                <a:sym typeface="Consolas"/>
              </a:rPr>
              <a:t> </a:t>
            </a:r>
            <a:r>
              <a:rPr b="1" i="0" lang="en-US" sz="1200" u="none" cap="none" strike="noStrike">
                <a:solidFill>
                  <a:srgbClr val="C586C0"/>
                </a:solidFill>
                <a:latin typeface="Consolas"/>
                <a:ea typeface="Consolas"/>
                <a:cs typeface="Consolas"/>
                <a:sym typeface="Consolas"/>
              </a:rPr>
              <a:t>__device__</a:t>
            </a:r>
            <a:r>
              <a:rPr b="1" i="0" lang="en-US" sz="1200" u="none" cap="none" strike="noStrike">
                <a:solidFill>
                  <a:srgbClr val="76B900"/>
                </a:solidFill>
                <a:latin typeface="Consolas"/>
                <a:ea typeface="Consolas"/>
                <a:cs typeface="Consolas"/>
                <a:sym typeface="Consolas"/>
              </a:rPr>
              <a:t>(</a:t>
            </a:r>
            <a:r>
              <a:rPr b="1" i="0" lang="en-US" sz="1200" u="none" cap="none" strike="noStrike">
                <a:solidFill>
                  <a:srgbClr val="C586C0"/>
                </a:solidFill>
                <a:latin typeface="Consolas"/>
                <a:ea typeface="Consolas"/>
                <a:cs typeface="Consolas"/>
                <a:sym typeface="Consolas"/>
              </a:rPr>
              <a:t>float</a:t>
            </a:r>
            <a:r>
              <a:rPr b="1" i="0" lang="en-US" sz="1200" u="none" cap="none" strike="noStrike">
                <a:solidFill>
                  <a:srgbClr val="76B900"/>
                </a:solidFill>
                <a:latin typeface="Consolas"/>
                <a:ea typeface="Consolas"/>
                <a:cs typeface="Consolas"/>
                <a:sym typeface="Consolas"/>
              </a:rPr>
              <a:t> value) {</a:t>
            </a:r>
            <a:endParaRPr/>
          </a:p>
          <a:p>
            <a:pPr indent="0" lvl="0" marL="0" marR="0" rtl="0" algn="l">
              <a:lnSpc>
                <a:spcPct val="100000"/>
              </a:lnSpc>
              <a:spcBef>
                <a:spcPts val="0"/>
              </a:spcBef>
              <a:spcAft>
                <a:spcPts val="0"/>
              </a:spcAft>
              <a:buNone/>
            </a:pPr>
            <a:r>
              <a:rPr b="0" i="0" lang="en-US" sz="1200" u="none" cap="none" strike="noStrike">
                <a:solidFill>
                  <a:srgbClr val="9CDCFE"/>
                </a:solidFill>
                <a:latin typeface="Consolas"/>
                <a:ea typeface="Consolas"/>
                <a:cs typeface="Consolas"/>
                <a:sym typeface="Consolas"/>
              </a:rPr>
              <a:t>      </a:t>
            </a:r>
            <a:r>
              <a:rPr b="0" i="0" lang="en-US" sz="1200" u="none" cap="none" strike="noStrike">
                <a:solidFill>
                  <a:srgbClr val="C586C0"/>
                </a:solidFill>
                <a:latin typeface="Consolas"/>
                <a:ea typeface="Consolas"/>
                <a:cs typeface="Consolas"/>
                <a:sym typeface="Consolas"/>
              </a:rPr>
              <a:t>return</a:t>
            </a:r>
            <a:r>
              <a:rPr b="0" i="0" lang="en-US" sz="1200" u="none" cap="none" strike="noStrike">
                <a:solidFill>
                  <a:srgbClr val="9CDCFE"/>
                </a:solidFill>
                <a:latin typeface="Consolas"/>
                <a:ea typeface="Consolas"/>
                <a:cs typeface="Consolas"/>
                <a:sym typeface="Consolas"/>
              </a:rPr>
              <a:t> (value - mean) * (value - mean);</a:t>
            </a:r>
            <a:endParaRPr/>
          </a:p>
          <a:p>
            <a:pPr indent="0" lvl="0" marL="0" marR="0" rtl="0" algn="l">
              <a:lnSpc>
                <a:spcPct val="100000"/>
              </a:lnSpc>
              <a:spcBef>
                <a:spcPts val="0"/>
              </a:spcBef>
              <a:spcAft>
                <a:spcPts val="0"/>
              </a:spcAft>
              <a:buNone/>
            </a:pPr>
            <a:r>
              <a:rPr b="0" i="0" lang="en-US" sz="1200" u="none" cap="none" strike="noStrike">
                <a:solidFill>
                  <a:srgbClr val="9CDCFE"/>
                </a:solidFill>
                <a:latin typeface="Consolas"/>
                <a:ea typeface="Consolas"/>
                <a:cs typeface="Consolas"/>
                <a:sym typeface="Consolas"/>
              </a:rPr>
              <a:t>    });</a:t>
            </a:r>
            <a:endParaRPr/>
          </a:p>
        </p:txBody>
      </p:sp>
      <p:sp>
        <p:nvSpPr>
          <p:cNvPr id="1105" name="Google Shape;1105;p20"/>
          <p:cNvSpPr/>
          <p:nvPr/>
        </p:nvSpPr>
        <p:spPr>
          <a:xfrm>
            <a:off x="457200" y="2651760"/>
            <a:ext cx="2606040" cy="1280160"/>
          </a:xfrm>
          <a:prstGeom prst="roundRect">
            <a:avLst>
              <a:gd fmla="val 3500" name="adj"/>
            </a:avLst>
          </a:prstGeom>
          <a:solidFill>
            <a:srgbClr val="F7EEEE"/>
          </a:solidFill>
          <a:ln cap="flat" cmpd="sng" w="9525">
            <a:solidFill>
              <a:srgbClr val="E6D2D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06" name="Google Shape;1106;p20"/>
          <p:cNvSpPr txBox="1"/>
          <p:nvPr/>
        </p:nvSpPr>
        <p:spPr>
          <a:xfrm>
            <a:off x="612648" y="2743200"/>
            <a:ext cx="2295144" cy="109728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1300" u="none" cap="none" strike="noStrike">
                <a:solidFill>
                  <a:srgbClr val="500000"/>
                </a:solidFill>
                <a:latin typeface="Arial"/>
                <a:ea typeface="Arial"/>
                <a:cs typeface="Arial"/>
                <a:sym typeface="Arial"/>
              </a:rPr>
              <a:t>x.begin()</a:t>
            </a:r>
            <a:endParaRPr/>
          </a:p>
          <a:p>
            <a:pPr indent="0" lvl="0" marL="0" marR="0" rtl="0" algn="l">
              <a:lnSpc>
                <a:spcPct val="100000"/>
              </a:lnSpc>
              <a:spcBef>
                <a:spcPts val="300"/>
              </a:spcBef>
              <a:spcAft>
                <a:spcPts val="0"/>
              </a:spcAft>
              <a:buNone/>
            </a:pPr>
            <a:r>
              <a:rPr b="0" i="0" lang="en-US" sz="1050" u="none" cap="none" strike="noStrike">
                <a:solidFill>
                  <a:srgbClr val="2B2B2B"/>
                </a:solidFill>
                <a:latin typeface="Arial"/>
                <a:ea typeface="Arial"/>
                <a:cs typeface="Arial"/>
                <a:sym typeface="Arial"/>
              </a:rPr>
              <a:t>The sequence being transformed. Each read gives one temperature.</a:t>
            </a:r>
            <a:endParaRPr/>
          </a:p>
        </p:txBody>
      </p:sp>
      <p:sp>
        <p:nvSpPr>
          <p:cNvPr id="1107" name="Google Shape;1107;p20"/>
          <p:cNvSpPr/>
          <p:nvPr/>
        </p:nvSpPr>
        <p:spPr>
          <a:xfrm>
            <a:off x="3268980" y="2651760"/>
            <a:ext cx="2606040" cy="1280160"/>
          </a:xfrm>
          <a:prstGeom prst="roundRect">
            <a:avLst>
              <a:gd fmla="val 3500" name="adj"/>
            </a:avLst>
          </a:prstGeom>
          <a:solidFill>
            <a:srgbClr val="F5F5F6"/>
          </a:solidFill>
          <a:ln cap="flat" cmpd="sng" w="9525">
            <a:solidFill>
              <a:srgbClr val="E2E2E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08" name="Google Shape;1108;p20"/>
          <p:cNvSpPr txBox="1"/>
          <p:nvPr/>
        </p:nvSpPr>
        <p:spPr>
          <a:xfrm>
            <a:off x="3424428" y="2743200"/>
            <a:ext cx="2295144" cy="109728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1300" u="none" cap="none" strike="noStrike">
                <a:solidFill>
                  <a:srgbClr val="500000"/>
                </a:solidFill>
                <a:latin typeface="Arial"/>
                <a:ea typeface="Arial"/>
                <a:cs typeface="Arial"/>
                <a:sym typeface="Arial"/>
              </a:rPr>
              <a:t>[mean]</a:t>
            </a:r>
            <a:endParaRPr/>
          </a:p>
          <a:p>
            <a:pPr indent="0" lvl="0" marL="0" marR="0" rtl="0" algn="l">
              <a:lnSpc>
                <a:spcPct val="100000"/>
              </a:lnSpc>
              <a:spcBef>
                <a:spcPts val="300"/>
              </a:spcBef>
              <a:spcAft>
                <a:spcPts val="0"/>
              </a:spcAft>
              <a:buNone/>
            </a:pPr>
            <a:r>
              <a:rPr b="0" i="0" lang="en-US" sz="1050" u="none" cap="none" strike="noStrike">
                <a:solidFill>
                  <a:srgbClr val="2B2B2B"/>
                </a:solidFill>
                <a:latin typeface="Arial"/>
                <a:ea typeface="Arial"/>
                <a:cs typeface="Arial"/>
                <a:sym typeface="Arial"/>
              </a:rPr>
              <a:t>Copies mean into the lambda, so the GPU has its own copy to use.</a:t>
            </a:r>
            <a:endParaRPr/>
          </a:p>
        </p:txBody>
      </p:sp>
      <p:sp>
        <p:nvSpPr>
          <p:cNvPr id="1109" name="Google Shape;1109;p20"/>
          <p:cNvSpPr/>
          <p:nvPr/>
        </p:nvSpPr>
        <p:spPr>
          <a:xfrm>
            <a:off x="6080760" y="2651760"/>
            <a:ext cx="2606040" cy="1280160"/>
          </a:xfrm>
          <a:prstGeom prst="roundRect">
            <a:avLst>
              <a:gd fmla="val 3500" name="adj"/>
            </a:avLst>
          </a:prstGeom>
          <a:solidFill>
            <a:srgbClr val="F2F8E8"/>
          </a:solidFill>
          <a:ln cap="flat" cmpd="sng" w="9525">
            <a:solidFill>
              <a:srgbClr val="D8E8B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10" name="Google Shape;1110;p20"/>
          <p:cNvSpPr txBox="1"/>
          <p:nvPr/>
        </p:nvSpPr>
        <p:spPr>
          <a:xfrm>
            <a:off x="6236208" y="2743200"/>
            <a:ext cx="2295144" cy="109728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1300" u="none" cap="none" strike="noStrike">
                <a:solidFill>
                  <a:srgbClr val="4E7A00"/>
                </a:solidFill>
                <a:latin typeface="Arial"/>
                <a:ea typeface="Arial"/>
                <a:cs typeface="Arial"/>
                <a:sym typeface="Arial"/>
              </a:rPr>
              <a:t>reduce sums it</a:t>
            </a:r>
            <a:endParaRPr/>
          </a:p>
          <a:p>
            <a:pPr indent="0" lvl="0" marL="0" marR="0" rtl="0" algn="l">
              <a:lnSpc>
                <a:spcPct val="100000"/>
              </a:lnSpc>
              <a:spcBef>
                <a:spcPts val="300"/>
              </a:spcBef>
              <a:spcAft>
                <a:spcPts val="0"/>
              </a:spcAft>
              <a:buNone/>
            </a:pPr>
            <a:r>
              <a:rPr b="0" i="0" lang="en-US" sz="1050" u="none" cap="none" strike="noStrike">
                <a:solidFill>
                  <a:srgbClr val="2B2B2B"/>
                </a:solidFill>
                <a:latin typeface="Arial"/>
                <a:ea typeface="Arial"/>
                <a:cs typeface="Arial"/>
                <a:sym typeface="Arial"/>
              </a:rPr>
              <a:t>Each squared difference is computed on read and added. Never stored.</a:t>
            </a:r>
            <a:endParaRPr/>
          </a:p>
        </p:txBody>
      </p:sp>
      <p:sp>
        <p:nvSpPr>
          <p:cNvPr id="1111" name="Google Shape;1111;p20"/>
          <p:cNvSpPr/>
          <p:nvPr/>
        </p:nvSpPr>
        <p:spPr>
          <a:xfrm>
            <a:off x="457200" y="4114800"/>
            <a:ext cx="8229600" cy="457200"/>
          </a:xfrm>
          <a:prstGeom prst="roundRect">
            <a:avLst>
              <a:gd fmla="val 3500" name="adj"/>
            </a:avLst>
          </a:prstGeom>
          <a:solidFill>
            <a:srgbClr val="1B1B1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12" name="Google Shape;1112;p20"/>
          <p:cNvSpPr txBox="1"/>
          <p:nvPr/>
        </p:nvSpPr>
        <p:spPr>
          <a:xfrm>
            <a:off x="621792" y="4114800"/>
            <a:ext cx="7955279" cy="457200"/>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Pattern: "compute per element, then combine" = transform iterator + reduce. One pass over memory.</a:t>
            </a:r>
            <a:endParaRPr/>
          </a:p>
        </p:txBody>
      </p:sp>
      <p:sp>
        <p:nvSpPr>
          <p:cNvPr id="1113" name="Google Shape;1113;p20"/>
          <p:cNvSpPr/>
          <p:nvPr/>
        </p:nvSpPr>
        <p:spPr>
          <a:xfrm>
            <a:off x="636879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20"/>
          <p:cNvSpPr/>
          <p:nvPr/>
        </p:nvSpPr>
        <p:spPr>
          <a:xfrm>
            <a:off x="644194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20"/>
          <p:cNvSpPr/>
          <p:nvPr/>
        </p:nvSpPr>
        <p:spPr>
          <a:xfrm>
            <a:off x="6515100"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20"/>
          <p:cNvSpPr/>
          <p:nvPr/>
        </p:nvSpPr>
        <p:spPr>
          <a:xfrm>
            <a:off x="6588252"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20"/>
          <p:cNvSpPr/>
          <p:nvPr/>
        </p:nvSpPr>
        <p:spPr>
          <a:xfrm>
            <a:off x="6661404"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20"/>
          <p:cNvSpPr/>
          <p:nvPr/>
        </p:nvSpPr>
        <p:spPr>
          <a:xfrm>
            <a:off x="673455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20"/>
          <p:cNvSpPr/>
          <p:nvPr/>
        </p:nvSpPr>
        <p:spPr>
          <a:xfrm>
            <a:off x="680770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20"/>
          <p:cNvSpPr/>
          <p:nvPr/>
        </p:nvSpPr>
        <p:spPr>
          <a:xfrm>
            <a:off x="6880860"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20"/>
          <p:cNvSpPr/>
          <p:nvPr/>
        </p:nvSpPr>
        <p:spPr>
          <a:xfrm>
            <a:off x="6954012"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20"/>
          <p:cNvSpPr/>
          <p:nvPr/>
        </p:nvSpPr>
        <p:spPr>
          <a:xfrm>
            <a:off x="7027164"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20"/>
          <p:cNvSpPr/>
          <p:nvPr/>
        </p:nvSpPr>
        <p:spPr>
          <a:xfrm>
            <a:off x="710031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20"/>
          <p:cNvSpPr/>
          <p:nvPr/>
        </p:nvSpPr>
        <p:spPr>
          <a:xfrm>
            <a:off x="717346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20"/>
          <p:cNvSpPr/>
          <p:nvPr/>
        </p:nvSpPr>
        <p:spPr>
          <a:xfrm>
            <a:off x="7246620"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20"/>
          <p:cNvSpPr/>
          <p:nvPr/>
        </p:nvSpPr>
        <p:spPr>
          <a:xfrm>
            <a:off x="7319772"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20"/>
          <p:cNvSpPr/>
          <p:nvPr/>
        </p:nvSpPr>
        <p:spPr>
          <a:xfrm>
            <a:off x="7392924"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20"/>
          <p:cNvSpPr/>
          <p:nvPr/>
        </p:nvSpPr>
        <p:spPr>
          <a:xfrm>
            <a:off x="746607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20"/>
          <p:cNvSpPr/>
          <p:nvPr/>
        </p:nvSpPr>
        <p:spPr>
          <a:xfrm>
            <a:off x="753922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20"/>
          <p:cNvSpPr/>
          <p:nvPr/>
        </p:nvSpPr>
        <p:spPr>
          <a:xfrm>
            <a:off x="7612380"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20"/>
          <p:cNvSpPr/>
          <p:nvPr/>
        </p:nvSpPr>
        <p:spPr>
          <a:xfrm>
            <a:off x="7685532"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20"/>
          <p:cNvSpPr/>
          <p:nvPr/>
        </p:nvSpPr>
        <p:spPr>
          <a:xfrm>
            <a:off x="7758684"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20"/>
          <p:cNvSpPr/>
          <p:nvPr/>
        </p:nvSpPr>
        <p:spPr>
          <a:xfrm>
            <a:off x="783183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20"/>
          <p:cNvSpPr/>
          <p:nvPr/>
        </p:nvSpPr>
        <p:spPr>
          <a:xfrm>
            <a:off x="790498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20"/>
          <p:cNvSpPr/>
          <p:nvPr/>
        </p:nvSpPr>
        <p:spPr>
          <a:xfrm>
            <a:off x="7978140" y="4901184"/>
            <a:ext cx="50292" cy="50292"/>
          </a:xfrm>
          <a:prstGeom prst="rect">
            <a:avLst/>
          </a:prstGeom>
          <a:solidFill>
            <a:srgbClr val="5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20"/>
          <p:cNvSpPr/>
          <p:nvPr/>
        </p:nvSpPr>
        <p:spPr>
          <a:xfrm>
            <a:off x="805129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20"/>
          <p:cNvSpPr/>
          <p:nvPr/>
        </p:nvSpPr>
        <p:spPr>
          <a:xfrm>
            <a:off x="812444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20"/>
          <p:cNvSpPr/>
          <p:nvPr/>
        </p:nvSpPr>
        <p:spPr>
          <a:xfrm>
            <a:off x="819759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20"/>
          <p:cNvSpPr/>
          <p:nvPr/>
        </p:nvSpPr>
        <p:spPr>
          <a:xfrm>
            <a:off x="827074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20"/>
          <p:cNvSpPr/>
          <p:nvPr/>
        </p:nvSpPr>
        <p:spPr>
          <a:xfrm>
            <a:off x="8343900"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20"/>
          <p:cNvSpPr/>
          <p:nvPr/>
        </p:nvSpPr>
        <p:spPr>
          <a:xfrm>
            <a:off x="841705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20"/>
          <p:cNvSpPr/>
          <p:nvPr/>
        </p:nvSpPr>
        <p:spPr>
          <a:xfrm>
            <a:off x="849020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20"/>
          <p:cNvSpPr/>
          <p:nvPr/>
        </p:nvSpPr>
        <p:spPr>
          <a:xfrm>
            <a:off x="856335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20"/>
          <p:cNvSpPr/>
          <p:nvPr/>
        </p:nvSpPr>
        <p:spPr>
          <a:xfrm>
            <a:off x="863650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20"/>
          <p:cNvSpPr txBox="1"/>
          <p:nvPr/>
        </p:nvSpPr>
        <p:spPr>
          <a:xfrm>
            <a:off x="5472684" y="4846320"/>
            <a:ext cx="822960" cy="15544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00" u="none" cap="none" strike="noStrike">
                <a:solidFill>
                  <a:srgbClr val="9A9AA0"/>
                </a:solidFill>
                <a:latin typeface="Consolas"/>
                <a:ea typeface="Consolas"/>
                <a:cs typeface="Consolas"/>
                <a:sym typeface="Consolas"/>
              </a:rPr>
              <a:t>slide[22]</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50" name="Shape 1150"/>
        <p:cNvGrpSpPr/>
        <p:nvPr/>
      </p:nvGrpSpPr>
      <p:grpSpPr>
        <a:xfrm>
          <a:off x="0" y="0"/>
          <a:ext cx="0" cy="0"/>
          <a:chOff x="0" y="0"/>
          <a:chExt cx="0" cy="0"/>
        </a:xfrm>
      </p:grpSpPr>
      <p:sp>
        <p:nvSpPr>
          <p:cNvPr id="1151" name="Google Shape;1151;p22"/>
          <p:cNvSpPr txBox="1"/>
          <p:nvPr/>
        </p:nvSpPr>
        <p:spPr>
          <a:xfrm>
            <a:off x="457200" y="320040"/>
            <a:ext cx="8229600" cy="54864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2800" u="none" cap="none" strike="noStrike">
                <a:solidFill>
                  <a:srgbClr val="500000"/>
                </a:solidFill>
                <a:latin typeface="Arial"/>
                <a:ea typeface="Arial"/>
                <a:cs typeface="Arial"/>
                <a:sym typeface="Arial"/>
              </a:rPr>
              <a:t>2D data lives in 1D memory</a:t>
            </a:r>
            <a:endParaRPr/>
          </a:p>
        </p:txBody>
      </p:sp>
      <p:sp>
        <p:nvSpPr>
          <p:cNvPr id="1152" name="Google Shape;1152;p22"/>
          <p:cNvSpPr txBox="1"/>
          <p:nvPr/>
        </p:nvSpPr>
        <p:spPr>
          <a:xfrm>
            <a:off x="457200" y="868680"/>
            <a:ext cx="8229600" cy="27432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0" i="0" lang="en-US" sz="1200" u="none" cap="none" strike="noStrike">
                <a:solidFill>
                  <a:srgbClr val="6E6E6E"/>
                </a:solidFill>
                <a:latin typeface="Arial"/>
                <a:ea typeface="Arial"/>
                <a:cs typeface="Arial"/>
                <a:sym typeface="Arial"/>
              </a:rPr>
              <a:t>Images and heat maps are grids, but GPU memory is one long row</a:t>
            </a:r>
            <a:endParaRPr/>
          </a:p>
        </p:txBody>
      </p:sp>
      <p:sp>
        <p:nvSpPr>
          <p:cNvPr id="1153" name="Google Shape;1153;p22"/>
          <p:cNvSpPr/>
          <p:nvPr/>
        </p:nvSpPr>
        <p:spPr>
          <a:xfrm>
            <a:off x="548640" y="1371600"/>
            <a:ext cx="493776" cy="493776"/>
          </a:xfrm>
          <a:prstGeom prst="roundRect">
            <a:avLst>
              <a:gd fmla="val 8000" name="adj"/>
            </a:avLst>
          </a:prstGeom>
          <a:solidFill>
            <a:srgbClr val="F7EEEE"/>
          </a:solidFill>
          <a:ln cap="flat" cmpd="sng" w="9525">
            <a:solidFill>
              <a:srgbClr val="E6D2D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54" name="Google Shape;1154;p22"/>
          <p:cNvSpPr txBox="1"/>
          <p:nvPr/>
        </p:nvSpPr>
        <p:spPr>
          <a:xfrm>
            <a:off x="548640" y="1371600"/>
            <a:ext cx="493776" cy="493776"/>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200" u="none" cap="none" strike="noStrike">
                <a:solidFill>
                  <a:srgbClr val="2B2B2B"/>
                </a:solidFill>
                <a:latin typeface="Consolas"/>
                <a:ea typeface="Consolas"/>
                <a:cs typeface="Consolas"/>
                <a:sym typeface="Consolas"/>
              </a:rPr>
              <a:t>0</a:t>
            </a:r>
            <a:endParaRPr/>
          </a:p>
        </p:txBody>
      </p:sp>
      <p:sp>
        <p:nvSpPr>
          <p:cNvPr id="1155" name="Google Shape;1155;p22"/>
          <p:cNvSpPr/>
          <p:nvPr/>
        </p:nvSpPr>
        <p:spPr>
          <a:xfrm>
            <a:off x="1097280" y="1371600"/>
            <a:ext cx="493776" cy="493776"/>
          </a:xfrm>
          <a:prstGeom prst="roundRect">
            <a:avLst>
              <a:gd fmla="val 8000" name="adj"/>
            </a:avLst>
          </a:prstGeom>
          <a:solidFill>
            <a:srgbClr val="F7EEEE"/>
          </a:solidFill>
          <a:ln cap="flat" cmpd="sng" w="9525">
            <a:solidFill>
              <a:srgbClr val="E6D2D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56" name="Google Shape;1156;p22"/>
          <p:cNvSpPr txBox="1"/>
          <p:nvPr/>
        </p:nvSpPr>
        <p:spPr>
          <a:xfrm>
            <a:off x="1097280" y="1371600"/>
            <a:ext cx="493776" cy="493776"/>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200" u="none" cap="none" strike="noStrike">
                <a:solidFill>
                  <a:srgbClr val="2B2B2B"/>
                </a:solidFill>
                <a:latin typeface="Consolas"/>
                <a:ea typeface="Consolas"/>
                <a:cs typeface="Consolas"/>
                <a:sym typeface="Consolas"/>
              </a:rPr>
              <a:t>1</a:t>
            </a:r>
            <a:endParaRPr/>
          </a:p>
        </p:txBody>
      </p:sp>
      <p:sp>
        <p:nvSpPr>
          <p:cNvPr id="1157" name="Google Shape;1157;p22"/>
          <p:cNvSpPr/>
          <p:nvPr/>
        </p:nvSpPr>
        <p:spPr>
          <a:xfrm>
            <a:off x="1645919" y="1371600"/>
            <a:ext cx="493776" cy="493776"/>
          </a:xfrm>
          <a:prstGeom prst="roundRect">
            <a:avLst>
              <a:gd fmla="val 8000" name="adj"/>
            </a:avLst>
          </a:prstGeom>
          <a:solidFill>
            <a:srgbClr val="F7EEEE"/>
          </a:solidFill>
          <a:ln cap="flat" cmpd="sng" w="9525">
            <a:solidFill>
              <a:srgbClr val="E6D2D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58" name="Google Shape;1158;p22"/>
          <p:cNvSpPr txBox="1"/>
          <p:nvPr/>
        </p:nvSpPr>
        <p:spPr>
          <a:xfrm>
            <a:off x="1645919" y="1371600"/>
            <a:ext cx="493776" cy="493776"/>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200" u="none" cap="none" strike="noStrike">
                <a:solidFill>
                  <a:srgbClr val="2B2B2B"/>
                </a:solidFill>
                <a:latin typeface="Consolas"/>
                <a:ea typeface="Consolas"/>
                <a:cs typeface="Consolas"/>
                <a:sym typeface="Consolas"/>
              </a:rPr>
              <a:t>2</a:t>
            </a:r>
            <a:endParaRPr/>
          </a:p>
        </p:txBody>
      </p:sp>
      <p:sp>
        <p:nvSpPr>
          <p:cNvPr id="1159" name="Google Shape;1159;p22"/>
          <p:cNvSpPr/>
          <p:nvPr/>
        </p:nvSpPr>
        <p:spPr>
          <a:xfrm>
            <a:off x="2194560" y="1371600"/>
            <a:ext cx="493776" cy="493776"/>
          </a:xfrm>
          <a:prstGeom prst="roundRect">
            <a:avLst>
              <a:gd fmla="val 8000" name="adj"/>
            </a:avLst>
          </a:prstGeom>
          <a:solidFill>
            <a:srgbClr val="F7EEEE"/>
          </a:solidFill>
          <a:ln cap="flat" cmpd="sng" w="9525">
            <a:solidFill>
              <a:srgbClr val="E6D2D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60" name="Google Shape;1160;p22"/>
          <p:cNvSpPr txBox="1"/>
          <p:nvPr/>
        </p:nvSpPr>
        <p:spPr>
          <a:xfrm>
            <a:off x="2194560" y="1371600"/>
            <a:ext cx="493776" cy="493776"/>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200" u="none" cap="none" strike="noStrike">
                <a:solidFill>
                  <a:srgbClr val="2B2B2B"/>
                </a:solidFill>
                <a:latin typeface="Consolas"/>
                <a:ea typeface="Consolas"/>
                <a:cs typeface="Consolas"/>
                <a:sym typeface="Consolas"/>
              </a:rPr>
              <a:t>3</a:t>
            </a:r>
            <a:endParaRPr/>
          </a:p>
        </p:txBody>
      </p:sp>
      <p:sp>
        <p:nvSpPr>
          <p:cNvPr id="1161" name="Google Shape;1161;p22"/>
          <p:cNvSpPr/>
          <p:nvPr/>
        </p:nvSpPr>
        <p:spPr>
          <a:xfrm>
            <a:off x="548640" y="1920240"/>
            <a:ext cx="493776" cy="493776"/>
          </a:xfrm>
          <a:prstGeom prst="roundRect">
            <a:avLst>
              <a:gd fmla="val 8000" name="adj"/>
            </a:avLst>
          </a:prstGeom>
          <a:solidFill>
            <a:srgbClr val="F2F8E8"/>
          </a:solidFill>
          <a:ln cap="flat" cmpd="sng" w="9525">
            <a:solidFill>
              <a:srgbClr val="D8E8B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62" name="Google Shape;1162;p22"/>
          <p:cNvSpPr txBox="1"/>
          <p:nvPr/>
        </p:nvSpPr>
        <p:spPr>
          <a:xfrm>
            <a:off x="548640" y="1920240"/>
            <a:ext cx="493776" cy="493776"/>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200" u="none" cap="none" strike="noStrike">
                <a:solidFill>
                  <a:srgbClr val="2B2B2B"/>
                </a:solidFill>
                <a:latin typeface="Consolas"/>
                <a:ea typeface="Consolas"/>
                <a:cs typeface="Consolas"/>
                <a:sym typeface="Consolas"/>
              </a:rPr>
              <a:t>4</a:t>
            </a:r>
            <a:endParaRPr/>
          </a:p>
        </p:txBody>
      </p:sp>
      <p:sp>
        <p:nvSpPr>
          <p:cNvPr id="1163" name="Google Shape;1163;p22"/>
          <p:cNvSpPr/>
          <p:nvPr/>
        </p:nvSpPr>
        <p:spPr>
          <a:xfrm>
            <a:off x="1097280" y="1920240"/>
            <a:ext cx="493776" cy="493776"/>
          </a:xfrm>
          <a:prstGeom prst="roundRect">
            <a:avLst>
              <a:gd fmla="val 8000" name="adj"/>
            </a:avLst>
          </a:prstGeom>
          <a:solidFill>
            <a:srgbClr val="F2F8E8"/>
          </a:solidFill>
          <a:ln cap="flat" cmpd="sng" w="9525">
            <a:solidFill>
              <a:srgbClr val="D8E8B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64" name="Google Shape;1164;p22"/>
          <p:cNvSpPr txBox="1"/>
          <p:nvPr/>
        </p:nvSpPr>
        <p:spPr>
          <a:xfrm>
            <a:off x="1097280" y="1920240"/>
            <a:ext cx="493776" cy="493776"/>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200" u="none" cap="none" strike="noStrike">
                <a:solidFill>
                  <a:srgbClr val="2B2B2B"/>
                </a:solidFill>
                <a:latin typeface="Consolas"/>
                <a:ea typeface="Consolas"/>
                <a:cs typeface="Consolas"/>
                <a:sym typeface="Consolas"/>
              </a:rPr>
              <a:t>5</a:t>
            </a:r>
            <a:endParaRPr/>
          </a:p>
        </p:txBody>
      </p:sp>
      <p:sp>
        <p:nvSpPr>
          <p:cNvPr id="1165" name="Google Shape;1165;p22"/>
          <p:cNvSpPr/>
          <p:nvPr/>
        </p:nvSpPr>
        <p:spPr>
          <a:xfrm>
            <a:off x="1645919" y="1920240"/>
            <a:ext cx="493776" cy="493776"/>
          </a:xfrm>
          <a:prstGeom prst="roundRect">
            <a:avLst>
              <a:gd fmla="val 8000" name="adj"/>
            </a:avLst>
          </a:prstGeom>
          <a:solidFill>
            <a:srgbClr val="5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66" name="Google Shape;1166;p22"/>
          <p:cNvSpPr txBox="1"/>
          <p:nvPr/>
        </p:nvSpPr>
        <p:spPr>
          <a:xfrm>
            <a:off x="1645919" y="1920240"/>
            <a:ext cx="493776" cy="493776"/>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200" u="none" cap="none" strike="noStrike">
                <a:solidFill>
                  <a:srgbClr val="FFFFFF"/>
                </a:solidFill>
                <a:latin typeface="Consolas"/>
                <a:ea typeface="Consolas"/>
                <a:cs typeface="Consolas"/>
                <a:sym typeface="Consolas"/>
              </a:rPr>
              <a:t>6</a:t>
            </a:r>
            <a:endParaRPr/>
          </a:p>
        </p:txBody>
      </p:sp>
      <p:sp>
        <p:nvSpPr>
          <p:cNvPr id="1167" name="Google Shape;1167;p22"/>
          <p:cNvSpPr/>
          <p:nvPr/>
        </p:nvSpPr>
        <p:spPr>
          <a:xfrm>
            <a:off x="2194560" y="1920240"/>
            <a:ext cx="493776" cy="493776"/>
          </a:xfrm>
          <a:prstGeom prst="roundRect">
            <a:avLst>
              <a:gd fmla="val 8000" name="adj"/>
            </a:avLst>
          </a:prstGeom>
          <a:solidFill>
            <a:srgbClr val="F2F8E8"/>
          </a:solidFill>
          <a:ln cap="flat" cmpd="sng" w="9525">
            <a:solidFill>
              <a:srgbClr val="D8E8B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68" name="Google Shape;1168;p22"/>
          <p:cNvSpPr txBox="1"/>
          <p:nvPr/>
        </p:nvSpPr>
        <p:spPr>
          <a:xfrm>
            <a:off x="2194560" y="1920240"/>
            <a:ext cx="493776" cy="493776"/>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200" u="none" cap="none" strike="noStrike">
                <a:solidFill>
                  <a:srgbClr val="2B2B2B"/>
                </a:solidFill>
                <a:latin typeface="Consolas"/>
                <a:ea typeface="Consolas"/>
                <a:cs typeface="Consolas"/>
                <a:sym typeface="Consolas"/>
              </a:rPr>
              <a:t>7</a:t>
            </a:r>
            <a:endParaRPr/>
          </a:p>
        </p:txBody>
      </p:sp>
      <p:sp>
        <p:nvSpPr>
          <p:cNvPr id="1169" name="Google Shape;1169;p22"/>
          <p:cNvSpPr/>
          <p:nvPr/>
        </p:nvSpPr>
        <p:spPr>
          <a:xfrm>
            <a:off x="548640" y="2468880"/>
            <a:ext cx="493776" cy="493776"/>
          </a:xfrm>
          <a:prstGeom prst="roundRect">
            <a:avLst>
              <a:gd fmla="val 8000" name="adj"/>
            </a:avLst>
          </a:prstGeom>
          <a:solidFill>
            <a:srgbClr val="F7EEEE"/>
          </a:solidFill>
          <a:ln cap="flat" cmpd="sng" w="9525">
            <a:solidFill>
              <a:srgbClr val="E6D2D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70" name="Google Shape;1170;p22"/>
          <p:cNvSpPr txBox="1"/>
          <p:nvPr/>
        </p:nvSpPr>
        <p:spPr>
          <a:xfrm>
            <a:off x="548640" y="2468880"/>
            <a:ext cx="493776" cy="493776"/>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200" u="none" cap="none" strike="noStrike">
                <a:solidFill>
                  <a:srgbClr val="2B2B2B"/>
                </a:solidFill>
                <a:latin typeface="Consolas"/>
                <a:ea typeface="Consolas"/>
                <a:cs typeface="Consolas"/>
                <a:sym typeface="Consolas"/>
              </a:rPr>
              <a:t>8</a:t>
            </a:r>
            <a:endParaRPr/>
          </a:p>
        </p:txBody>
      </p:sp>
      <p:sp>
        <p:nvSpPr>
          <p:cNvPr id="1171" name="Google Shape;1171;p22"/>
          <p:cNvSpPr/>
          <p:nvPr/>
        </p:nvSpPr>
        <p:spPr>
          <a:xfrm>
            <a:off x="1097280" y="2468880"/>
            <a:ext cx="493776" cy="493776"/>
          </a:xfrm>
          <a:prstGeom prst="roundRect">
            <a:avLst>
              <a:gd fmla="val 8000" name="adj"/>
            </a:avLst>
          </a:prstGeom>
          <a:solidFill>
            <a:srgbClr val="F7EEEE"/>
          </a:solidFill>
          <a:ln cap="flat" cmpd="sng" w="9525">
            <a:solidFill>
              <a:srgbClr val="E6D2D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72" name="Google Shape;1172;p22"/>
          <p:cNvSpPr txBox="1"/>
          <p:nvPr/>
        </p:nvSpPr>
        <p:spPr>
          <a:xfrm>
            <a:off x="1097280" y="2468880"/>
            <a:ext cx="493776" cy="493776"/>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200" u="none" cap="none" strike="noStrike">
                <a:solidFill>
                  <a:srgbClr val="2B2B2B"/>
                </a:solidFill>
                <a:latin typeface="Consolas"/>
                <a:ea typeface="Consolas"/>
                <a:cs typeface="Consolas"/>
                <a:sym typeface="Consolas"/>
              </a:rPr>
              <a:t>9</a:t>
            </a:r>
            <a:endParaRPr/>
          </a:p>
        </p:txBody>
      </p:sp>
      <p:sp>
        <p:nvSpPr>
          <p:cNvPr id="1173" name="Google Shape;1173;p22"/>
          <p:cNvSpPr/>
          <p:nvPr/>
        </p:nvSpPr>
        <p:spPr>
          <a:xfrm>
            <a:off x="1645919" y="2468880"/>
            <a:ext cx="493776" cy="493776"/>
          </a:xfrm>
          <a:prstGeom prst="roundRect">
            <a:avLst>
              <a:gd fmla="val 8000" name="adj"/>
            </a:avLst>
          </a:prstGeom>
          <a:solidFill>
            <a:srgbClr val="F7EEEE"/>
          </a:solidFill>
          <a:ln cap="flat" cmpd="sng" w="9525">
            <a:solidFill>
              <a:srgbClr val="E6D2D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74" name="Google Shape;1174;p22"/>
          <p:cNvSpPr txBox="1"/>
          <p:nvPr/>
        </p:nvSpPr>
        <p:spPr>
          <a:xfrm>
            <a:off x="1645919" y="2468880"/>
            <a:ext cx="493776" cy="493776"/>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200" u="none" cap="none" strike="noStrike">
                <a:solidFill>
                  <a:srgbClr val="2B2B2B"/>
                </a:solidFill>
                <a:latin typeface="Consolas"/>
                <a:ea typeface="Consolas"/>
                <a:cs typeface="Consolas"/>
                <a:sym typeface="Consolas"/>
              </a:rPr>
              <a:t>10</a:t>
            </a:r>
            <a:endParaRPr/>
          </a:p>
        </p:txBody>
      </p:sp>
      <p:sp>
        <p:nvSpPr>
          <p:cNvPr id="1175" name="Google Shape;1175;p22"/>
          <p:cNvSpPr/>
          <p:nvPr/>
        </p:nvSpPr>
        <p:spPr>
          <a:xfrm>
            <a:off x="2194560" y="2468880"/>
            <a:ext cx="493776" cy="493776"/>
          </a:xfrm>
          <a:prstGeom prst="roundRect">
            <a:avLst>
              <a:gd fmla="val 8000" name="adj"/>
            </a:avLst>
          </a:prstGeom>
          <a:solidFill>
            <a:srgbClr val="F7EEEE"/>
          </a:solidFill>
          <a:ln cap="flat" cmpd="sng" w="9525">
            <a:solidFill>
              <a:srgbClr val="E6D2D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76" name="Google Shape;1176;p22"/>
          <p:cNvSpPr txBox="1"/>
          <p:nvPr/>
        </p:nvSpPr>
        <p:spPr>
          <a:xfrm>
            <a:off x="2194560" y="2468880"/>
            <a:ext cx="493776" cy="493776"/>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200" u="none" cap="none" strike="noStrike">
                <a:solidFill>
                  <a:srgbClr val="2B2B2B"/>
                </a:solidFill>
                <a:latin typeface="Consolas"/>
                <a:ea typeface="Consolas"/>
                <a:cs typeface="Consolas"/>
                <a:sym typeface="Consolas"/>
              </a:rPr>
              <a:t>11</a:t>
            </a:r>
            <a:endParaRPr/>
          </a:p>
        </p:txBody>
      </p:sp>
      <p:sp>
        <p:nvSpPr>
          <p:cNvPr id="1177" name="Google Shape;1177;p22"/>
          <p:cNvSpPr txBox="1"/>
          <p:nvPr/>
        </p:nvSpPr>
        <p:spPr>
          <a:xfrm>
            <a:off x="548640" y="3063240"/>
            <a:ext cx="2194560" cy="27432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0" i="0" lang="en-US" sz="1000" u="none" cap="none" strike="noStrike">
                <a:solidFill>
                  <a:srgbClr val="6E6E6E"/>
                </a:solidFill>
                <a:latin typeface="Arial"/>
                <a:ea typeface="Arial"/>
                <a:cs typeface="Arial"/>
                <a:sym typeface="Arial"/>
              </a:rPr>
              <a:t>grid: 3 rows × 4 cols</a:t>
            </a:r>
            <a:endParaRPr/>
          </a:p>
        </p:txBody>
      </p:sp>
      <p:sp>
        <p:nvSpPr>
          <p:cNvPr id="1178" name="Google Shape;1178;p22"/>
          <p:cNvSpPr/>
          <p:nvPr/>
        </p:nvSpPr>
        <p:spPr>
          <a:xfrm>
            <a:off x="3063240" y="1371600"/>
            <a:ext cx="420624" cy="420624"/>
          </a:xfrm>
          <a:prstGeom prst="roundRect">
            <a:avLst>
              <a:gd fmla="val 8000" name="adj"/>
            </a:avLst>
          </a:prstGeom>
          <a:solidFill>
            <a:srgbClr val="F7EEEE"/>
          </a:solidFill>
          <a:ln cap="flat" cmpd="sng" w="9525">
            <a:solidFill>
              <a:srgbClr val="E6D2D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79" name="Google Shape;1179;p22"/>
          <p:cNvSpPr txBox="1"/>
          <p:nvPr/>
        </p:nvSpPr>
        <p:spPr>
          <a:xfrm>
            <a:off x="3063240" y="1371600"/>
            <a:ext cx="420624" cy="420624"/>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100" u="none" cap="none" strike="noStrike">
                <a:solidFill>
                  <a:srgbClr val="2B2B2B"/>
                </a:solidFill>
                <a:latin typeface="Consolas"/>
                <a:ea typeface="Consolas"/>
                <a:cs typeface="Consolas"/>
                <a:sym typeface="Consolas"/>
              </a:rPr>
              <a:t>0</a:t>
            </a:r>
            <a:endParaRPr/>
          </a:p>
        </p:txBody>
      </p:sp>
      <p:sp>
        <p:nvSpPr>
          <p:cNvPr id="1180" name="Google Shape;1180;p22"/>
          <p:cNvSpPr/>
          <p:nvPr/>
        </p:nvSpPr>
        <p:spPr>
          <a:xfrm>
            <a:off x="3520440" y="1371600"/>
            <a:ext cx="420624" cy="420624"/>
          </a:xfrm>
          <a:prstGeom prst="roundRect">
            <a:avLst>
              <a:gd fmla="val 8000" name="adj"/>
            </a:avLst>
          </a:prstGeom>
          <a:solidFill>
            <a:srgbClr val="F7EEEE"/>
          </a:solidFill>
          <a:ln cap="flat" cmpd="sng" w="9525">
            <a:solidFill>
              <a:srgbClr val="E6D2D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81" name="Google Shape;1181;p22"/>
          <p:cNvSpPr txBox="1"/>
          <p:nvPr/>
        </p:nvSpPr>
        <p:spPr>
          <a:xfrm>
            <a:off x="3520440" y="1371600"/>
            <a:ext cx="420624" cy="420624"/>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100" u="none" cap="none" strike="noStrike">
                <a:solidFill>
                  <a:srgbClr val="2B2B2B"/>
                </a:solidFill>
                <a:latin typeface="Consolas"/>
                <a:ea typeface="Consolas"/>
                <a:cs typeface="Consolas"/>
                <a:sym typeface="Consolas"/>
              </a:rPr>
              <a:t>1</a:t>
            </a:r>
            <a:endParaRPr/>
          </a:p>
        </p:txBody>
      </p:sp>
      <p:sp>
        <p:nvSpPr>
          <p:cNvPr id="1182" name="Google Shape;1182;p22"/>
          <p:cNvSpPr/>
          <p:nvPr/>
        </p:nvSpPr>
        <p:spPr>
          <a:xfrm>
            <a:off x="3977639" y="1371600"/>
            <a:ext cx="420624" cy="420624"/>
          </a:xfrm>
          <a:prstGeom prst="roundRect">
            <a:avLst>
              <a:gd fmla="val 8000" name="adj"/>
            </a:avLst>
          </a:prstGeom>
          <a:solidFill>
            <a:srgbClr val="F7EEEE"/>
          </a:solidFill>
          <a:ln cap="flat" cmpd="sng" w="9525">
            <a:solidFill>
              <a:srgbClr val="E6D2D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83" name="Google Shape;1183;p22"/>
          <p:cNvSpPr txBox="1"/>
          <p:nvPr/>
        </p:nvSpPr>
        <p:spPr>
          <a:xfrm>
            <a:off x="3977639" y="1371600"/>
            <a:ext cx="420624" cy="420624"/>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100" u="none" cap="none" strike="noStrike">
                <a:solidFill>
                  <a:srgbClr val="2B2B2B"/>
                </a:solidFill>
                <a:latin typeface="Consolas"/>
                <a:ea typeface="Consolas"/>
                <a:cs typeface="Consolas"/>
                <a:sym typeface="Consolas"/>
              </a:rPr>
              <a:t>2</a:t>
            </a:r>
            <a:endParaRPr/>
          </a:p>
        </p:txBody>
      </p:sp>
      <p:sp>
        <p:nvSpPr>
          <p:cNvPr id="1184" name="Google Shape;1184;p22"/>
          <p:cNvSpPr/>
          <p:nvPr/>
        </p:nvSpPr>
        <p:spPr>
          <a:xfrm>
            <a:off x="4434840" y="1371600"/>
            <a:ext cx="420624" cy="420624"/>
          </a:xfrm>
          <a:prstGeom prst="roundRect">
            <a:avLst>
              <a:gd fmla="val 8000" name="adj"/>
            </a:avLst>
          </a:prstGeom>
          <a:solidFill>
            <a:srgbClr val="F7EEEE"/>
          </a:solidFill>
          <a:ln cap="flat" cmpd="sng" w="9525">
            <a:solidFill>
              <a:srgbClr val="E6D2D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85" name="Google Shape;1185;p22"/>
          <p:cNvSpPr txBox="1"/>
          <p:nvPr/>
        </p:nvSpPr>
        <p:spPr>
          <a:xfrm>
            <a:off x="4434840" y="1371600"/>
            <a:ext cx="420624" cy="420624"/>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100" u="none" cap="none" strike="noStrike">
                <a:solidFill>
                  <a:srgbClr val="2B2B2B"/>
                </a:solidFill>
                <a:latin typeface="Consolas"/>
                <a:ea typeface="Consolas"/>
                <a:cs typeface="Consolas"/>
                <a:sym typeface="Consolas"/>
              </a:rPr>
              <a:t>3</a:t>
            </a:r>
            <a:endParaRPr/>
          </a:p>
        </p:txBody>
      </p:sp>
      <p:sp>
        <p:nvSpPr>
          <p:cNvPr id="1186" name="Google Shape;1186;p22"/>
          <p:cNvSpPr/>
          <p:nvPr/>
        </p:nvSpPr>
        <p:spPr>
          <a:xfrm>
            <a:off x="4892040" y="1371600"/>
            <a:ext cx="420624" cy="420624"/>
          </a:xfrm>
          <a:prstGeom prst="roundRect">
            <a:avLst>
              <a:gd fmla="val 8000" name="adj"/>
            </a:avLst>
          </a:prstGeom>
          <a:solidFill>
            <a:srgbClr val="F2F8E8"/>
          </a:solidFill>
          <a:ln cap="flat" cmpd="sng" w="9525">
            <a:solidFill>
              <a:srgbClr val="D8E8B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87" name="Google Shape;1187;p22"/>
          <p:cNvSpPr txBox="1"/>
          <p:nvPr/>
        </p:nvSpPr>
        <p:spPr>
          <a:xfrm>
            <a:off x="4892040" y="1371600"/>
            <a:ext cx="420624" cy="420624"/>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100" u="none" cap="none" strike="noStrike">
                <a:solidFill>
                  <a:srgbClr val="2B2B2B"/>
                </a:solidFill>
                <a:latin typeface="Consolas"/>
                <a:ea typeface="Consolas"/>
                <a:cs typeface="Consolas"/>
                <a:sym typeface="Consolas"/>
              </a:rPr>
              <a:t>4</a:t>
            </a:r>
            <a:endParaRPr/>
          </a:p>
        </p:txBody>
      </p:sp>
      <p:sp>
        <p:nvSpPr>
          <p:cNvPr id="1188" name="Google Shape;1188;p22"/>
          <p:cNvSpPr/>
          <p:nvPr/>
        </p:nvSpPr>
        <p:spPr>
          <a:xfrm>
            <a:off x="5349240" y="1371600"/>
            <a:ext cx="420624" cy="420624"/>
          </a:xfrm>
          <a:prstGeom prst="roundRect">
            <a:avLst>
              <a:gd fmla="val 8000" name="adj"/>
            </a:avLst>
          </a:prstGeom>
          <a:solidFill>
            <a:srgbClr val="F2F8E8"/>
          </a:solidFill>
          <a:ln cap="flat" cmpd="sng" w="9525">
            <a:solidFill>
              <a:srgbClr val="D8E8B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89" name="Google Shape;1189;p22"/>
          <p:cNvSpPr txBox="1"/>
          <p:nvPr/>
        </p:nvSpPr>
        <p:spPr>
          <a:xfrm>
            <a:off x="5349240" y="1371600"/>
            <a:ext cx="420624" cy="420624"/>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100" u="none" cap="none" strike="noStrike">
                <a:solidFill>
                  <a:srgbClr val="2B2B2B"/>
                </a:solidFill>
                <a:latin typeface="Consolas"/>
                <a:ea typeface="Consolas"/>
                <a:cs typeface="Consolas"/>
                <a:sym typeface="Consolas"/>
              </a:rPr>
              <a:t>5</a:t>
            </a:r>
            <a:endParaRPr/>
          </a:p>
        </p:txBody>
      </p:sp>
      <p:sp>
        <p:nvSpPr>
          <p:cNvPr id="1190" name="Google Shape;1190;p22"/>
          <p:cNvSpPr/>
          <p:nvPr/>
        </p:nvSpPr>
        <p:spPr>
          <a:xfrm>
            <a:off x="5806440" y="1371600"/>
            <a:ext cx="420624" cy="420624"/>
          </a:xfrm>
          <a:prstGeom prst="roundRect">
            <a:avLst>
              <a:gd fmla="val 8000" name="adj"/>
            </a:avLst>
          </a:prstGeom>
          <a:solidFill>
            <a:srgbClr val="5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91" name="Google Shape;1191;p22"/>
          <p:cNvSpPr txBox="1"/>
          <p:nvPr/>
        </p:nvSpPr>
        <p:spPr>
          <a:xfrm>
            <a:off x="5806440" y="1371600"/>
            <a:ext cx="420624" cy="420624"/>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100" u="none" cap="none" strike="noStrike">
                <a:solidFill>
                  <a:srgbClr val="FFFFFF"/>
                </a:solidFill>
                <a:latin typeface="Consolas"/>
                <a:ea typeface="Consolas"/>
                <a:cs typeface="Consolas"/>
                <a:sym typeface="Consolas"/>
              </a:rPr>
              <a:t>6</a:t>
            </a:r>
            <a:endParaRPr/>
          </a:p>
        </p:txBody>
      </p:sp>
      <p:sp>
        <p:nvSpPr>
          <p:cNvPr id="1192" name="Google Shape;1192;p22"/>
          <p:cNvSpPr/>
          <p:nvPr/>
        </p:nvSpPr>
        <p:spPr>
          <a:xfrm>
            <a:off x="6263640" y="1371600"/>
            <a:ext cx="420624" cy="420624"/>
          </a:xfrm>
          <a:prstGeom prst="roundRect">
            <a:avLst>
              <a:gd fmla="val 8000" name="adj"/>
            </a:avLst>
          </a:prstGeom>
          <a:solidFill>
            <a:srgbClr val="F2F8E8"/>
          </a:solidFill>
          <a:ln cap="flat" cmpd="sng" w="9525">
            <a:solidFill>
              <a:srgbClr val="D8E8B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93" name="Google Shape;1193;p22"/>
          <p:cNvSpPr txBox="1"/>
          <p:nvPr/>
        </p:nvSpPr>
        <p:spPr>
          <a:xfrm>
            <a:off x="6263640" y="1371600"/>
            <a:ext cx="420624" cy="420624"/>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100" u="none" cap="none" strike="noStrike">
                <a:solidFill>
                  <a:srgbClr val="2B2B2B"/>
                </a:solidFill>
                <a:latin typeface="Consolas"/>
                <a:ea typeface="Consolas"/>
                <a:cs typeface="Consolas"/>
                <a:sym typeface="Consolas"/>
              </a:rPr>
              <a:t>7</a:t>
            </a:r>
            <a:endParaRPr/>
          </a:p>
        </p:txBody>
      </p:sp>
      <p:sp>
        <p:nvSpPr>
          <p:cNvPr id="1194" name="Google Shape;1194;p22"/>
          <p:cNvSpPr/>
          <p:nvPr/>
        </p:nvSpPr>
        <p:spPr>
          <a:xfrm>
            <a:off x="6720840" y="1371600"/>
            <a:ext cx="420624" cy="420624"/>
          </a:xfrm>
          <a:prstGeom prst="roundRect">
            <a:avLst>
              <a:gd fmla="val 8000" name="adj"/>
            </a:avLst>
          </a:prstGeom>
          <a:solidFill>
            <a:srgbClr val="F7EEEE"/>
          </a:solidFill>
          <a:ln cap="flat" cmpd="sng" w="9525">
            <a:solidFill>
              <a:srgbClr val="E6D2D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95" name="Google Shape;1195;p22"/>
          <p:cNvSpPr txBox="1"/>
          <p:nvPr/>
        </p:nvSpPr>
        <p:spPr>
          <a:xfrm>
            <a:off x="6720840" y="1371600"/>
            <a:ext cx="420624" cy="420624"/>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100" u="none" cap="none" strike="noStrike">
                <a:solidFill>
                  <a:srgbClr val="2B2B2B"/>
                </a:solidFill>
                <a:latin typeface="Consolas"/>
                <a:ea typeface="Consolas"/>
                <a:cs typeface="Consolas"/>
                <a:sym typeface="Consolas"/>
              </a:rPr>
              <a:t>8</a:t>
            </a:r>
            <a:endParaRPr/>
          </a:p>
        </p:txBody>
      </p:sp>
      <p:sp>
        <p:nvSpPr>
          <p:cNvPr id="1196" name="Google Shape;1196;p22"/>
          <p:cNvSpPr/>
          <p:nvPr/>
        </p:nvSpPr>
        <p:spPr>
          <a:xfrm>
            <a:off x="7178040" y="1371600"/>
            <a:ext cx="420624" cy="420624"/>
          </a:xfrm>
          <a:prstGeom prst="roundRect">
            <a:avLst>
              <a:gd fmla="val 8000" name="adj"/>
            </a:avLst>
          </a:prstGeom>
          <a:solidFill>
            <a:srgbClr val="F7EEEE"/>
          </a:solidFill>
          <a:ln cap="flat" cmpd="sng" w="9525">
            <a:solidFill>
              <a:srgbClr val="E6D2D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97" name="Google Shape;1197;p22"/>
          <p:cNvSpPr txBox="1"/>
          <p:nvPr/>
        </p:nvSpPr>
        <p:spPr>
          <a:xfrm>
            <a:off x="7178040" y="1371600"/>
            <a:ext cx="420624" cy="420624"/>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100" u="none" cap="none" strike="noStrike">
                <a:solidFill>
                  <a:srgbClr val="2B2B2B"/>
                </a:solidFill>
                <a:latin typeface="Consolas"/>
                <a:ea typeface="Consolas"/>
                <a:cs typeface="Consolas"/>
                <a:sym typeface="Consolas"/>
              </a:rPr>
              <a:t>9</a:t>
            </a:r>
            <a:endParaRPr/>
          </a:p>
        </p:txBody>
      </p:sp>
      <p:sp>
        <p:nvSpPr>
          <p:cNvPr id="1198" name="Google Shape;1198;p22"/>
          <p:cNvSpPr/>
          <p:nvPr/>
        </p:nvSpPr>
        <p:spPr>
          <a:xfrm>
            <a:off x="7635240" y="1371600"/>
            <a:ext cx="420624" cy="420624"/>
          </a:xfrm>
          <a:prstGeom prst="roundRect">
            <a:avLst>
              <a:gd fmla="val 8000" name="adj"/>
            </a:avLst>
          </a:prstGeom>
          <a:solidFill>
            <a:srgbClr val="F7EEEE"/>
          </a:solidFill>
          <a:ln cap="flat" cmpd="sng" w="9525">
            <a:solidFill>
              <a:srgbClr val="E6D2D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99" name="Google Shape;1199;p22"/>
          <p:cNvSpPr txBox="1"/>
          <p:nvPr/>
        </p:nvSpPr>
        <p:spPr>
          <a:xfrm>
            <a:off x="7635240" y="1371600"/>
            <a:ext cx="420624" cy="420624"/>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100" u="none" cap="none" strike="noStrike">
                <a:solidFill>
                  <a:srgbClr val="2B2B2B"/>
                </a:solidFill>
                <a:latin typeface="Consolas"/>
                <a:ea typeface="Consolas"/>
                <a:cs typeface="Consolas"/>
                <a:sym typeface="Consolas"/>
              </a:rPr>
              <a:t>10</a:t>
            </a:r>
            <a:endParaRPr/>
          </a:p>
        </p:txBody>
      </p:sp>
      <p:sp>
        <p:nvSpPr>
          <p:cNvPr id="1200" name="Google Shape;1200;p22"/>
          <p:cNvSpPr/>
          <p:nvPr/>
        </p:nvSpPr>
        <p:spPr>
          <a:xfrm>
            <a:off x="8092440" y="1371600"/>
            <a:ext cx="420624" cy="420624"/>
          </a:xfrm>
          <a:prstGeom prst="roundRect">
            <a:avLst>
              <a:gd fmla="val 8000" name="adj"/>
            </a:avLst>
          </a:prstGeom>
          <a:solidFill>
            <a:srgbClr val="F7EEEE"/>
          </a:solidFill>
          <a:ln cap="flat" cmpd="sng" w="9525">
            <a:solidFill>
              <a:srgbClr val="E6D2D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01" name="Google Shape;1201;p22"/>
          <p:cNvSpPr txBox="1"/>
          <p:nvPr/>
        </p:nvSpPr>
        <p:spPr>
          <a:xfrm>
            <a:off x="8092440" y="1371600"/>
            <a:ext cx="420624" cy="420624"/>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100" u="none" cap="none" strike="noStrike">
                <a:solidFill>
                  <a:srgbClr val="2B2B2B"/>
                </a:solidFill>
                <a:latin typeface="Consolas"/>
                <a:ea typeface="Consolas"/>
                <a:cs typeface="Consolas"/>
                <a:sym typeface="Consolas"/>
              </a:rPr>
              <a:t>11</a:t>
            </a:r>
            <a:endParaRPr/>
          </a:p>
        </p:txBody>
      </p:sp>
      <p:sp>
        <p:nvSpPr>
          <p:cNvPr id="1202" name="Google Shape;1202;p22"/>
          <p:cNvSpPr txBox="1"/>
          <p:nvPr/>
        </p:nvSpPr>
        <p:spPr>
          <a:xfrm>
            <a:off x="3063240" y="1828800"/>
            <a:ext cx="5486400" cy="27432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0" i="0" lang="en-US" sz="1000" u="none" cap="none" strike="noStrike">
                <a:solidFill>
                  <a:srgbClr val="6E6E6E"/>
                </a:solidFill>
                <a:latin typeface="Arial"/>
                <a:ea typeface="Arial"/>
                <a:cs typeface="Arial"/>
                <a:sym typeface="Arial"/>
              </a:rPr>
              <a:t>memory: row 0, then row 1, then row 2 ("row-major")</a:t>
            </a:r>
            <a:endParaRPr/>
          </a:p>
        </p:txBody>
      </p:sp>
      <p:sp>
        <p:nvSpPr>
          <p:cNvPr id="1203" name="Google Shape;1203;p22"/>
          <p:cNvSpPr/>
          <p:nvPr/>
        </p:nvSpPr>
        <p:spPr>
          <a:xfrm>
            <a:off x="3063240" y="2240280"/>
            <a:ext cx="5623560" cy="914400"/>
          </a:xfrm>
          <a:prstGeom prst="roundRect">
            <a:avLst>
              <a:gd fmla="val 3500" name="adj"/>
            </a:avLst>
          </a:prstGeom>
          <a:solidFill>
            <a:srgbClr val="1B1B1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04" name="Google Shape;1204;p22"/>
          <p:cNvSpPr txBox="1"/>
          <p:nvPr/>
        </p:nvSpPr>
        <p:spPr>
          <a:xfrm>
            <a:off x="3200400" y="2331720"/>
            <a:ext cx="5349240" cy="73152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0" i="0" lang="en-US" sz="1100" u="none" cap="none" strike="noStrike">
                <a:solidFill>
                  <a:srgbClr val="9CDCFE"/>
                </a:solidFill>
                <a:latin typeface="Consolas"/>
                <a:ea typeface="Consolas"/>
                <a:cs typeface="Consolas"/>
                <a:sym typeface="Consolas"/>
              </a:rPr>
              <a:t>index = row * width + col     </a:t>
            </a:r>
            <a:r>
              <a:rPr b="0" i="0" lang="en-US" sz="1100" u="none" cap="none" strike="noStrike">
                <a:solidFill>
                  <a:srgbClr val="6A9955"/>
                </a:solidFill>
                <a:latin typeface="Consolas"/>
                <a:ea typeface="Consolas"/>
                <a:cs typeface="Consolas"/>
                <a:sym typeface="Consolas"/>
              </a:rPr>
              <a:t>// (1, 2) → 1*4 + 2 = 6</a:t>
            </a:r>
            <a:endParaRPr/>
          </a:p>
          <a:p>
            <a:pPr indent="0" lvl="0" marL="0" marR="0" rtl="0" algn="l">
              <a:lnSpc>
                <a:spcPct val="100000"/>
              </a:lnSpc>
              <a:spcBef>
                <a:spcPts val="0"/>
              </a:spcBef>
              <a:spcAft>
                <a:spcPts val="0"/>
              </a:spcAft>
              <a:buNone/>
            </a:pPr>
            <a:r>
              <a:rPr b="0" i="0" lang="en-US" sz="1100" u="none" cap="none" strike="noStrike">
                <a:solidFill>
                  <a:srgbClr val="9CDCFE"/>
                </a:solidFill>
                <a:latin typeface="Consolas"/>
                <a:ea typeface="Consolas"/>
                <a:cs typeface="Consolas"/>
                <a:sym typeface="Consolas"/>
              </a:rPr>
              <a:t>row   = index / width;   col = index % width;</a:t>
            </a:r>
            <a:endParaRPr/>
          </a:p>
        </p:txBody>
      </p:sp>
      <p:sp>
        <p:nvSpPr>
          <p:cNvPr id="1205" name="Google Shape;1205;p22"/>
          <p:cNvSpPr/>
          <p:nvPr/>
        </p:nvSpPr>
        <p:spPr>
          <a:xfrm>
            <a:off x="457200" y="3429000"/>
            <a:ext cx="8229600" cy="457200"/>
          </a:xfrm>
          <a:prstGeom prst="roundRect">
            <a:avLst>
              <a:gd fmla="val 3500" name="adj"/>
            </a:avLst>
          </a:prstGeom>
          <a:solidFill>
            <a:srgbClr val="1B1B1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06" name="Google Shape;1206;p22"/>
          <p:cNvSpPr txBox="1"/>
          <p:nvPr/>
        </p:nvSpPr>
        <p:spPr>
          <a:xfrm>
            <a:off x="621800" y="3429000"/>
            <a:ext cx="7955400" cy="420600"/>
          </a:xfrm>
          <a:prstGeom prst="rect">
            <a:avLst/>
          </a:prstGeom>
          <a:noFill/>
          <a:ln>
            <a:noFill/>
          </a:ln>
        </p:spPr>
        <p:txBody>
          <a:bodyPr anchorCtr="0" anchor="ctr" bIns="18275" lIns="36575" spcFirstLastPara="1" rIns="36575" wrap="square" tIns="18275">
            <a:noAutofit/>
          </a:bodyPr>
          <a:lstStyle/>
          <a:p>
            <a:pPr indent="0" lvl="0" marL="0" marR="0" rtl="0" algn="l">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Every 2D GPU kernel does this math.</a:t>
            </a:r>
            <a:r>
              <a:rPr b="0" i="0" lang="en-US" sz="1200" u="none" cap="none" strike="noStrike">
                <a:solidFill>
                  <a:srgbClr val="FFFFFF"/>
                </a:solidFill>
                <a:latin typeface="Arial"/>
                <a:ea typeface="Arial"/>
                <a:cs typeface="Arial"/>
                <a:sym typeface="Arial"/>
              </a:rPr>
              <a:t> </a:t>
            </a:r>
            <a:endParaRPr/>
          </a:p>
        </p:txBody>
      </p:sp>
      <p:sp>
        <p:nvSpPr>
          <p:cNvPr id="1207" name="Google Shape;1207;p22"/>
          <p:cNvSpPr txBox="1"/>
          <p:nvPr/>
        </p:nvSpPr>
        <p:spPr>
          <a:xfrm>
            <a:off x="457200" y="4023360"/>
            <a:ext cx="8229600" cy="45720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0" i="0" lang="en-US" sz="1200" u="none" cap="none" strike="noStrike">
                <a:solidFill>
                  <a:srgbClr val="2B2B2B"/>
                </a:solidFill>
                <a:latin typeface="Arial"/>
                <a:ea typeface="Arial"/>
                <a:cs typeface="Arial"/>
                <a:sym typeface="Arial"/>
              </a:rPr>
              <a:t>Our example: a 2D heat simulation. Each cell becomes the average of itself and its 4 neighbors.</a:t>
            </a:r>
            <a:endParaRPr/>
          </a:p>
        </p:txBody>
      </p:sp>
      <p:sp>
        <p:nvSpPr>
          <p:cNvPr id="1208" name="Google Shape;1208;p22"/>
          <p:cNvSpPr/>
          <p:nvPr/>
        </p:nvSpPr>
        <p:spPr>
          <a:xfrm>
            <a:off x="636879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22"/>
          <p:cNvSpPr/>
          <p:nvPr/>
        </p:nvSpPr>
        <p:spPr>
          <a:xfrm>
            <a:off x="644194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22"/>
          <p:cNvSpPr/>
          <p:nvPr/>
        </p:nvSpPr>
        <p:spPr>
          <a:xfrm>
            <a:off x="6515100"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22"/>
          <p:cNvSpPr/>
          <p:nvPr/>
        </p:nvSpPr>
        <p:spPr>
          <a:xfrm>
            <a:off x="6588252"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22"/>
          <p:cNvSpPr/>
          <p:nvPr/>
        </p:nvSpPr>
        <p:spPr>
          <a:xfrm>
            <a:off x="6661404"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22"/>
          <p:cNvSpPr/>
          <p:nvPr/>
        </p:nvSpPr>
        <p:spPr>
          <a:xfrm>
            <a:off x="673455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22"/>
          <p:cNvSpPr/>
          <p:nvPr/>
        </p:nvSpPr>
        <p:spPr>
          <a:xfrm>
            <a:off x="680770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22"/>
          <p:cNvSpPr/>
          <p:nvPr/>
        </p:nvSpPr>
        <p:spPr>
          <a:xfrm>
            <a:off x="6880860"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22"/>
          <p:cNvSpPr/>
          <p:nvPr/>
        </p:nvSpPr>
        <p:spPr>
          <a:xfrm>
            <a:off x="6954012"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22"/>
          <p:cNvSpPr/>
          <p:nvPr/>
        </p:nvSpPr>
        <p:spPr>
          <a:xfrm>
            <a:off x="7027164"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22"/>
          <p:cNvSpPr/>
          <p:nvPr/>
        </p:nvSpPr>
        <p:spPr>
          <a:xfrm>
            <a:off x="710031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22"/>
          <p:cNvSpPr/>
          <p:nvPr/>
        </p:nvSpPr>
        <p:spPr>
          <a:xfrm>
            <a:off x="717346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22"/>
          <p:cNvSpPr/>
          <p:nvPr/>
        </p:nvSpPr>
        <p:spPr>
          <a:xfrm>
            <a:off x="7246620"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22"/>
          <p:cNvSpPr/>
          <p:nvPr/>
        </p:nvSpPr>
        <p:spPr>
          <a:xfrm>
            <a:off x="7319772"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22"/>
          <p:cNvSpPr/>
          <p:nvPr/>
        </p:nvSpPr>
        <p:spPr>
          <a:xfrm>
            <a:off x="7392924"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22"/>
          <p:cNvSpPr/>
          <p:nvPr/>
        </p:nvSpPr>
        <p:spPr>
          <a:xfrm>
            <a:off x="746607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22"/>
          <p:cNvSpPr/>
          <p:nvPr/>
        </p:nvSpPr>
        <p:spPr>
          <a:xfrm>
            <a:off x="753922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22"/>
          <p:cNvSpPr/>
          <p:nvPr/>
        </p:nvSpPr>
        <p:spPr>
          <a:xfrm>
            <a:off x="7612380"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22"/>
          <p:cNvSpPr/>
          <p:nvPr/>
        </p:nvSpPr>
        <p:spPr>
          <a:xfrm>
            <a:off x="7685532"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22"/>
          <p:cNvSpPr/>
          <p:nvPr/>
        </p:nvSpPr>
        <p:spPr>
          <a:xfrm>
            <a:off x="7758684"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22"/>
          <p:cNvSpPr/>
          <p:nvPr/>
        </p:nvSpPr>
        <p:spPr>
          <a:xfrm>
            <a:off x="783183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22"/>
          <p:cNvSpPr/>
          <p:nvPr/>
        </p:nvSpPr>
        <p:spPr>
          <a:xfrm>
            <a:off x="790498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22"/>
          <p:cNvSpPr/>
          <p:nvPr/>
        </p:nvSpPr>
        <p:spPr>
          <a:xfrm>
            <a:off x="7978140"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22"/>
          <p:cNvSpPr/>
          <p:nvPr/>
        </p:nvSpPr>
        <p:spPr>
          <a:xfrm>
            <a:off x="8051292" y="4901184"/>
            <a:ext cx="50292" cy="50292"/>
          </a:xfrm>
          <a:prstGeom prst="rect">
            <a:avLst/>
          </a:prstGeom>
          <a:solidFill>
            <a:srgbClr val="5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22"/>
          <p:cNvSpPr/>
          <p:nvPr/>
        </p:nvSpPr>
        <p:spPr>
          <a:xfrm>
            <a:off x="812444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22"/>
          <p:cNvSpPr/>
          <p:nvPr/>
        </p:nvSpPr>
        <p:spPr>
          <a:xfrm>
            <a:off x="819759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22"/>
          <p:cNvSpPr/>
          <p:nvPr/>
        </p:nvSpPr>
        <p:spPr>
          <a:xfrm>
            <a:off x="827074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22"/>
          <p:cNvSpPr/>
          <p:nvPr/>
        </p:nvSpPr>
        <p:spPr>
          <a:xfrm>
            <a:off x="8343900"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22"/>
          <p:cNvSpPr/>
          <p:nvPr/>
        </p:nvSpPr>
        <p:spPr>
          <a:xfrm>
            <a:off x="841705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22"/>
          <p:cNvSpPr/>
          <p:nvPr/>
        </p:nvSpPr>
        <p:spPr>
          <a:xfrm>
            <a:off x="849020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22"/>
          <p:cNvSpPr/>
          <p:nvPr/>
        </p:nvSpPr>
        <p:spPr>
          <a:xfrm>
            <a:off x="856335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22"/>
          <p:cNvSpPr/>
          <p:nvPr/>
        </p:nvSpPr>
        <p:spPr>
          <a:xfrm>
            <a:off x="863650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22"/>
          <p:cNvSpPr txBox="1"/>
          <p:nvPr/>
        </p:nvSpPr>
        <p:spPr>
          <a:xfrm>
            <a:off x="5472684" y="4846320"/>
            <a:ext cx="822960" cy="15544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00" u="none" cap="none" strike="noStrike">
                <a:solidFill>
                  <a:srgbClr val="9A9AA0"/>
                </a:solidFill>
                <a:latin typeface="Consolas"/>
                <a:ea typeface="Consolas"/>
                <a:cs typeface="Consolas"/>
                <a:sym typeface="Consolas"/>
              </a:rPr>
              <a:t>slide[23]</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45" name="Shape 1245"/>
        <p:cNvGrpSpPr/>
        <p:nvPr/>
      </p:nvGrpSpPr>
      <p:grpSpPr>
        <a:xfrm>
          <a:off x="0" y="0"/>
          <a:ext cx="0" cy="0"/>
          <a:chOff x="0" y="0"/>
          <a:chExt cx="0" cy="0"/>
        </a:xfrm>
      </p:grpSpPr>
      <p:sp>
        <p:nvSpPr>
          <p:cNvPr id="1246" name="Google Shape;1246;p25"/>
          <p:cNvSpPr txBox="1"/>
          <p:nvPr/>
        </p:nvSpPr>
        <p:spPr>
          <a:xfrm>
            <a:off x="457200" y="320040"/>
            <a:ext cx="8229600" cy="54864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2800" u="none" cap="none" strike="noStrike">
                <a:solidFill>
                  <a:srgbClr val="500000"/>
                </a:solidFill>
                <a:latin typeface="Arial"/>
                <a:ea typeface="Arial"/>
                <a:cs typeface="Arial"/>
                <a:sym typeface="Arial"/>
              </a:rPr>
              <a:t>One thread per cell: thrust::tabulate</a:t>
            </a:r>
            <a:endParaRPr/>
          </a:p>
        </p:txBody>
      </p:sp>
      <p:sp>
        <p:nvSpPr>
          <p:cNvPr id="1247" name="Google Shape;1247;p25"/>
          <p:cNvSpPr txBox="1"/>
          <p:nvPr/>
        </p:nvSpPr>
        <p:spPr>
          <a:xfrm>
            <a:off x="457200" y="868680"/>
            <a:ext cx="8229600" cy="27432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0" i="0" lang="en-US" sz="1200" u="none" cap="none" strike="noStrike">
                <a:solidFill>
                  <a:srgbClr val="6E6E6E"/>
                </a:solidFill>
                <a:latin typeface="Arial"/>
                <a:ea typeface="Arial"/>
                <a:cs typeface="Arial"/>
                <a:sym typeface="Arial"/>
              </a:rPr>
              <a:t>tabulate(f) is exactly transform over a counting iterator</a:t>
            </a:r>
            <a:endParaRPr/>
          </a:p>
        </p:txBody>
      </p:sp>
      <p:sp>
        <p:nvSpPr>
          <p:cNvPr id="1248" name="Google Shape;1248;p25"/>
          <p:cNvSpPr txBox="1"/>
          <p:nvPr/>
        </p:nvSpPr>
        <p:spPr>
          <a:xfrm>
            <a:off x="457200" y="1188720"/>
            <a:ext cx="3931920" cy="27432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1200" u="none" cap="none" strike="noStrike">
                <a:solidFill>
                  <a:srgbClr val="500000"/>
                </a:solidFill>
                <a:latin typeface="Arial"/>
                <a:ea typeface="Arial"/>
                <a:cs typeface="Arial"/>
                <a:sym typeface="Arial"/>
              </a:rPr>
              <a:t>transform + counting_iterator</a:t>
            </a:r>
            <a:endParaRPr/>
          </a:p>
        </p:txBody>
      </p:sp>
      <p:sp>
        <p:nvSpPr>
          <p:cNvPr id="1249" name="Google Shape;1249;p25"/>
          <p:cNvSpPr/>
          <p:nvPr/>
        </p:nvSpPr>
        <p:spPr>
          <a:xfrm>
            <a:off x="457200" y="1481328"/>
            <a:ext cx="3931920" cy="1188720"/>
          </a:xfrm>
          <a:prstGeom prst="roundRect">
            <a:avLst>
              <a:gd fmla="val 3500" name="adj"/>
            </a:avLst>
          </a:prstGeom>
          <a:solidFill>
            <a:srgbClr val="1B1B1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50" name="Google Shape;1250;p25"/>
          <p:cNvSpPr txBox="1"/>
          <p:nvPr/>
        </p:nvSpPr>
        <p:spPr>
          <a:xfrm>
            <a:off x="594360" y="1572768"/>
            <a:ext cx="3657600" cy="100584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950" u="none" cap="none" strike="noStrike">
                <a:solidFill>
                  <a:srgbClr val="C586C0"/>
                </a:solidFill>
                <a:latin typeface="Consolas"/>
                <a:ea typeface="Consolas"/>
                <a:cs typeface="Consolas"/>
                <a:sym typeface="Consolas"/>
              </a:rPr>
              <a:t>auto</a:t>
            </a:r>
            <a:r>
              <a:rPr b="1" i="0" lang="en-US" sz="950" u="none" cap="none" strike="noStrike">
                <a:solidFill>
                  <a:srgbClr val="76B900"/>
                </a:solidFill>
                <a:latin typeface="Consolas"/>
                <a:ea typeface="Consolas"/>
                <a:cs typeface="Consolas"/>
                <a:sym typeface="Consolas"/>
              </a:rPr>
              <a:t> ids = thrust::make_counting_iterator(</a:t>
            </a:r>
            <a:r>
              <a:rPr b="1" i="0" lang="en-US" sz="950" u="none" cap="none" strike="noStrike">
                <a:solidFill>
                  <a:srgbClr val="B5CEA8"/>
                </a:solidFill>
                <a:latin typeface="Consolas"/>
                <a:ea typeface="Consolas"/>
                <a:cs typeface="Consolas"/>
                <a:sym typeface="Consolas"/>
              </a:rPr>
              <a:t>0</a:t>
            </a:r>
            <a:r>
              <a:rPr b="1" i="0" lang="en-US" sz="950" u="none" cap="none" strike="noStrike">
                <a:solidFill>
                  <a:srgbClr val="76B900"/>
                </a:solidFill>
                <a:latin typeface="Consolas"/>
                <a:ea typeface="Consolas"/>
                <a:cs typeface="Consolas"/>
                <a:sym typeface="Consolas"/>
              </a:rPr>
              <a:t>);</a:t>
            </a:r>
            <a:endParaRPr/>
          </a:p>
          <a:p>
            <a:pPr indent="0" lvl="0" marL="0" marR="0" rtl="0" algn="l">
              <a:lnSpc>
                <a:spcPct val="100000"/>
              </a:lnSpc>
              <a:spcBef>
                <a:spcPts val="0"/>
              </a:spcBef>
              <a:spcAft>
                <a:spcPts val="0"/>
              </a:spcAft>
              <a:buNone/>
            </a:pPr>
            <a:r>
              <a:rPr b="0" i="0" lang="en-US" sz="950" u="none" cap="none" strike="noStrike">
                <a:solidFill>
                  <a:srgbClr val="9CDCFE"/>
                </a:solidFill>
                <a:latin typeface="Consolas"/>
                <a:ea typeface="Consolas"/>
                <a:cs typeface="Consolas"/>
                <a:sym typeface="Consolas"/>
              </a:rPr>
              <a:t>thrust::transform(thrust::device,</a:t>
            </a:r>
            <a:endParaRPr/>
          </a:p>
          <a:p>
            <a:pPr indent="0" lvl="0" marL="0" marR="0" rtl="0" algn="l">
              <a:lnSpc>
                <a:spcPct val="100000"/>
              </a:lnSpc>
              <a:spcBef>
                <a:spcPts val="0"/>
              </a:spcBef>
              <a:spcAft>
                <a:spcPts val="0"/>
              </a:spcAft>
              <a:buNone/>
            </a:pPr>
            <a:r>
              <a:rPr b="1" i="0" lang="en-US" sz="950" u="none" cap="none" strike="noStrike">
                <a:solidFill>
                  <a:srgbClr val="76B900"/>
                </a:solidFill>
                <a:latin typeface="Consolas"/>
                <a:ea typeface="Consolas"/>
                <a:cs typeface="Consolas"/>
                <a:sym typeface="Consolas"/>
              </a:rPr>
              <a:t>    ids, ids + in.size(), out.begin(),</a:t>
            </a:r>
            <a:endParaRPr/>
          </a:p>
          <a:p>
            <a:pPr indent="0" lvl="0" marL="0" marR="0" rtl="0" algn="l">
              <a:lnSpc>
                <a:spcPct val="100000"/>
              </a:lnSpc>
              <a:spcBef>
                <a:spcPts val="0"/>
              </a:spcBef>
              <a:spcAft>
                <a:spcPts val="0"/>
              </a:spcAft>
              <a:buNone/>
            </a:pPr>
            <a:r>
              <a:rPr b="0" i="0" lang="en-US" sz="950" u="none" cap="none" strike="noStrike">
                <a:solidFill>
                  <a:srgbClr val="9CDCFE"/>
                </a:solidFill>
                <a:latin typeface="Consolas"/>
                <a:ea typeface="Consolas"/>
                <a:cs typeface="Consolas"/>
                <a:sym typeface="Consolas"/>
              </a:rPr>
              <a:t>    [=] </a:t>
            </a:r>
            <a:r>
              <a:rPr b="0" i="0" lang="en-US" sz="950" u="none" cap="none" strike="noStrike">
                <a:solidFill>
                  <a:srgbClr val="C586C0"/>
                </a:solidFill>
                <a:latin typeface="Consolas"/>
                <a:ea typeface="Consolas"/>
                <a:cs typeface="Consolas"/>
                <a:sym typeface="Consolas"/>
              </a:rPr>
              <a:t>__host__</a:t>
            </a:r>
            <a:r>
              <a:rPr b="0" i="0" lang="en-US" sz="950" u="none" cap="none" strike="noStrike">
                <a:solidFill>
                  <a:srgbClr val="9CDCFE"/>
                </a:solidFill>
                <a:latin typeface="Consolas"/>
                <a:ea typeface="Consolas"/>
                <a:cs typeface="Consolas"/>
                <a:sym typeface="Consolas"/>
              </a:rPr>
              <a:t> </a:t>
            </a:r>
            <a:r>
              <a:rPr b="0" i="0" lang="en-US" sz="950" u="none" cap="none" strike="noStrike">
                <a:solidFill>
                  <a:srgbClr val="C586C0"/>
                </a:solidFill>
                <a:latin typeface="Consolas"/>
                <a:ea typeface="Consolas"/>
                <a:cs typeface="Consolas"/>
                <a:sym typeface="Consolas"/>
              </a:rPr>
              <a:t>__device__</a:t>
            </a:r>
            <a:r>
              <a:rPr b="0" i="0" lang="en-US" sz="950" u="none" cap="none" strike="noStrike">
                <a:solidFill>
                  <a:srgbClr val="9CDCFE"/>
                </a:solidFill>
                <a:latin typeface="Consolas"/>
                <a:ea typeface="Consolas"/>
                <a:cs typeface="Consolas"/>
                <a:sym typeface="Consolas"/>
              </a:rPr>
              <a:t>(</a:t>
            </a:r>
            <a:r>
              <a:rPr b="0" i="0" lang="en-US" sz="950" u="none" cap="none" strike="noStrike">
                <a:solidFill>
                  <a:srgbClr val="C586C0"/>
                </a:solidFill>
                <a:latin typeface="Consolas"/>
                <a:ea typeface="Consolas"/>
                <a:cs typeface="Consolas"/>
                <a:sym typeface="Consolas"/>
              </a:rPr>
              <a:t>int</a:t>
            </a:r>
            <a:r>
              <a:rPr b="0" i="0" lang="en-US" sz="950" u="none" cap="none" strike="noStrike">
                <a:solidFill>
                  <a:srgbClr val="9CDCFE"/>
                </a:solidFill>
                <a:latin typeface="Consolas"/>
                <a:ea typeface="Consolas"/>
                <a:cs typeface="Consolas"/>
                <a:sym typeface="Consolas"/>
              </a:rPr>
              <a:t> id) {</a:t>
            </a:r>
            <a:endParaRPr/>
          </a:p>
          <a:p>
            <a:pPr indent="0" lvl="0" marL="0" marR="0" rtl="0" algn="l">
              <a:lnSpc>
                <a:spcPct val="100000"/>
              </a:lnSpc>
              <a:spcBef>
                <a:spcPts val="0"/>
              </a:spcBef>
              <a:spcAft>
                <a:spcPts val="0"/>
              </a:spcAft>
              <a:buNone/>
            </a:pPr>
            <a:r>
              <a:rPr b="0" i="0" lang="en-US" sz="950" u="none" cap="none" strike="noStrike">
                <a:solidFill>
                  <a:srgbClr val="9CDCFE"/>
                </a:solidFill>
                <a:latin typeface="Consolas"/>
                <a:ea typeface="Consolas"/>
                <a:cs typeface="Consolas"/>
                <a:sym typeface="Consolas"/>
              </a:rPr>
              <a:t>      /* compute cell id */ });</a:t>
            </a:r>
            <a:endParaRPr/>
          </a:p>
        </p:txBody>
      </p:sp>
      <p:sp>
        <p:nvSpPr>
          <p:cNvPr id="1251" name="Google Shape;1251;p25"/>
          <p:cNvSpPr txBox="1"/>
          <p:nvPr/>
        </p:nvSpPr>
        <p:spPr>
          <a:xfrm>
            <a:off x="4754880" y="1188720"/>
            <a:ext cx="3931920" cy="27432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1200" u="none" cap="none" strike="noStrike">
                <a:solidFill>
                  <a:srgbClr val="4E7A00"/>
                </a:solidFill>
                <a:latin typeface="Arial"/>
                <a:ea typeface="Arial"/>
                <a:cs typeface="Arial"/>
                <a:sym typeface="Arial"/>
              </a:rPr>
              <a:t>thrust::tabulate</a:t>
            </a:r>
            <a:endParaRPr/>
          </a:p>
        </p:txBody>
      </p:sp>
      <p:sp>
        <p:nvSpPr>
          <p:cNvPr id="1252" name="Google Shape;1252;p25"/>
          <p:cNvSpPr/>
          <p:nvPr/>
        </p:nvSpPr>
        <p:spPr>
          <a:xfrm>
            <a:off x="4754880" y="1481328"/>
            <a:ext cx="3931920" cy="1188720"/>
          </a:xfrm>
          <a:prstGeom prst="roundRect">
            <a:avLst>
              <a:gd fmla="val 3500" name="adj"/>
            </a:avLst>
          </a:prstGeom>
          <a:solidFill>
            <a:srgbClr val="1B1B1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53" name="Google Shape;1253;p25"/>
          <p:cNvSpPr txBox="1"/>
          <p:nvPr/>
        </p:nvSpPr>
        <p:spPr>
          <a:xfrm>
            <a:off x="4892040" y="1572768"/>
            <a:ext cx="3657600" cy="100584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950" u="none" cap="none" strike="noStrike">
                <a:solidFill>
                  <a:srgbClr val="76B900"/>
                </a:solidFill>
                <a:latin typeface="Consolas"/>
                <a:ea typeface="Consolas"/>
                <a:cs typeface="Consolas"/>
                <a:sym typeface="Consolas"/>
              </a:rPr>
              <a:t>thrust::tabulate(thrust::device,</a:t>
            </a:r>
            <a:endParaRPr/>
          </a:p>
          <a:p>
            <a:pPr indent="0" lvl="0" marL="0" marR="0" rtl="0" algn="l">
              <a:lnSpc>
                <a:spcPct val="100000"/>
              </a:lnSpc>
              <a:spcBef>
                <a:spcPts val="0"/>
              </a:spcBef>
              <a:spcAft>
                <a:spcPts val="0"/>
              </a:spcAft>
              <a:buNone/>
            </a:pPr>
            <a:r>
              <a:rPr b="0" i="0" lang="en-US" sz="950" u="none" cap="none" strike="noStrike">
                <a:solidFill>
                  <a:srgbClr val="9CDCFE"/>
                </a:solidFill>
                <a:latin typeface="Consolas"/>
                <a:ea typeface="Consolas"/>
                <a:cs typeface="Consolas"/>
                <a:sym typeface="Consolas"/>
              </a:rPr>
              <a:t>    out.begin(), out.end(),</a:t>
            </a:r>
            <a:endParaRPr/>
          </a:p>
          <a:p>
            <a:pPr indent="0" lvl="0" marL="0" marR="0" rtl="0" algn="l">
              <a:lnSpc>
                <a:spcPct val="100000"/>
              </a:lnSpc>
              <a:spcBef>
                <a:spcPts val="0"/>
              </a:spcBef>
              <a:spcAft>
                <a:spcPts val="0"/>
              </a:spcAft>
              <a:buNone/>
            </a:pPr>
            <a:r>
              <a:rPr b="0" i="0" lang="en-US" sz="950" u="none" cap="none" strike="noStrike">
                <a:solidFill>
                  <a:srgbClr val="9CDCFE"/>
                </a:solidFill>
                <a:latin typeface="Consolas"/>
                <a:ea typeface="Consolas"/>
                <a:cs typeface="Consolas"/>
                <a:sym typeface="Consolas"/>
              </a:rPr>
              <a:t>    [=] </a:t>
            </a:r>
            <a:r>
              <a:rPr b="0" i="0" lang="en-US" sz="950" u="none" cap="none" strike="noStrike">
                <a:solidFill>
                  <a:srgbClr val="C586C0"/>
                </a:solidFill>
                <a:latin typeface="Consolas"/>
                <a:ea typeface="Consolas"/>
                <a:cs typeface="Consolas"/>
                <a:sym typeface="Consolas"/>
              </a:rPr>
              <a:t>__host__</a:t>
            </a:r>
            <a:r>
              <a:rPr b="0" i="0" lang="en-US" sz="950" u="none" cap="none" strike="noStrike">
                <a:solidFill>
                  <a:srgbClr val="9CDCFE"/>
                </a:solidFill>
                <a:latin typeface="Consolas"/>
                <a:ea typeface="Consolas"/>
                <a:cs typeface="Consolas"/>
                <a:sym typeface="Consolas"/>
              </a:rPr>
              <a:t> </a:t>
            </a:r>
            <a:r>
              <a:rPr b="0" i="0" lang="en-US" sz="950" u="none" cap="none" strike="noStrike">
                <a:solidFill>
                  <a:srgbClr val="C586C0"/>
                </a:solidFill>
                <a:latin typeface="Consolas"/>
                <a:ea typeface="Consolas"/>
                <a:cs typeface="Consolas"/>
                <a:sym typeface="Consolas"/>
              </a:rPr>
              <a:t>__device__</a:t>
            </a:r>
            <a:r>
              <a:rPr b="0" i="0" lang="en-US" sz="950" u="none" cap="none" strike="noStrike">
                <a:solidFill>
                  <a:srgbClr val="9CDCFE"/>
                </a:solidFill>
                <a:latin typeface="Consolas"/>
                <a:ea typeface="Consolas"/>
                <a:cs typeface="Consolas"/>
                <a:sym typeface="Consolas"/>
              </a:rPr>
              <a:t>(</a:t>
            </a:r>
            <a:r>
              <a:rPr b="0" i="0" lang="en-US" sz="950" u="none" cap="none" strike="noStrike">
                <a:solidFill>
                  <a:srgbClr val="C586C0"/>
                </a:solidFill>
                <a:latin typeface="Consolas"/>
                <a:ea typeface="Consolas"/>
                <a:cs typeface="Consolas"/>
                <a:sym typeface="Consolas"/>
              </a:rPr>
              <a:t>int</a:t>
            </a:r>
            <a:r>
              <a:rPr b="0" i="0" lang="en-US" sz="950" u="none" cap="none" strike="noStrike">
                <a:solidFill>
                  <a:srgbClr val="9CDCFE"/>
                </a:solidFill>
                <a:latin typeface="Consolas"/>
                <a:ea typeface="Consolas"/>
                <a:cs typeface="Consolas"/>
                <a:sym typeface="Consolas"/>
              </a:rPr>
              <a:t> id) {</a:t>
            </a:r>
            <a:endParaRPr/>
          </a:p>
          <a:p>
            <a:pPr indent="0" lvl="0" marL="0" marR="0" rtl="0" algn="l">
              <a:lnSpc>
                <a:spcPct val="100000"/>
              </a:lnSpc>
              <a:spcBef>
                <a:spcPts val="0"/>
              </a:spcBef>
              <a:spcAft>
                <a:spcPts val="0"/>
              </a:spcAft>
              <a:buNone/>
            </a:pPr>
            <a:r>
              <a:rPr b="0" i="0" lang="en-US" sz="950" u="none" cap="none" strike="noStrike">
                <a:solidFill>
                  <a:srgbClr val="9CDCFE"/>
                </a:solidFill>
                <a:latin typeface="Consolas"/>
                <a:ea typeface="Consolas"/>
                <a:cs typeface="Consolas"/>
                <a:sym typeface="Consolas"/>
              </a:rPr>
              <a:t>      /* compute cell id */ });</a:t>
            </a:r>
            <a:endParaRPr/>
          </a:p>
        </p:txBody>
      </p:sp>
      <p:sp>
        <p:nvSpPr>
          <p:cNvPr id="1254" name="Google Shape;1254;p25"/>
          <p:cNvSpPr/>
          <p:nvPr/>
        </p:nvSpPr>
        <p:spPr>
          <a:xfrm>
            <a:off x="457200" y="2788920"/>
            <a:ext cx="8229600" cy="1188720"/>
          </a:xfrm>
          <a:prstGeom prst="roundRect">
            <a:avLst>
              <a:gd fmla="val 3500" name="adj"/>
            </a:avLst>
          </a:prstGeom>
          <a:solidFill>
            <a:srgbClr val="1B1B1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55" name="Google Shape;1255;p25"/>
          <p:cNvSpPr txBox="1"/>
          <p:nvPr/>
        </p:nvSpPr>
        <p:spPr>
          <a:xfrm>
            <a:off x="594360" y="2880360"/>
            <a:ext cx="7955279" cy="100584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0" i="0" lang="en-US" sz="900" u="none" cap="none" strike="noStrike">
                <a:solidFill>
                  <a:srgbClr val="C586C0"/>
                </a:solidFill>
                <a:latin typeface="Consolas"/>
                <a:ea typeface="Consolas"/>
                <a:cs typeface="Consolas"/>
                <a:sym typeface="Consolas"/>
              </a:rPr>
              <a:t>int</a:t>
            </a:r>
            <a:r>
              <a:rPr b="0" i="0" lang="en-US" sz="900" u="none" cap="none" strike="noStrike">
                <a:solidFill>
                  <a:srgbClr val="9CDCFE"/>
                </a:solidFill>
                <a:latin typeface="Consolas"/>
                <a:ea typeface="Consolas"/>
                <a:cs typeface="Consolas"/>
                <a:sym typeface="Consolas"/>
              </a:rPr>
              <a:t> column = id % width;   </a:t>
            </a:r>
            <a:r>
              <a:rPr b="0" i="0" lang="en-US" sz="900" u="none" cap="none" strike="noStrike">
                <a:solidFill>
                  <a:srgbClr val="C586C0"/>
                </a:solidFill>
                <a:latin typeface="Consolas"/>
                <a:ea typeface="Consolas"/>
                <a:cs typeface="Consolas"/>
                <a:sym typeface="Consolas"/>
              </a:rPr>
              <a:t>int</a:t>
            </a:r>
            <a:r>
              <a:rPr b="0" i="0" lang="en-US" sz="900" u="none" cap="none" strike="noStrike">
                <a:solidFill>
                  <a:srgbClr val="9CDCFE"/>
                </a:solidFill>
                <a:latin typeface="Consolas"/>
                <a:ea typeface="Consolas"/>
                <a:cs typeface="Consolas"/>
                <a:sym typeface="Consolas"/>
              </a:rPr>
              <a:t> row = id / width;</a:t>
            </a:r>
            <a:endParaRPr/>
          </a:p>
          <a:p>
            <a:pPr indent="0" lvl="0" marL="0" marR="0" rtl="0" algn="l">
              <a:lnSpc>
                <a:spcPct val="100000"/>
              </a:lnSpc>
              <a:spcBef>
                <a:spcPts val="0"/>
              </a:spcBef>
              <a:spcAft>
                <a:spcPts val="0"/>
              </a:spcAft>
              <a:buNone/>
            </a:pPr>
            <a:r>
              <a:rPr b="0" i="0" lang="en-US" sz="900" u="none" cap="none" strike="noStrike">
                <a:solidFill>
                  <a:srgbClr val="C586C0"/>
                </a:solidFill>
                <a:latin typeface="Consolas"/>
                <a:ea typeface="Consolas"/>
                <a:cs typeface="Consolas"/>
                <a:sym typeface="Consolas"/>
              </a:rPr>
              <a:t>float</a:t>
            </a:r>
            <a:r>
              <a:rPr b="0" i="0" lang="en-US" sz="900" u="none" cap="none" strike="noStrike">
                <a:solidFill>
                  <a:srgbClr val="9CDCFE"/>
                </a:solidFill>
                <a:latin typeface="Consolas"/>
                <a:ea typeface="Consolas"/>
                <a:cs typeface="Consolas"/>
                <a:sym typeface="Consolas"/>
              </a:rPr>
              <a:t> d2tdx2 = in_ptr[row*width + column-</a:t>
            </a:r>
            <a:r>
              <a:rPr b="0" i="0" lang="en-US" sz="900" u="none" cap="none" strike="noStrike">
                <a:solidFill>
                  <a:srgbClr val="B5CEA8"/>
                </a:solidFill>
                <a:latin typeface="Consolas"/>
                <a:ea typeface="Consolas"/>
                <a:cs typeface="Consolas"/>
                <a:sym typeface="Consolas"/>
              </a:rPr>
              <a:t>1</a:t>
            </a:r>
            <a:r>
              <a:rPr b="0" i="0" lang="en-US" sz="900" u="none" cap="none" strike="noStrike">
                <a:solidFill>
                  <a:srgbClr val="9CDCFE"/>
                </a:solidFill>
                <a:latin typeface="Consolas"/>
                <a:ea typeface="Consolas"/>
                <a:cs typeface="Consolas"/>
                <a:sym typeface="Consolas"/>
              </a:rPr>
              <a:t>] - </a:t>
            </a:r>
            <a:r>
              <a:rPr b="0" i="0" lang="en-US" sz="900" u="none" cap="none" strike="noStrike">
                <a:solidFill>
                  <a:srgbClr val="B5CEA8"/>
                </a:solidFill>
                <a:latin typeface="Consolas"/>
                <a:ea typeface="Consolas"/>
                <a:cs typeface="Consolas"/>
                <a:sym typeface="Consolas"/>
              </a:rPr>
              <a:t>2</a:t>
            </a:r>
            <a:r>
              <a:rPr b="0" i="0" lang="en-US" sz="900" u="none" cap="none" strike="noStrike">
                <a:solidFill>
                  <a:srgbClr val="9CDCFE"/>
                </a:solidFill>
                <a:latin typeface="Consolas"/>
                <a:ea typeface="Consolas"/>
                <a:cs typeface="Consolas"/>
                <a:sym typeface="Consolas"/>
              </a:rPr>
              <a:t>*in_ptr[row*width + column] + in_ptr[row*width + column+</a:t>
            </a:r>
            <a:r>
              <a:rPr b="0" i="0" lang="en-US" sz="900" u="none" cap="none" strike="noStrike">
                <a:solidFill>
                  <a:srgbClr val="B5CEA8"/>
                </a:solidFill>
                <a:latin typeface="Consolas"/>
                <a:ea typeface="Consolas"/>
                <a:cs typeface="Consolas"/>
                <a:sym typeface="Consolas"/>
              </a:rPr>
              <a:t>1</a:t>
            </a:r>
            <a:r>
              <a:rPr b="0" i="0" lang="en-US" sz="900" u="none" cap="none" strike="noStrike">
                <a:solidFill>
                  <a:srgbClr val="9CDCFE"/>
                </a:solidFill>
                <a:latin typeface="Consolas"/>
                <a:ea typeface="Consolas"/>
                <a:cs typeface="Consolas"/>
                <a:sym typeface="Consolas"/>
              </a:rPr>
              <a:t>];</a:t>
            </a:r>
            <a:endParaRPr/>
          </a:p>
          <a:p>
            <a:pPr indent="0" lvl="0" marL="0" marR="0" rtl="0" algn="l">
              <a:lnSpc>
                <a:spcPct val="100000"/>
              </a:lnSpc>
              <a:spcBef>
                <a:spcPts val="0"/>
              </a:spcBef>
              <a:spcAft>
                <a:spcPts val="0"/>
              </a:spcAft>
              <a:buNone/>
            </a:pPr>
            <a:r>
              <a:rPr b="0" i="0" lang="en-US" sz="900" u="none" cap="none" strike="noStrike">
                <a:solidFill>
                  <a:srgbClr val="C586C0"/>
                </a:solidFill>
                <a:latin typeface="Consolas"/>
                <a:ea typeface="Consolas"/>
                <a:cs typeface="Consolas"/>
                <a:sym typeface="Consolas"/>
              </a:rPr>
              <a:t>float</a:t>
            </a:r>
            <a:r>
              <a:rPr b="0" i="0" lang="en-US" sz="900" u="none" cap="none" strike="noStrike">
                <a:solidFill>
                  <a:srgbClr val="9CDCFE"/>
                </a:solidFill>
                <a:latin typeface="Consolas"/>
                <a:ea typeface="Consolas"/>
                <a:cs typeface="Consolas"/>
                <a:sym typeface="Consolas"/>
              </a:rPr>
              <a:t> d2tdy2 = in_ptr[(row-</a:t>
            </a:r>
            <a:r>
              <a:rPr b="0" i="0" lang="en-US" sz="900" u="none" cap="none" strike="noStrike">
                <a:solidFill>
                  <a:srgbClr val="B5CEA8"/>
                </a:solidFill>
                <a:latin typeface="Consolas"/>
                <a:ea typeface="Consolas"/>
                <a:cs typeface="Consolas"/>
                <a:sym typeface="Consolas"/>
              </a:rPr>
              <a:t>1</a:t>
            </a:r>
            <a:r>
              <a:rPr b="0" i="0" lang="en-US" sz="900" u="none" cap="none" strike="noStrike">
                <a:solidFill>
                  <a:srgbClr val="9CDCFE"/>
                </a:solidFill>
                <a:latin typeface="Consolas"/>
                <a:ea typeface="Consolas"/>
                <a:cs typeface="Consolas"/>
                <a:sym typeface="Consolas"/>
              </a:rPr>
              <a:t>)*width + column] - </a:t>
            </a:r>
            <a:r>
              <a:rPr b="0" i="0" lang="en-US" sz="900" u="none" cap="none" strike="noStrike">
                <a:solidFill>
                  <a:srgbClr val="B5CEA8"/>
                </a:solidFill>
                <a:latin typeface="Consolas"/>
                <a:ea typeface="Consolas"/>
                <a:cs typeface="Consolas"/>
                <a:sym typeface="Consolas"/>
              </a:rPr>
              <a:t>2</a:t>
            </a:r>
            <a:r>
              <a:rPr b="0" i="0" lang="en-US" sz="900" u="none" cap="none" strike="noStrike">
                <a:solidFill>
                  <a:srgbClr val="9CDCFE"/>
                </a:solidFill>
                <a:latin typeface="Consolas"/>
                <a:ea typeface="Consolas"/>
                <a:cs typeface="Consolas"/>
                <a:sym typeface="Consolas"/>
              </a:rPr>
              <a:t>*in_ptr[row*width + column] + in_ptr[(row+</a:t>
            </a:r>
            <a:r>
              <a:rPr b="0" i="0" lang="en-US" sz="900" u="none" cap="none" strike="noStrike">
                <a:solidFill>
                  <a:srgbClr val="B5CEA8"/>
                </a:solidFill>
                <a:latin typeface="Consolas"/>
                <a:ea typeface="Consolas"/>
                <a:cs typeface="Consolas"/>
                <a:sym typeface="Consolas"/>
              </a:rPr>
              <a:t>1</a:t>
            </a:r>
            <a:r>
              <a:rPr b="0" i="0" lang="en-US" sz="900" u="none" cap="none" strike="noStrike">
                <a:solidFill>
                  <a:srgbClr val="9CDCFE"/>
                </a:solidFill>
                <a:latin typeface="Consolas"/>
                <a:ea typeface="Consolas"/>
                <a:cs typeface="Consolas"/>
                <a:sym typeface="Consolas"/>
              </a:rPr>
              <a:t>)*width + column];</a:t>
            </a:r>
            <a:endParaRPr/>
          </a:p>
          <a:p>
            <a:pPr indent="0" lvl="0" marL="0" marR="0" rtl="0" algn="l">
              <a:lnSpc>
                <a:spcPct val="100000"/>
              </a:lnSpc>
              <a:spcBef>
                <a:spcPts val="0"/>
              </a:spcBef>
              <a:spcAft>
                <a:spcPts val="0"/>
              </a:spcAft>
              <a:buNone/>
            </a:pPr>
            <a:r>
              <a:rPr b="0" i="0" lang="en-US" sz="900" u="none" cap="none" strike="noStrike">
                <a:solidFill>
                  <a:srgbClr val="C586C0"/>
                </a:solidFill>
                <a:latin typeface="Consolas"/>
                <a:ea typeface="Consolas"/>
                <a:cs typeface="Consolas"/>
                <a:sym typeface="Consolas"/>
              </a:rPr>
              <a:t>return</a:t>
            </a:r>
            <a:r>
              <a:rPr b="0" i="0" lang="en-US" sz="900" u="none" cap="none" strike="noStrike">
                <a:solidFill>
                  <a:srgbClr val="9CDCFE"/>
                </a:solidFill>
                <a:latin typeface="Consolas"/>
                <a:ea typeface="Consolas"/>
                <a:cs typeface="Consolas"/>
                <a:sym typeface="Consolas"/>
              </a:rPr>
              <a:t> in_ptr[row*width + column] + </a:t>
            </a:r>
            <a:r>
              <a:rPr b="0" i="0" lang="en-US" sz="900" u="none" cap="none" strike="noStrike">
                <a:solidFill>
                  <a:srgbClr val="B5CEA8"/>
                </a:solidFill>
                <a:latin typeface="Consolas"/>
                <a:ea typeface="Consolas"/>
                <a:cs typeface="Consolas"/>
                <a:sym typeface="Consolas"/>
              </a:rPr>
              <a:t>0.2f</a:t>
            </a:r>
            <a:r>
              <a:rPr b="0" i="0" lang="en-US" sz="900" u="none" cap="none" strike="noStrike">
                <a:solidFill>
                  <a:srgbClr val="9CDCFE"/>
                </a:solidFill>
                <a:latin typeface="Consolas"/>
                <a:ea typeface="Consolas"/>
                <a:cs typeface="Consolas"/>
                <a:sym typeface="Consolas"/>
              </a:rPr>
              <a:t> * (d2tdx2 + d2tdy2);</a:t>
            </a:r>
            <a:endParaRPr/>
          </a:p>
        </p:txBody>
      </p:sp>
      <p:sp>
        <p:nvSpPr>
          <p:cNvPr id="1256" name="Google Shape;1256;p25"/>
          <p:cNvSpPr txBox="1"/>
          <p:nvPr/>
        </p:nvSpPr>
        <p:spPr>
          <a:xfrm>
            <a:off x="457200" y="4114800"/>
            <a:ext cx="8229600" cy="41148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0" i="0" lang="en-US" sz="1100" u="none" cap="none" strike="noStrike">
                <a:solidFill>
                  <a:srgbClr val="2B2B2B"/>
                </a:solidFill>
                <a:latin typeface="Arial"/>
                <a:ea typeface="Arial"/>
                <a:cs typeface="Arial"/>
                <a:sym typeface="Arial"/>
              </a:rPr>
              <a:t>The body (above) works, but count the </a:t>
            </a:r>
            <a:r>
              <a:rPr b="1" i="0" lang="en-US" sz="1100" u="none" cap="none" strike="noStrike">
                <a:solidFill>
                  <a:srgbClr val="500000"/>
                </a:solidFill>
                <a:latin typeface="Consolas"/>
                <a:ea typeface="Consolas"/>
                <a:cs typeface="Consolas"/>
                <a:sym typeface="Consolas"/>
              </a:rPr>
              <a:t>row*width + column</a:t>
            </a:r>
            <a:r>
              <a:rPr b="0" i="0" lang="en-US" sz="1100" u="none" cap="none" strike="noStrike">
                <a:solidFill>
                  <a:srgbClr val="2B2B2B"/>
                </a:solidFill>
                <a:latin typeface="Arial"/>
                <a:ea typeface="Arial"/>
                <a:cs typeface="Arial"/>
                <a:sym typeface="Arial"/>
              </a:rPr>
              <a:t>s. Easy to typo, hard to read. Let's clean it up.</a:t>
            </a:r>
            <a:endParaRPr/>
          </a:p>
        </p:txBody>
      </p:sp>
      <p:sp>
        <p:nvSpPr>
          <p:cNvPr id="1257" name="Google Shape;1257;p25"/>
          <p:cNvSpPr/>
          <p:nvPr/>
        </p:nvSpPr>
        <p:spPr>
          <a:xfrm>
            <a:off x="636879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25"/>
          <p:cNvSpPr/>
          <p:nvPr/>
        </p:nvSpPr>
        <p:spPr>
          <a:xfrm>
            <a:off x="644194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25"/>
          <p:cNvSpPr/>
          <p:nvPr/>
        </p:nvSpPr>
        <p:spPr>
          <a:xfrm>
            <a:off x="6515100"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25"/>
          <p:cNvSpPr/>
          <p:nvPr/>
        </p:nvSpPr>
        <p:spPr>
          <a:xfrm>
            <a:off x="6588252"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25"/>
          <p:cNvSpPr/>
          <p:nvPr/>
        </p:nvSpPr>
        <p:spPr>
          <a:xfrm>
            <a:off x="6661404"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25"/>
          <p:cNvSpPr/>
          <p:nvPr/>
        </p:nvSpPr>
        <p:spPr>
          <a:xfrm>
            <a:off x="673455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25"/>
          <p:cNvSpPr/>
          <p:nvPr/>
        </p:nvSpPr>
        <p:spPr>
          <a:xfrm>
            <a:off x="680770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25"/>
          <p:cNvSpPr/>
          <p:nvPr/>
        </p:nvSpPr>
        <p:spPr>
          <a:xfrm>
            <a:off x="6880860"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25"/>
          <p:cNvSpPr/>
          <p:nvPr/>
        </p:nvSpPr>
        <p:spPr>
          <a:xfrm>
            <a:off x="6954012"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25"/>
          <p:cNvSpPr/>
          <p:nvPr/>
        </p:nvSpPr>
        <p:spPr>
          <a:xfrm>
            <a:off x="7027164"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25"/>
          <p:cNvSpPr/>
          <p:nvPr/>
        </p:nvSpPr>
        <p:spPr>
          <a:xfrm>
            <a:off x="710031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25"/>
          <p:cNvSpPr/>
          <p:nvPr/>
        </p:nvSpPr>
        <p:spPr>
          <a:xfrm>
            <a:off x="717346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25"/>
          <p:cNvSpPr/>
          <p:nvPr/>
        </p:nvSpPr>
        <p:spPr>
          <a:xfrm>
            <a:off x="7246620"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25"/>
          <p:cNvSpPr/>
          <p:nvPr/>
        </p:nvSpPr>
        <p:spPr>
          <a:xfrm>
            <a:off x="7319772"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25"/>
          <p:cNvSpPr/>
          <p:nvPr/>
        </p:nvSpPr>
        <p:spPr>
          <a:xfrm>
            <a:off x="7392924"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25"/>
          <p:cNvSpPr/>
          <p:nvPr/>
        </p:nvSpPr>
        <p:spPr>
          <a:xfrm>
            <a:off x="746607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25"/>
          <p:cNvSpPr/>
          <p:nvPr/>
        </p:nvSpPr>
        <p:spPr>
          <a:xfrm>
            <a:off x="753922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25"/>
          <p:cNvSpPr/>
          <p:nvPr/>
        </p:nvSpPr>
        <p:spPr>
          <a:xfrm>
            <a:off x="7612380"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25"/>
          <p:cNvSpPr/>
          <p:nvPr/>
        </p:nvSpPr>
        <p:spPr>
          <a:xfrm>
            <a:off x="7685532"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25"/>
          <p:cNvSpPr/>
          <p:nvPr/>
        </p:nvSpPr>
        <p:spPr>
          <a:xfrm>
            <a:off x="7758684"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25"/>
          <p:cNvSpPr/>
          <p:nvPr/>
        </p:nvSpPr>
        <p:spPr>
          <a:xfrm>
            <a:off x="783183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25"/>
          <p:cNvSpPr/>
          <p:nvPr/>
        </p:nvSpPr>
        <p:spPr>
          <a:xfrm>
            <a:off x="790498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25"/>
          <p:cNvSpPr/>
          <p:nvPr/>
        </p:nvSpPr>
        <p:spPr>
          <a:xfrm>
            <a:off x="7978140"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25"/>
          <p:cNvSpPr/>
          <p:nvPr/>
        </p:nvSpPr>
        <p:spPr>
          <a:xfrm>
            <a:off x="8051292"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25"/>
          <p:cNvSpPr/>
          <p:nvPr/>
        </p:nvSpPr>
        <p:spPr>
          <a:xfrm>
            <a:off x="8124444" y="4901184"/>
            <a:ext cx="50292" cy="50292"/>
          </a:xfrm>
          <a:prstGeom prst="rect">
            <a:avLst/>
          </a:prstGeom>
          <a:solidFill>
            <a:srgbClr val="5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25"/>
          <p:cNvSpPr/>
          <p:nvPr/>
        </p:nvSpPr>
        <p:spPr>
          <a:xfrm>
            <a:off x="819759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25"/>
          <p:cNvSpPr/>
          <p:nvPr/>
        </p:nvSpPr>
        <p:spPr>
          <a:xfrm>
            <a:off x="827074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25"/>
          <p:cNvSpPr/>
          <p:nvPr/>
        </p:nvSpPr>
        <p:spPr>
          <a:xfrm>
            <a:off x="8343900"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25"/>
          <p:cNvSpPr/>
          <p:nvPr/>
        </p:nvSpPr>
        <p:spPr>
          <a:xfrm>
            <a:off x="841705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25"/>
          <p:cNvSpPr/>
          <p:nvPr/>
        </p:nvSpPr>
        <p:spPr>
          <a:xfrm>
            <a:off x="849020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25"/>
          <p:cNvSpPr/>
          <p:nvPr/>
        </p:nvSpPr>
        <p:spPr>
          <a:xfrm>
            <a:off x="856335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25"/>
          <p:cNvSpPr/>
          <p:nvPr/>
        </p:nvSpPr>
        <p:spPr>
          <a:xfrm>
            <a:off x="863650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25"/>
          <p:cNvSpPr txBox="1"/>
          <p:nvPr/>
        </p:nvSpPr>
        <p:spPr>
          <a:xfrm>
            <a:off x="5472684" y="4846320"/>
            <a:ext cx="822960" cy="15544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00" u="none" cap="none" strike="noStrike">
                <a:solidFill>
                  <a:srgbClr val="9A9AA0"/>
                </a:solidFill>
                <a:latin typeface="Consolas"/>
                <a:ea typeface="Consolas"/>
                <a:cs typeface="Consolas"/>
                <a:sym typeface="Consolas"/>
              </a:rPr>
              <a:t>slide[24]</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94" name="Shape 1294"/>
        <p:cNvGrpSpPr/>
        <p:nvPr/>
      </p:nvGrpSpPr>
      <p:grpSpPr>
        <a:xfrm>
          <a:off x="0" y="0"/>
          <a:ext cx="0" cy="0"/>
          <a:chOff x="0" y="0"/>
          <a:chExt cx="0" cy="0"/>
        </a:xfrm>
      </p:grpSpPr>
      <p:sp>
        <p:nvSpPr>
          <p:cNvPr id="1295" name="Google Shape;1295;p26"/>
          <p:cNvSpPr txBox="1"/>
          <p:nvPr/>
        </p:nvSpPr>
        <p:spPr>
          <a:xfrm>
            <a:off x="457200" y="320040"/>
            <a:ext cx="8229600" cy="54864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2800" u="none" cap="none" strike="noStrike">
                <a:solidFill>
                  <a:srgbClr val="500000"/>
                </a:solidFill>
                <a:latin typeface="Arial"/>
                <a:ea typeface="Arial"/>
                <a:cs typeface="Arial"/>
                <a:sym typeface="Arial"/>
              </a:rPr>
              <a:t>Reuse code: std::pair… compile error?</a:t>
            </a:r>
            <a:endParaRPr/>
          </a:p>
        </p:txBody>
      </p:sp>
      <p:sp>
        <p:nvSpPr>
          <p:cNvPr id="1296" name="Google Shape;1296;p26"/>
          <p:cNvSpPr txBox="1"/>
          <p:nvPr/>
        </p:nvSpPr>
        <p:spPr>
          <a:xfrm>
            <a:off x="457200" y="868680"/>
            <a:ext cx="8229600" cy="27432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0" i="0" lang="en-US" sz="1200" u="none" cap="none" strike="noStrike">
                <a:solidFill>
                  <a:srgbClr val="6E6E6E"/>
                </a:solidFill>
                <a:latin typeface="Arial"/>
                <a:ea typeface="Arial"/>
                <a:cs typeface="Arial"/>
                <a:sym typeface="Arial"/>
              </a:rPr>
              <a:t>Factor the row/col math into a helper and the GPU build complains</a:t>
            </a:r>
            <a:endParaRPr/>
          </a:p>
        </p:txBody>
      </p:sp>
      <p:sp>
        <p:nvSpPr>
          <p:cNvPr id="1297" name="Google Shape;1297;p26"/>
          <p:cNvSpPr/>
          <p:nvPr/>
        </p:nvSpPr>
        <p:spPr>
          <a:xfrm>
            <a:off x="457200" y="1234440"/>
            <a:ext cx="8229600" cy="960120"/>
          </a:xfrm>
          <a:prstGeom prst="roundRect">
            <a:avLst>
              <a:gd fmla="val 3500" name="adj"/>
            </a:avLst>
          </a:prstGeom>
          <a:solidFill>
            <a:srgbClr val="1B1B1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98" name="Google Shape;1298;p26"/>
          <p:cNvSpPr txBox="1"/>
          <p:nvPr/>
        </p:nvSpPr>
        <p:spPr>
          <a:xfrm>
            <a:off x="594360" y="1325880"/>
            <a:ext cx="7955279" cy="77724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0" i="0" lang="en-US" sz="1100" u="none" cap="none" strike="noStrike">
                <a:solidFill>
                  <a:srgbClr val="C586C0"/>
                </a:solidFill>
                <a:latin typeface="Consolas"/>
                <a:ea typeface="Consolas"/>
                <a:cs typeface="Consolas"/>
                <a:sym typeface="Consolas"/>
              </a:rPr>
              <a:t>__host__</a:t>
            </a:r>
            <a:r>
              <a:rPr b="0" i="0" lang="en-US" sz="1100" u="none" cap="none" strike="noStrike">
                <a:solidFill>
                  <a:srgbClr val="9CDCFE"/>
                </a:solidFill>
                <a:latin typeface="Consolas"/>
                <a:ea typeface="Consolas"/>
                <a:cs typeface="Consolas"/>
                <a:sym typeface="Consolas"/>
              </a:rPr>
              <a:t> </a:t>
            </a:r>
            <a:r>
              <a:rPr b="0" i="0" lang="en-US" sz="1100" u="none" cap="none" strike="noStrike">
                <a:solidFill>
                  <a:srgbClr val="C586C0"/>
                </a:solidFill>
                <a:latin typeface="Consolas"/>
                <a:ea typeface="Consolas"/>
                <a:cs typeface="Consolas"/>
                <a:sym typeface="Consolas"/>
              </a:rPr>
              <a:t>__device__</a:t>
            </a:r>
            <a:endParaRPr/>
          </a:p>
          <a:p>
            <a:pPr indent="0" lvl="0" marL="0" marR="0" rtl="0" algn="l">
              <a:lnSpc>
                <a:spcPct val="100000"/>
              </a:lnSpc>
              <a:spcBef>
                <a:spcPts val="0"/>
              </a:spcBef>
              <a:spcAft>
                <a:spcPts val="0"/>
              </a:spcAft>
              <a:buNone/>
            </a:pPr>
            <a:r>
              <a:rPr b="0" i="0" lang="en-US" sz="1100" u="none" cap="none" strike="noStrike">
                <a:solidFill>
                  <a:srgbClr val="9CDCFE"/>
                </a:solidFill>
                <a:latin typeface="Consolas"/>
                <a:ea typeface="Consolas"/>
                <a:cs typeface="Consolas"/>
                <a:sym typeface="Consolas"/>
              </a:rPr>
              <a:t>std::pair&lt;</a:t>
            </a:r>
            <a:r>
              <a:rPr b="0" i="0" lang="en-US" sz="1100" u="none" cap="none" strike="noStrike">
                <a:solidFill>
                  <a:srgbClr val="C586C0"/>
                </a:solidFill>
                <a:latin typeface="Consolas"/>
                <a:ea typeface="Consolas"/>
                <a:cs typeface="Consolas"/>
                <a:sym typeface="Consolas"/>
              </a:rPr>
              <a:t>int</a:t>
            </a:r>
            <a:r>
              <a:rPr b="0" i="0" lang="en-US" sz="1100" u="none" cap="none" strike="noStrike">
                <a:solidFill>
                  <a:srgbClr val="9CDCFE"/>
                </a:solidFill>
                <a:latin typeface="Consolas"/>
                <a:ea typeface="Consolas"/>
                <a:cs typeface="Consolas"/>
                <a:sym typeface="Consolas"/>
              </a:rPr>
              <a:t>, </a:t>
            </a:r>
            <a:r>
              <a:rPr b="0" i="0" lang="en-US" sz="1100" u="none" cap="none" strike="noStrike">
                <a:solidFill>
                  <a:srgbClr val="C586C0"/>
                </a:solidFill>
                <a:latin typeface="Consolas"/>
                <a:ea typeface="Consolas"/>
                <a:cs typeface="Consolas"/>
                <a:sym typeface="Consolas"/>
              </a:rPr>
              <a:t>int</a:t>
            </a:r>
            <a:r>
              <a:rPr b="0" i="0" lang="en-US" sz="1100" u="none" cap="none" strike="noStrike">
                <a:solidFill>
                  <a:srgbClr val="9CDCFE"/>
                </a:solidFill>
                <a:latin typeface="Consolas"/>
                <a:ea typeface="Consolas"/>
                <a:cs typeface="Consolas"/>
                <a:sym typeface="Consolas"/>
              </a:rPr>
              <a:t>&gt; row_col(</a:t>
            </a:r>
            <a:r>
              <a:rPr b="0" i="0" lang="en-US" sz="1100" u="none" cap="none" strike="noStrike">
                <a:solidFill>
                  <a:srgbClr val="C586C0"/>
                </a:solidFill>
                <a:latin typeface="Consolas"/>
                <a:ea typeface="Consolas"/>
                <a:cs typeface="Consolas"/>
                <a:sym typeface="Consolas"/>
              </a:rPr>
              <a:t>int</a:t>
            </a:r>
            <a:r>
              <a:rPr b="0" i="0" lang="en-US" sz="1100" u="none" cap="none" strike="noStrike">
                <a:solidFill>
                  <a:srgbClr val="9CDCFE"/>
                </a:solidFill>
                <a:latin typeface="Consolas"/>
                <a:ea typeface="Consolas"/>
                <a:cs typeface="Consolas"/>
                <a:sym typeface="Consolas"/>
              </a:rPr>
              <a:t> id, </a:t>
            </a:r>
            <a:r>
              <a:rPr b="0" i="0" lang="en-US" sz="1100" u="none" cap="none" strike="noStrike">
                <a:solidFill>
                  <a:srgbClr val="C586C0"/>
                </a:solidFill>
                <a:latin typeface="Consolas"/>
                <a:ea typeface="Consolas"/>
                <a:cs typeface="Consolas"/>
                <a:sym typeface="Consolas"/>
              </a:rPr>
              <a:t>int</a:t>
            </a:r>
            <a:r>
              <a:rPr b="0" i="0" lang="en-US" sz="1100" u="none" cap="none" strike="noStrike">
                <a:solidFill>
                  <a:srgbClr val="9CDCFE"/>
                </a:solidFill>
                <a:latin typeface="Consolas"/>
                <a:ea typeface="Consolas"/>
                <a:cs typeface="Consolas"/>
                <a:sym typeface="Consolas"/>
              </a:rPr>
              <a:t> width) {</a:t>
            </a:r>
            <a:endParaRPr/>
          </a:p>
          <a:p>
            <a:pPr indent="0" lvl="0" marL="0" marR="0" rtl="0" algn="l">
              <a:lnSpc>
                <a:spcPct val="100000"/>
              </a:lnSpc>
              <a:spcBef>
                <a:spcPts val="0"/>
              </a:spcBef>
              <a:spcAft>
                <a:spcPts val="0"/>
              </a:spcAft>
              <a:buNone/>
            </a:pPr>
            <a:r>
              <a:rPr b="0" i="0" lang="en-US" sz="1100" u="none" cap="none" strike="noStrike">
                <a:solidFill>
                  <a:srgbClr val="9CDCFE"/>
                </a:solidFill>
                <a:latin typeface="Consolas"/>
                <a:ea typeface="Consolas"/>
                <a:cs typeface="Consolas"/>
                <a:sym typeface="Consolas"/>
              </a:rPr>
              <a:t>  </a:t>
            </a:r>
            <a:r>
              <a:rPr b="0" i="0" lang="en-US" sz="1100" u="none" cap="none" strike="noStrike">
                <a:solidFill>
                  <a:srgbClr val="C586C0"/>
                </a:solidFill>
                <a:latin typeface="Consolas"/>
                <a:ea typeface="Consolas"/>
                <a:cs typeface="Consolas"/>
                <a:sym typeface="Consolas"/>
              </a:rPr>
              <a:t>return</a:t>
            </a:r>
            <a:r>
              <a:rPr b="0" i="0" lang="en-US" sz="1100" u="none" cap="none" strike="noStrike">
                <a:solidFill>
                  <a:srgbClr val="9CDCFE"/>
                </a:solidFill>
                <a:latin typeface="Consolas"/>
                <a:ea typeface="Consolas"/>
                <a:cs typeface="Consolas"/>
                <a:sym typeface="Consolas"/>
              </a:rPr>
              <a:t> std::make_pair(id / width, id % width);</a:t>
            </a:r>
            <a:endParaRPr/>
          </a:p>
          <a:p>
            <a:pPr indent="0" lvl="0" marL="0" marR="0" rtl="0" algn="l">
              <a:lnSpc>
                <a:spcPct val="100000"/>
              </a:lnSpc>
              <a:spcBef>
                <a:spcPts val="0"/>
              </a:spcBef>
              <a:spcAft>
                <a:spcPts val="0"/>
              </a:spcAft>
              <a:buNone/>
            </a:pPr>
            <a:r>
              <a:rPr b="0" i="0" lang="en-US" sz="1100" u="none" cap="none" strike="noStrike">
                <a:solidFill>
                  <a:srgbClr val="9CDCFE"/>
                </a:solidFill>
                <a:latin typeface="Consolas"/>
                <a:ea typeface="Consolas"/>
                <a:cs typeface="Consolas"/>
                <a:sym typeface="Consolas"/>
              </a:rPr>
              <a:t>}</a:t>
            </a:r>
            <a:endParaRPr/>
          </a:p>
        </p:txBody>
      </p:sp>
      <p:sp>
        <p:nvSpPr>
          <p:cNvPr id="1299" name="Google Shape;1299;p26"/>
          <p:cNvSpPr/>
          <p:nvPr/>
        </p:nvSpPr>
        <p:spPr>
          <a:xfrm>
            <a:off x="457200" y="2286000"/>
            <a:ext cx="8229600" cy="457200"/>
          </a:xfrm>
          <a:prstGeom prst="roundRect">
            <a:avLst>
              <a:gd fmla="val 3500" name="adj"/>
            </a:avLst>
          </a:prstGeom>
          <a:solidFill>
            <a:srgbClr val="F7EEEE"/>
          </a:solidFill>
          <a:ln cap="flat" cmpd="sng" w="9525">
            <a:solidFill>
              <a:srgbClr val="E6D2D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00" name="Google Shape;1300;p26"/>
          <p:cNvSpPr txBox="1"/>
          <p:nvPr/>
        </p:nvSpPr>
        <p:spPr>
          <a:xfrm>
            <a:off x="594360" y="2286000"/>
            <a:ext cx="7955279" cy="457200"/>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1" i="0" lang="en-US" sz="1000" u="none" cap="none" strike="noStrike">
                <a:solidFill>
                  <a:srgbClr val="500000"/>
                </a:solidFill>
                <a:latin typeface="Arial"/>
                <a:ea typeface="Arial"/>
                <a:cs typeface="Arial"/>
                <a:sym typeface="Arial"/>
              </a:rPr>
              <a:t>error: </a:t>
            </a:r>
            <a:r>
              <a:rPr b="0" i="0" lang="en-US" sz="1000" u="none" cap="none" strike="noStrike">
                <a:solidFill>
                  <a:srgbClr val="2B2B2B"/>
                </a:solidFill>
                <a:latin typeface="Consolas"/>
                <a:ea typeface="Consolas"/>
                <a:cs typeface="Consolas"/>
                <a:sym typeface="Consolas"/>
              </a:rPr>
              <a:t>calling a __host__ function("make_pair") from a __host__ __device__ function("row_col") is not allowed</a:t>
            </a:r>
            <a:endParaRPr/>
          </a:p>
        </p:txBody>
      </p:sp>
      <p:sp>
        <p:nvSpPr>
          <p:cNvPr id="1301" name="Google Shape;1301;p26"/>
          <p:cNvSpPr/>
          <p:nvPr/>
        </p:nvSpPr>
        <p:spPr>
          <a:xfrm>
            <a:off x="457200" y="2880360"/>
            <a:ext cx="8229600" cy="960120"/>
          </a:xfrm>
          <a:prstGeom prst="roundRect">
            <a:avLst>
              <a:gd fmla="val 3500" name="adj"/>
            </a:avLst>
          </a:prstGeom>
          <a:solidFill>
            <a:srgbClr val="1B1B1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02" name="Google Shape;1302;p26"/>
          <p:cNvSpPr txBox="1"/>
          <p:nvPr/>
        </p:nvSpPr>
        <p:spPr>
          <a:xfrm>
            <a:off x="594360" y="2971800"/>
            <a:ext cx="7955279" cy="77724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0" i="0" lang="en-US" sz="1100" u="none" cap="none" strike="noStrike">
                <a:solidFill>
                  <a:srgbClr val="C586C0"/>
                </a:solidFill>
                <a:latin typeface="Consolas"/>
                <a:ea typeface="Consolas"/>
                <a:cs typeface="Consolas"/>
                <a:sym typeface="Consolas"/>
              </a:rPr>
              <a:t>__host__</a:t>
            </a:r>
            <a:r>
              <a:rPr b="0" i="0" lang="en-US" sz="1100" u="none" cap="none" strike="noStrike">
                <a:solidFill>
                  <a:srgbClr val="9CDCFE"/>
                </a:solidFill>
                <a:latin typeface="Consolas"/>
                <a:ea typeface="Consolas"/>
                <a:cs typeface="Consolas"/>
                <a:sym typeface="Consolas"/>
              </a:rPr>
              <a:t> </a:t>
            </a:r>
            <a:r>
              <a:rPr b="0" i="0" lang="en-US" sz="1100" u="none" cap="none" strike="noStrike">
                <a:solidFill>
                  <a:srgbClr val="C586C0"/>
                </a:solidFill>
                <a:latin typeface="Consolas"/>
                <a:ea typeface="Consolas"/>
                <a:cs typeface="Consolas"/>
                <a:sym typeface="Consolas"/>
              </a:rPr>
              <a:t>__device__</a:t>
            </a:r>
            <a:endParaRPr/>
          </a:p>
          <a:p>
            <a:pPr indent="0" lvl="0" marL="0" marR="0" rtl="0" algn="l">
              <a:lnSpc>
                <a:spcPct val="100000"/>
              </a:lnSpc>
              <a:spcBef>
                <a:spcPts val="0"/>
              </a:spcBef>
              <a:spcAft>
                <a:spcPts val="0"/>
              </a:spcAft>
              <a:buNone/>
            </a:pPr>
            <a:r>
              <a:rPr b="1" i="0" lang="en-US" sz="1100" u="none" cap="none" strike="noStrike">
                <a:solidFill>
                  <a:srgbClr val="76B900"/>
                </a:solidFill>
                <a:latin typeface="Consolas"/>
                <a:ea typeface="Consolas"/>
                <a:cs typeface="Consolas"/>
                <a:sym typeface="Consolas"/>
              </a:rPr>
              <a:t>cuda::std::pair&lt;</a:t>
            </a:r>
            <a:r>
              <a:rPr b="1" i="0" lang="en-US" sz="1100" u="none" cap="none" strike="noStrike">
                <a:solidFill>
                  <a:srgbClr val="C586C0"/>
                </a:solidFill>
                <a:latin typeface="Consolas"/>
                <a:ea typeface="Consolas"/>
                <a:cs typeface="Consolas"/>
                <a:sym typeface="Consolas"/>
              </a:rPr>
              <a:t>int</a:t>
            </a:r>
            <a:r>
              <a:rPr b="1" i="0" lang="en-US" sz="1100" u="none" cap="none" strike="noStrike">
                <a:solidFill>
                  <a:srgbClr val="76B900"/>
                </a:solidFill>
                <a:latin typeface="Consolas"/>
                <a:ea typeface="Consolas"/>
                <a:cs typeface="Consolas"/>
                <a:sym typeface="Consolas"/>
              </a:rPr>
              <a:t>, </a:t>
            </a:r>
            <a:r>
              <a:rPr b="1" i="0" lang="en-US" sz="1100" u="none" cap="none" strike="noStrike">
                <a:solidFill>
                  <a:srgbClr val="C586C0"/>
                </a:solidFill>
                <a:latin typeface="Consolas"/>
                <a:ea typeface="Consolas"/>
                <a:cs typeface="Consolas"/>
                <a:sym typeface="Consolas"/>
              </a:rPr>
              <a:t>int</a:t>
            </a:r>
            <a:r>
              <a:rPr b="1" i="0" lang="en-US" sz="1100" u="none" cap="none" strike="noStrike">
                <a:solidFill>
                  <a:srgbClr val="76B900"/>
                </a:solidFill>
                <a:latin typeface="Consolas"/>
                <a:ea typeface="Consolas"/>
                <a:cs typeface="Consolas"/>
                <a:sym typeface="Consolas"/>
              </a:rPr>
              <a:t>&gt; row_col(</a:t>
            </a:r>
            <a:r>
              <a:rPr b="1" i="0" lang="en-US" sz="1100" u="none" cap="none" strike="noStrike">
                <a:solidFill>
                  <a:srgbClr val="C586C0"/>
                </a:solidFill>
                <a:latin typeface="Consolas"/>
                <a:ea typeface="Consolas"/>
                <a:cs typeface="Consolas"/>
                <a:sym typeface="Consolas"/>
              </a:rPr>
              <a:t>int</a:t>
            </a:r>
            <a:r>
              <a:rPr b="1" i="0" lang="en-US" sz="1100" u="none" cap="none" strike="noStrike">
                <a:solidFill>
                  <a:srgbClr val="76B900"/>
                </a:solidFill>
                <a:latin typeface="Consolas"/>
                <a:ea typeface="Consolas"/>
                <a:cs typeface="Consolas"/>
                <a:sym typeface="Consolas"/>
              </a:rPr>
              <a:t> id, </a:t>
            </a:r>
            <a:r>
              <a:rPr b="1" i="0" lang="en-US" sz="1100" u="none" cap="none" strike="noStrike">
                <a:solidFill>
                  <a:srgbClr val="C586C0"/>
                </a:solidFill>
                <a:latin typeface="Consolas"/>
                <a:ea typeface="Consolas"/>
                <a:cs typeface="Consolas"/>
                <a:sym typeface="Consolas"/>
              </a:rPr>
              <a:t>int</a:t>
            </a:r>
            <a:r>
              <a:rPr b="1" i="0" lang="en-US" sz="1100" u="none" cap="none" strike="noStrike">
                <a:solidFill>
                  <a:srgbClr val="76B900"/>
                </a:solidFill>
                <a:latin typeface="Consolas"/>
                <a:ea typeface="Consolas"/>
                <a:cs typeface="Consolas"/>
                <a:sym typeface="Consolas"/>
              </a:rPr>
              <a:t> width) {</a:t>
            </a:r>
            <a:endParaRPr/>
          </a:p>
          <a:p>
            <a:pPr indent="0" lvl="0" marL="0" marR="0" rtl="0" algn="l">
              <a:lnSpc>
                <a:spcPct val="100000"/>
              </a:lnSpc>
              <a:spcBef>
                <a:spcPts val="0"/>
              </a:spcBef>
              <a:spcAft>
                <a:spcPts val="0"/>
              </a:spcAft>
              <a:buNone/>
            </a:pPr>
            <a:r>
              <a:rPr b="1" i="0" lang="en-US" sz="1100" u="none" cap="none" strike="noStrike">
                <a:solidFill>
                  <a:srgbClr val="76B900"/>
                </a:solidFill>
                <a:latin typeface="Consolas"/>
                <a:ea typeface="Consolas"/>
                <a:cs typeface="Consolas"/>
                <a:sym typeface="Consolas"/>
              </a:rPr>
              <a:t>  </a:t>
            </a:r>
            <a:r>
              <a:rPr b="1" i="0" lang="en-US" sz="1100" u="none" cap="none" strike="noStrike">
                <a:solidFill>
                  <a:srgbClr val="C586C0"/>
                </a:solidFill>
                <a:latin typeface="Consolas"/>
                <a:ea typeface="Consolas"/>
                <a:cs typeface="Consolas"/>
                <a:sym typeface="Consolas"/>
              </a:rPr>
              <a:t>return</a:t>
            </a:r>
            <a:r>
              <a:rPr b="1" i="0" lang="en-US" sz="1100" u="none" cap="none" strike="noStrike">
                <a:solidFill>
                  <a:srgbClr val="76B900"/>
                </a:solidFill>
                <a:latin typeface="Consolas"/>
                <a:ea typeface="Consolas"/>
                <a:cs typeface="Consolas"/>
                <a:sym typeface="Consolas"/>
              </a:rPr>
              <a:t> cuda::std::make_pair(id / width, id % width);</a:t>
            </a:r>
            <a:endParaRPr/>
          </a:p>
          <a:p>
            <a:pPr indent="0" lvl="0" marL="0" marR="0" rtl="0" algn="l">
              <a:lnSpc>
                <a:spcPct val="100000"/>
              </a:lnSpc>
              <a:spcBef>
                <a:spcPts val="0"/>
              </a:spcBef>
              <a:spcAft>
                <a:spcPts val="0"/>
              </a:spcAft>
              <a:buNone/>
            </a:pPr>
            <a:r>
              <a:rPr b="0" i="0" lang="en-US" sz="1100" u="none" cap="none" strike="noStrike">
                <a:solidFill>
                  <a:srgbClr val="9CDCFE"/>
                </a:solidFill>
                <a:latin typeface="Consolas"/>
                <a:ea typeface="Consolas"/>
                <a:cs typeface="Consolas"/>
                <a:sym typeface="Consolas"/>
              </a:rPr>
              <a:t>}</a:t>
            </a:r>
            <a:endParaRPr/>
          </a:p>
        </p:txBody>
      </p:sp>
      <p:sp>
        <p:nvSpPr>
          <p:cNvPr id="1303" name="Google Shape;1303;p26"/>
          <p:cNvSpPr/>
          <p:nvPr/>
        </p:nvSpPr>
        <p:spPr>
          <a:xfrm>
            <a:off x="457200" y="3977639"/>
            <a:ext cx="8229600" cy="457200"/>
          </a:xfrm>
          <a:prstGeom prst="roundRect">
            <a:avLst>
              <a:gd fmla="val 3500" name="adj"/>
            </a:avLst>
          </a:prstGeom>
          <a:solidFill>
            <a:srgbClr val="1B1B1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04" name="Google Shape;1304;p26"/>
          <p:cNvSpPr txBox="1"/>
          <p:nvPr/>
        </p:nvSpPr>
        <p:spPr>
          <a:xfrm>
            <a:off x="621792" y="3977639"/>
            <a:ext cx="7955279" cy="457200"/>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Fix: put </a:t>
            </a:r>
            <a:r>
              <a:rPr b="1" i="0" lang="en-US" sz="1200" u="none" cap="none" strike="noStrike">
                <a:solidFill>
                  <a:srgbClr val="76B900"/>
                </a:solidFill>
                <a:latin typeface="Consolas"/>
                <a:ea typeface="Consolas"/>
                <a:cs typeface="Consolas"/>
                <a:sym typeface="Consolas"/>
              </a:rPr>
              <a:t>cuda::</a:t>
            </a:r>
            <a:r>
              <a:rPr b="0" i="0" lang="en-US" sz="1200" u="none" cap="none" strike="noStrike">
                <a:solidFill>
                  <a:srgbClr val="FFFFFF"/>
                </a:solidFill>
                <a:latin typeface="Arial"/>
                <a:ea typeface="Arial"/>
                <a:cs typeface="Arial"/>
                <a:sym typeface="Arial"/>
              </a:rPr>
              <a:t> in front. libcu++ gives you GPU-ready std:: types: pair, tuple, array, optional, span, mdspan…</a:t>
            </a:r>
            <a:endParaRPr/>
          </a:p>
        </p:txBody>
      </p:sp>
      <p:sp>
        <p:nvSpPr>
          <p:cNvPr id="1305" name="Google Shape;1305;p26"/>
          <p:cNvSpPr/>
          <p:nvPr/>
        </p:nvSpPr>
        <p:spPr>
          <a:xfrm>
            <a:off x="636879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26"/>
          <p:cNvSpPr/>
          <p:nvPr/>
        </p:nvSpPr>
        <p:spPr>
          <a:xfrm>
            <a:off x="644194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26"/>
          <p:cNvSpPr/>
          <p:nvPr/>
        </p:nvSpPr>
        <p:spPr>
          <a:xfrm>
            <a:off x="6515100"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26"/>
          <p:cNvSpPr/>
          <p:nvPr/>
        </p:nvSpPr>
        <p:spPr>
          <a:xfrm>
            <a:off x="6588252"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26"/>
          <p:cNvSpPr/>
          <p:nvPr/>
        </p:nvSpPr>
        <p:spPr>
          <a:xfrm>
            <a:off x="6661404"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26"/>
          <p:cNvSpPr/>
          <p:nvPr/>
        </p:nvSpPr>
        <p:spPr>
          <a:xfrm>
            <a:off x="673455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26"/>
          <p:cNvSpPr/>
          <p:nvPr/>
        </p:nvSpPr>
        <p:spPr>
          <a:xfrm>
            <a:off x="680770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26"/>
          <p:cNvSpPr/>
          <p:nvPr/>
        </p:nvSpPr>
        <p:spPr>
          <a:xfrm>
            <a:off x="6880860"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26"/>
          <p:cNvSpPr/>
          <p:nvPr/>
        </p:nvSpPr>
        <p:spPr>
          <a:xfrm>
            <a:off x="6954012"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26"/>
          <p:cNvSpPr/>
          <p:nvPr/>
        </p:nvSpPr>
        <p:spPr>
          <a:xfrm>
            <a:off x="7027164"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26"/>
          <p:cNvSpPr/>
          <p:nvPr/>
        </p:nvSpPr>
        <p:spPr>
          <a:xfrm>
            <a:off x="710031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26"/>
          <p:cNvSpPr/>
          <p:nvPr/>
        </p:nvSpPr>
        <p:spPr>
          <a:xfrm>
            <a:off x="717346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26"/>
          <p:cNvSpPr/>
          <p:nvPr/>
        </p:nvSpPr>
        <p:spPr>
          <a:xfrm>
            <a:off x="7246620"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26"/>
          <p:cNvSpPr/>
          <p:nvPr/>
        </p:nvSpPr>
        <p:spPr>
          <a:xfrm>
            <a:off x="7319772"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26"/>
          <p:cNvSpPr/>
          <p:nvPr/>
        </p:nvSpPr>
        <p:spPr>
          <a:xfrm>
            <a:off x="7392924"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26"/>
          <p:cNvSpPr/>
          <p:nvPr/>
        </p:nvSpPr>
        <p:spPr>
          <a:xfrm>
            <a:off x="746607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26"/>
          <p:cNvSpPr/>
          <p:nvPr/>
        </p:nvSpPr>
        <p:spPr>
          <a:xfrm>
            <a:off x="753922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26"/>
          <p:cNvSpPr/>
          <p:nvPr/>
        </p:nvSpPr>
        <p:spPr>
          <a:xfrm>
            <a:off x="7612380"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26"/>
          <p:cNvSpPr/>
          <p:nvPr/>
        </p:nvSpPr>
        <p:spPr>
          <a:xfrm>
            <a:off x="7685532"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26"/>
          <p:cNvSpPr/>
          <p:nvPr/>
        </p:nvSpPr>
        <p:spPr>
          <a:xfrm>
            <a:off x="7758684"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26"/>
          <p:cNvSpPr/>
          <p:nvPr/>
        </p:nvSpPr>
        <p:spPr>
          <a:xfrm>
            <a:off x="783183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26"/>
          <p:cNvSpPr/>
          <p:nvPr/>
        </p:nvSpPr>
        <p:spPr>
          <a:xfrm>
            <a:off x="790498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26"/>
          <p:cNvSpPr/>
          <p:nvPr/>
        </p:nvSpPr>
        <p:spPr>
          <a:xfrm>
            <a:off x="7978140"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26"/>
          <p:cNvSpPr/>
          <p:nvPr/>
        </p:nvSpPr>
        <p:spPr>
          <a:xfrm>
            <a:off x="8051292"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26"/>
          <p:cNvSpPr/>
          <p:nvPr/>
        </p:nvSpPr>
        <p:spPr>
          <a:xfrm>
            <a:off x="8124444"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26"/>
          <p:cNvSpPr/>
          <p:nvPr/>
        </p:nvSpPr>
        <p:spPr>
          <a:xfrm>
            <a:off x="8197596" y="4901184"/>
            <a:ext cx="50292" cy="50292"/>
          </a:xfrm>
          <a:prstGeom prst="rect">
            <a:avLst/>
          </a:prstGeom>
          <a:solidFill>
            <a:srgbClr val="5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26"/>
          <p:cNvSpPr/>
          <p:nvPr/>
        </p:nvSpPr>
        <p:spPr>
          <a:xfrm>
            <a:off x="827074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26"/>
          <p:cNvSpPr/>
          <p:nvPr/>
        </p:nvSpPr>
        <p:spPr>
          <a:xfrm>
            <a:off x="8343900"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26"/>
          <p:cNvSpPr/>
          <p:nvPr/>
        </p:nvSpPr>
        <p:spPr>
          <a:xfrm>
            <a:off x="841705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26"/>
          <p:cNvSpPr/>
          <p:nvPr/>
        </p:nvSpPr>
        <p:spPr>
          <a:xfrm>
            <a:off x="849020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26"/>
          <p:cNvSpPr/>
          <p:nvPr/>
        </p:nvSpPr>
        <p:spPr>
          <a:xfrm>
            <a:off x="856335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26"/>
          <p:cNvSpPr/>
          <p:nvPr/>
        </p:nvSpPr>
        <p:spPr>
          <a:xfrm>
            <a:off x="863650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26"/>
          <p:cNvSpPr txBox="1"/>
          <p:nvPr/>
        </p:nvSpPr>
        <p:spPr>
          <a:xfrm>
            <a:off x="5472684" y="4846320"/>
            <a:ext cx="822960" cy="15544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00" u="none" cap="none" strike="noStrike">
                <a:solidFill>
                  <a:srgbClr val="9A9AA0"/>
                </a:solidFill>
                <a:latin typeface="Consolas"/>
                <a:ea typeface="Consolas"/>
                <a:cs typeface="Consolas"/>
                <a:sym typeface="Consolas"/>
              </a:rPr>
              <a:t>slide[25]</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42" name="Shape 1342"/>
        <p:cNvGrpSpPr/>
        <p:nvPr/>
      </p:nvGrpSpPr>
      <p:grpSpPr>
        <a:xfrm>
          <a:off x="0" y="0"/>
          <a:ext cx="0" cy="0"/>
          <a:chOff x="0" y="0"/>
          <a:chExt cx="0" cy="0"/>
        </a:xfrm>
      </p:grpSpPr>
      <p:sp>
        <p:nvSpPr>
          <p:cNvPr id="1343" name="Google Shape;1343;p27"/>
          <p:cNvSpPr txBox="1"/>
          <p:nvPr/>
        </p:nvSpPr>
        <p:spPr>
          <a:xfrm>
            <a:off x="457200" y="320040"/>
            <a:ext cx="8229600" cy="54864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2800" u="none" cap="none" strike="noStrike">
                <a:solidFill>
                  <a:srgbClr val="500000"/>
                </a:solidFill>
                <a:latin typeface="Arial"/>
                <a:ea typeface="Arial"/>
                <a:cs typeface="Arial"/>
                <a:sym typeface="Arial"/>
              </a:rPr>
              <a:t>mdspan: index a flat array like a grid</a:t>
            </a:r>
            <a:endParaRPr/>
          </a:p>
        </p:txBody>
      </p:sp>
      <p:sp>
        <p:nvSpPr>
          <p:cNvPr id="1344" name="Google Shape;1344;p27"/>
          <p:cNvSpPr txBox="1"/>
          <p:nvPr/>
        </p:nvSpPr>
        <p:spPr>
          <a:xfrm>
            <a:off x="457200" y="868680"/>
            <a:ext cx="8229600" cy="27432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0" i="0" lang="en-US" sz="1200" u="none" cap="none" strike="noStrike">
                <a:solidFill>
                  <a:srgbClr val="6E6E6E"/>
                </a:solidFill>
                <a:latin typeface="Arial"/>
                <a:ea typeface="Arial"/>
                <a:cs typeface="Arial"/>
                <a:sym typeface="Arial"/>
              </a:rPr>
              <a:t>A lightweight view: a pointer + the shape. It owns no memory.</a:t>
            </a:r>
            <a:endParaRPr/>
          </a:p>
        </p:txBody>
      </p:sp>
      <p:sp>
        <p:nvSpPr>
          <p:cNvPr id="1345" name="Google Shape;1345;p27"/>
          <p:cNvSpPr/>
          <p:nvPr/>
        </p:nvSpPr>
        <p:spPr>
          <a:xfrm>
            <a:off x="457200" y="1234440"/>
            <a:ext cx="4572000" cy="1828800"/>
          </a:xfrm>
          <a:prstGeom prst="roundRect">
            <a:avLst>
              <a:gd fmla="val 3500" name="adj"/>
            </a:avLst>
          </a:prstGeom>
          <a:solidFill>
            <a:srgbClr val="1B1B1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46" name="Google Shape;1346;p27"/>
          <p:cNvSpPr txBox="1"/>
          <p:nvPr/>
        </p:nvSpPr>
        <p:spPr>
          <a:xfrm>
            <a:off x="594360" y="1325880"/>
            <a:ext cx="4297800" cy="164580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0" i="0" lang="en-US" sz="1050" u="none" cap="none" strike="noStrike">
                <a:solidFill>
                  <a:srgbClr val="9CDCFE"/>
                </a:solidFill>
                <a:latin typeface="Consolas"/>
                <a:ea typeface="Consolas"/>
                <a:cs typeface="Consolas"/>
                <a:sym typeface="Consolas"/>
              </a:rPr>
              <a:t>cuda::std::array&lt;</a:t>
            </a:r>
            <a:r>
              <a:rPr b="0" i="0" lang="en-US" sz="1050" u="none" cap="none" strike="noStrike">
                <a:solidFill>
                  <a:srgbClr val="C586C0"/>
                </a:solidFill>
                <a:latin typeface="Consolas"/>
                <a:ea typeface="Consolas"/>
                <a:cs typeface="Consolas"/>
                <a:sym typeface="Consolas"/>
              </a:rPr>
              <a:t>int</a:t>
            </a:r>
            <a:r>
              <a:rPr b="0" i="0" lang="en-US" sz="1050" u="none" cap="none" strike="noStrike">
                <a:solidFill>
                  <a:srgbClr val="9CDCFE"/>
                </a:solidFill>
                <a:latin typeface="Consolas"/>
                <a:ea typeface="Consolas"/>
                <a:cs typeface="Consolas"/>
                <a:sym typeface="Consolas"/>
              </a:rPr>
              <a:t>, </a:t>
            </a:r>
            <a:r>
              <a:rPr b="0" i="0" lang="en-US" sz="1050" u="none" cap="none" strike="noStrike">
                <a:solidFill>
                  <a:srgbClr val="B5CEA8"/>
                </a:solidFill>
                <a:latin typeface="Consolas"/>
                <a:ea typeface="Consolas"/>
                <a:cs typeface="Consolas"/>
                <a:sym typeface="Consolas"/>
              </a:rPr>
              <a:t>6</a:t>
            </a:r>
            <a:r>
              <a:rPr b="0" i="0" lang="en-US" sz="1050" u="none" cap="none" strike="noStrike">
                <a:solidFill>
                  <a:srgbClr val="9CDCFE"/>
                </a:solidFill>
                <a:latin typeface="Consolas"/>
                <a:ea typeface="Consolas"/>
                <a:cs typeface="Consolas"/>
                <a:sym typeface="Consolas"/>
              </a:rPr>
              <a:t>&gt; sd{</a:t>
            </a:r>
            <a:r>
              <a:rPr b="0" i="0" lang="en-US" sz="1050" u="none" cap="none" strike="noStrike">
                <a:solidFill>
                  <a:srgbClr val="B5CEA8"/>
                </a:solidFill>
                <a:latin typeface="Consolas"/>
                <a:ea typeface="Consolas"/>
                <a:cs typeface="Consolas"/>
                <a:sym typeface="Consolas"/>
              </a:rPr>
              <a:t>0</a:t>
            </a:r>
            <a:r>
              <a:rPr b="0" i="0" lang="en-US" sz="1050" u="none" cap="none" strike="noStrike">
                <a:solidFill>
                  <a:srgbClr val="9CDCFE"/>
                </a:solidFill>
                <a:latin typeface="Consolas"/>
                <a:ea typeface="Consolas"/>
                <a:cs typeface="Consolas"/>
                <a:sym typeface="Consolas"/>
              </a:rPr>
              <a:t>, </a:t>
            </a:r>
            <a:r>
              <a:rPr b="0" i="0" lang="en-US" sz="1050" u="none" cap="none" strike="noStrike">
                <a:solidFill>
                  <a:srgbClr val="B5CEA8"/>
                </a:solidFill>
                <a:latin typeface="Consolas"/>
                <a:ea typeface="Consolas"/>
                <a:cs typeface="Consolas"/>
                <a:sym typeface="Consolas"/>
              </a:rPr>
              <a:t>1</a:t>
            </a:r>
            <a:r>
              <a:rPr b="0" i="0" lang="en-US" sz="1050" u="none" cap="none" strike="noStrike">
                <a:solidFill>
                  <a:srgbClr val="9CDCFE"/>
                </a:solidFill>
                <a:latin typeface="Consolas"/>
                <a:ea typeface="Consolas"/>
                <a:cs typeface="Consolas"/>
                <a:sym typeface="Consolas"/>
              </a:rPr>
              <a:t>, </a:t>
            </a:r>
            <a:r>
              <a:rPr b="0" i="0" lang="en-US" sz="1050" u="none" cap="none" strike="noStrike">
                <a:solidFill>
                  <a:srgbClr val="B5CEA8"/>
                </a:solidFill>
                <a:latin typeface="Consolas"/>
                <a:ea typeface="Consolas"/>
                <a:cs typeface="Consolas"/>
                <a:sym typeface="Consolas"/>
              </a:rPr>
              <a:t>2</a:t>
            </a:r>
            <a:r>
              <a:rPr b="0" i="0" lang="en-US" sz="1050" u="none" cap="none" strike="noStrike">
                <a:solidFill>
                  <a:srgbClr val="9CDCFE"/>
                </a:solidFill>
                <a:latin typeface="Consolas"/>
                <a:ea typeface="Consolas"/>
                <a:cs typeface="Consolas"/>
                <a:sym typeface="Consolas"/>
              </a:rPr>
              <a:t>, </a:t>
            </a:r>
            <a:r>
              <a:rPr b="0" i="0" lang="en-US" sz="1050" u="none" cap="none" strike="noStrike">
                <a:solidFill>
                  <a:srgbClr val="B5CEA8"/>
                </a:solidFill>
                <a:latin typeface="Consolas"/>
                <a:ea typeface="Consolas"/>
                <a:cs typeface="Consolas"/>
                <a:sym typeface="Consolas"/>
              </a:rPr>
              <a:t>3</a:t>
            </a:r>
            <a:r>
              <a:rPr b="0" i="0" lang="en-US" sz="1050" u="none" cap="none" strike="noStrike">
                <a:solidFill>
                  <a:srgbClr val="9CDCFE"/>
                </a:solidFill>
                <a:latin typeface="Consolas"/>
                <a:ea typeface="Consolas"/>
                <a:cs typeface="Consolas"/>
                <a:sym typeface="Consolas"/>
              </a:rPr>
              <a:t>, </a:t>
            </a:r>
            <a:r>
              <a:rPr b="0" i="0" lang="en-US" sz="1050" u="none" cap="none" strike="noStrike">
                <a:solidFill>
                  <a:srgbClr val="B5CEA8"/>
                </a:solidFill>
                <a:latin typeface="Consolas"/>
                <a:ea typeface="Consolas"/>
                <a:cs typeface="Consolas"/>
                <a:sym typeface="Consolas"/>
              </a:rPr>
              <a:t>4</a:t>
            </a:r>
            <a:r>
              <a:rPr b="0" i="0" lang="en-US" sz="1050" u="none" cap="none" strike="noStrike">
                <a:solidFill>
                  <a:srgbClr val="9CDCFE"/>
                </a:solidFill>
                <a:latin typeface="Consolas"/>
                <a:ea typeface="Consolas"/>
                <a:cs typeface="Consolas"/>
                <a:sym typeface="Consolas"/>
              </a:rPr>
              <a:t>, </a:t>
            </a:r>
            <a:r>
              <a:rPr b="0" i="0" lang="en-US" sz="1050" u="none" cap="none" strike="noStrike">
                <a:solidFill>
                  <a:srgbClr val="B5CEA8"/>
                </a:solidFill>
                <a:latin typeface="Consolas"/>
                <a:ea typeface="Consolas"/>
                <a:cs typeface="Consolas"/>
                <a:sym typeface="Consolas"/>
              </a:rPr>
              <a:t>5</a:t>
            </a:r>
            <a:r>
              <a:rPr b="0" i="0" lang="en-US" sz="1050" u="none" cap="none" strike="noStrike">
                <a:solidFill>
                  <a:srgbClr val="9CDCFE"/>
                </a:solidFill>
                <a:latin typeface="Consolas"/>
                <a:ea typeface="Consolas"/>
                <a:cs typeface="Consolas"/>
                <a:sym typeface="Consolas"/>
              </a:rPr>
              <a:t>};</a:t>
            </a:r>
            <a:endParaRPr/>
          </a:p>
          <a:p>
            <a:pPr indent="0" lvl="0" marL="0" marR="0" rtl="0" algn="l">
              <a:lnSpc>
                <a:spcPct val="100000"/>
              </a:lnSpc>
              <a:spcBef>
                <a:spcPts val="0"/>
              </a:spcBef>
              <a:spcAft>
                <a:spcPts val="0"/>
              </a:spcAft>
              <a:buNone/>
            </a:pPr>
            <a:r>
              <a:rPr b="1" i="0" lang="en-US" sz="1050" u="none" cap="none" strike="noStrike">
                <a:solidFill>
                  <a:srgbClr val="76B900"/>
                </a:solidFill>
                <a:latin typeface="Consolas"/>
                <a:ea typeface="Consolas"/>
                <a:cs typeface="Consolas"/>
                <a:sym typeface="Consolas"/>
              </a:rPr>
              <a:t>cuda::std</a:t>
            </a:r>
            <a:r>
              <a:rPr b="1" i="0" lang="en-US" sz="1050" u="none" cap="none" strike="noStrike">
                <a:solidFill>
                  <a:srgbClr val="76B900"/>
                </a:solidFill>
                <a:latin typeface="Consolas"/>
                <a:ea typeface="Consolas"/>
                <a:cs typeface="Consolas"/>
                <a:sym typeface="Consolas"/>
              </a:rPr>
              <a:t>::mdspan</a:t>
            </a:r>
            <a:r>
              <a:rPr b="1" i="0" lang="en-US" sz="1050" u="none" cap="none" strike="noStrike">
                <a:solidFill>
                  <a:srgbClr val="76B900"/>
                </a:solidFill>
                <a:latin typeface="Consolas"/>
                <a:ea typeface="Consolas"/>
                <a:cs typeface="Consolas"/>
                <a:sym typeface="Consolas"/>
              </a:rPr>
              <a:t> md(sd.data(), </a:t>
            </a:r>
            <a:r>
              <a:rPr b="1" i="0" lang="en-US" sz="1050" u="none" cap="none" strike="noStrike">
                <a:solidFill>
                  <a:srgbClr val="B5CEA8"/>
                </a:solidFill>
                <a:latin typeface="Consolas"/>
                <a:ea typeface="Consolas"/>
                <a:cs typeface="Consolas"/>
                <a:sym typeface="Consolas"/>
              </a:rPr>
              <a:t>2</a:t>
            </a:r>
            <a:r>
              <a:rPr b="1" i="0" lang="en-US" sz="1050" u="none" cap="none" strike="noStrike">
                <a:solidFill>
                  <a:srgbClr val="76B900"/>
                </a:solidFill>
                <a:latin typeface="Consolas"/>
                <a:ea typeface="Consolas"/>
                <a:cs typeface="Consolas"/>
                <a:sym typeface="Consolas"/>
              </a:rPr>
              <a:t>, </a:t>
            </a:r>
            <a:r>
              <a:rPr b="1" i="0" lang="en-US" sz="1050" u="none" cap="none" strike="noStrike">
                <a:solidFill>
                  <a:srgbClr val="B5CEA8"/>
                </a:solidFill>
                <a:latin typeface="Consolas"/>
                <a:ea typeface="Consolas"/>
                <a:cs typeface="Consolas"/>
                <a:sym typeface="Consolas"/>
              </a:rPr>
              <a:t>3</a:t>
            </a:r>
            <a:r>
              <a:rPr b="1" i="0" lang="en-US" sz="1050" u="none" cap="none" strike="noStrike">
                <a:solidFill>
                  <a:srgbClr val="76B900"/>
                </a:solidFill>
                <a:latin typeface="Consolas"/>
                <a:ea typeface="Consolas"/>
                <a:cs typeface="Consolas"/>
                <a:sym typeface="Consolas"/>
              </a:rPr>
              <a:t>);</a:t>
            </a:r>
            <a:endParaRPr/>
          </a:p>
          <a:p>
            <a:pPr indent="0" lvl="0" marL="0" marR="0" rtl="0" algn="l">
              <a:lnSpc>
                <a:spcPct val="100000"/>
              </a:lnSpc>
              <a:spcBef>
                <a:spcPts val="0"/>
              </a:spcBef>
              <a:spcAft>
                <a:spcPts val="0"/>
              </a:spcAft>
              <a:buNone/>
            </a:pPr>
            <a:r>
              <a:rPr b="0" i="0" lang="en-US" sz="1050" u="none" cap="none" strike="noStrike">
                <a:solidFill>
                  <a:srgbClr val="2B2B2B"/>
                </a:solidFill>
                <a:latin typeface="Consolas"/>
                <a:ea typeface="Consolas"/>
                <a:cs typeface="Consolas"/>
                <a:sym typeface="Consolas"/>
              </a:rPr>
              <a:t> </a:t>
            </a:r>
            <a:endParaRPr/>
          </a:p>
          <a:p>
            <a:pPr indent="0" lvl="0" marL="0" marR="0" rtl="0" algn="l">
              <a:lnSpc>
                <a:spcPct val="100000"/>
              </a:lnSpc>
              <a:spcBef>
                <a:spcPts val="0"/>
              </a:spcBef>
              <a:spcAft>
                <a:spcPts val="0"/>
              </a:spcAft>
              <a:buNone/>
            </a:pPr>
            <a:r>
              <a:rPr b="0" i="0" lang="en-US" sz="1050" u="none" cap="none" strike="noStrike">
                <a:solidFill>
                  <a:srgbClr val="9CDCFE"/>
                </a:solidFill>
                <a:latin typeface="Consolas"/>
                <a:ea typeface="Consolas"/>
                <a:cs typeface="Consolas"/>
                <a:sym typeface="Consolas"/>
              </a:rPr>
              <a:t>md(</a:t>
            </a:r>
            <a:r>
              <a:rPr b="0" i="0" lang="en-US" sz="1050" u="none" cap="none" strike="noStrike">
                <a:solidFill>
                  <a:srgbClr val="B5CEA8"/>
                </a:solidFill>
                <a:latin typeface="Consolas"/>
                <a:ea typeface="Consolas"/>
                <a:cs typeface="Consolas"/>
                <a:sym typeface="Consolas"/>
              </a:rPr>
              <a:t>0</a:t>
            </a:r>
            <a:r>
              <a:rPr b="0" i="0" lang="en-US" sz="1050" u="none" cap="none" strike="noStrike">
                <a:solidFill>
                  <a:srgbClr val="9CDCFE"/>
                </a:solidFill>
                <a:latin typeface="Consolas"/>
                <a:ea typeface="Consolas"/>
                <a:cs typeface="Consolas"/>
                <a:sym typeface="Consolas"/>
              </a:rPr>
              <a:t>, </a:t>
            </a:r>
            <a:r>
              <a:rPr b="0" i="0" lang="en-US" sz="1050" u="none" cap="none" strike="noStrike">
                <a:solidFill>
                  <a:srgbClr val="B5CEA8"/>
                </a:solidFill>
                <a:latin typeface="Consolas"/>
                <a:ea typeface="Consolas"/>
                <a:cs typeface="Consolas"/>
                <a:sym typeface="Consolas"/>
              </a:rPr>
              <a:t>0</a:t>
            </a:r>
            <a:r>
              <a:rPr b="0" i="0" lang="en-US" sz="1050" u="none" cap="none" strike="noStrike">
                <a:solidFill>
                  <a:srgbClr val="9CDCFE"/>
                </a:solidFill>
                <a:latin typeface="Consolas"/>
                <a:ea typeface="Consolas"/>
                <a:cs typeface="Consolas"/>
                <a:sym typeface="Consolas"/>
              </a:rPr>
              <a:t>);      </a:t>
            </a:r>
            <a:r>
              <a:rPr b="0" i="0" lang="en-US" sz="1050" u="none" cap="none" strike="noStrike">
                <a:solidFill>
                  <a:srgbClr val="6A9955"/>
                </a:solidFill>
                <a:latin typeface="Consolas"/>
                <a:ea typeface="Consolas"/>
                <a:cs typeface="Consolas"/>
                <a:sym typeface="Consolas"/>
              </a:rPr>
              <a:t>// 0</a:t>
            </a:r>
            <a:endParaRPr/>
          </a:p>
          <a:p>
            <a:pPr indent="0" lvl="0" marL="0" marR="0" rtl="0" algn="l">
              <a:lnSpc>
                <a:spcPct val="100000"/>
              </a:lnSpc>
              <a:spcBef>
                <a:spcPts val="0"/>
              </a:spcBef>
              <a:spcAft>
                <a:spcPts val="0"/>
              </a:spcAft>
              <a:buNone/>
            </a:pPr>
            <a:r>
              <a:rPr b="1" i="0" lang="en-US" sz="1050" u="none" cap="none" strike="noStrike">
                <a:solidFill>
                  <a:srgbClr val="76B900"/>
                </a:solidFill>
                <a:latin typeface="Consolas"/>
                <a:ea typeface="Consolas"/>
                <a:cs typeface="Consolas"/>
                <a:sym typeface="Consolas"/>
              </a:rPr>
              <a:t>md(</a:t>
            </a:r>
            <a:r>
              <a:rPr b="1" i="0" lang="en-US" sz="1050" u="none" cap="none" strike="noStrike">
                <a:solidFill>
                  <a:srgbClr val="B5CEA8"/>
                </a:solidFill>
                <a:latin typeface="Consolas"/>
                <a:ea typeface="Consolas"/>
                <a:cs typeface="Consolas"/>
                <a:sym typeface="Consolas"/>
              </a:rPr>
              <a:t>1</a:t>
            </a:r>
            <a:r>
              <a:rPr b="1" i="0" lang="en-US" sz="1050" u="none" cap="none" strike="noStrike">
                <a:solidFill>
                  <a:srgbClr val="76B900"/>
                </a:solidFill>
                <a:latin typeface="Consolas"/>
                <a:ea typeface="Consolas"/>
                <a:cs typeface="Consolas"/>
                <a:sym typeface="Consolas"/>
              </a:rPr>
              <a:t>, </a:t>
            </a:r>
            <a:r>
              <a:rPr b="1" i="0" lang="en-US" sz="1050" u="none" cap="none" strike="noStrike">
                <a:solidFill>
                  <a:srgbClr val="B5CEA8"/>
                </a:solidFill>
                <a:latin typeface="Consolas"/>
                <a:ea typeface="Consolas"/>
                <a:cs typeface="Consolas"/>
                <a:sym typeface="Consolas"/>
              </a:rPr>
              <a:t>2</a:t>
            </a:r>
            <a:r>
              <a:rPr b="1" i="0" lang="en-US" sz="1050" u="none" cap="none" strike="noStrike">
                <a:solidFill>
                  <a:srgbClr val="76B900"/>
                </a:solidFill>
                <a:latin typeface="Consolas"/>
                <a:ea typeface="Consolas"/>
                <a:cs typeface="Consolas"/>
                <a:sym typeface="Consolas"/>
              </a:rPr>
              <a:t>);      </a:t>
            </a:r>
            <a:r>
              <a:rPr b="1" i="0" lang="en-US" sz="1050" u="none" cap="none" strike="noStrike">
                <a:solidFill>
                  <a:srgbClr val="6A9955"/>
                </a:solidFill>
                <a:latin typeface="Consolas"/>
                <a:ea typeface="Consolas"/>
                <a:cs typeface="Consolas"/>
                <a:sym typeface="Consolas"/>
              </a:rPr>
              <a:t>// 5   (= sd[1*3 + 2])</a:t>
            </a:r>
            <a:endParaRPr/>
          </a:p>
          <a:p>
            <a:pPr indent="0" lvl="0" marL="0" marR="0" rtl="0" algn="l">
              <a:lnSpc>
                <a:spcPct val="100000"/>
              </a:lnSpc>
              <a:spcBef>
                <a:spcPts val="0"/>
              </a:spcBef>
              <a:spcAft>
                <a:spcPts val="0"/>
              </a:spcAft>
              <a:buNone/>
            </a:pPr>
            <a:r>
              <a:rPr b="0" i="0" lang="en-US" sz="1050" u="none" cap="none" strike="noStrike">
                <a:solidFill>
                  <a:srgbClr val="9CDCFE"/>
                </a:solidFill>
                <a:latin typeface="Consolas"/>
                <a:ea typeface="Consolas"/>
                <a:cs typeface="Consolas"/>
                <a:sym typeface="Consolas"/>
              </a:rPr>
              <a:t>md.extent(</a:t>
            </a:r>
            <a:r>
              <a:rPr b="0" i="0" lang="en-US" sz="1050" u="none" cap="none" strike="noStrike">
                <a:solidFill>
                  <a:srgbClr val="B5CEA8"/>
                </a:solidFill>
                <a:latin typeface="Consolas"/>
                <a:ea typeface="Consolas"/>
                <a:cs typeface="Consolas"/>
                <a:sym typeface="Consolas"/>
              </a:rPr>
              <a:t>0</a:t>
            </a:r>
            <a:r>
              <a:rPr b="0" i="0" lang="en-US" sz="1050" u="none" cap="none" strike="noStrike">
                <a:solidFill>
                  <a:srgbClr val="9CDCFE"/>
                </a:solidFill>
                <a:latin typeface="Consolas"/>
                <a:ea typeface="Consolas"/>
                <a:cs typeface="Consolas"/>
                <a:sym typeface="Consolas"/>
              </a:rPr>
              <a:t>);  </a:t>
            </a:r>
            <a:r>
              <a:rPr b="0" i="0" lang="en-US" sz="1050" u="none" cap="none" strike="noStrike">
                <a:solidFill>
                  <a:srgbClr val="6A9955"/>
                </a:solidFill>
                <a:latin typeface="Consolas"/>
                <a:ea typeface="Consolas"/>
                <a:cs typeface="Consolas"/>
                <a:sym typeface="Consolas"/>
              </a:rPr>
              <a:t>// 2   height (rows)</a:t>
            </a:r>
            <a:endParaRPr/>
          </a:p>
          <a:p>
            <a:pPr indent="0" lvl="0" marL="0" marR="0" rtl="0" algn="l">
              <a:lnSpc>
                <a:spcPct val="100000"/>
              </a:lnSpc>
              <a:spcBef>
                <a:spcPts val="0"/>
              </a:spcBef>
              <a:spcAft>
                <a:spcPts val="0"/>
              </a:spcAft>
              <a:buNone/>
            </a:pPr>
            <a:r>
              <a:rPr b="0" i="0" lang="en-US" sz="1050" u="none" cap="none" strike="noStrike">
                <a:solidFill>
                  <a:srgbClr val="9CDCFE"/>
                </a:solidFill>
                <a:latin typeface="Consolas"/>
                <a:ea typeface="Consolas"/>
                <a:cs typeface="Consolas"/>
                <a:sym typeface="Consolas"/>
              </a:rPr>
              <a:t>md.extent(</a:t>
            </a:r>
            <a:r>
              <a:rPr b="0" i="0" lang="en-US" sz="1050" u="none" cap="none" strike="noStrike">
                <a:solidFill>
                  <a:srgbClr val="B5CEA8"/>
                </a:solidFill>
                <a:latin typeface="Consolas"/>
                <a:ea typeface="Consolas"/>
                <a:cs typeface="Consolas"/>
                <a:sym typeface="Consolas"/>
              </a:rPr>
              <a:t>1</a:t>
            </a:r>
            <a:r>
              <a:rPr b="0" i="0" lang="en-US" sz="1050" u="none" cap="none" strike="noStrike">
                <a:solidFill>
                  <a:srgbClr val="9CDCFE"/>
                </a:solidFill>
                <a:latin typeface="Consolas"/>
                <a:ea typeface="Consolas"/>
                <a:cs typeface="Consolas"/>
                <a:sym typeface="Consolas"/>
              </a:rPr>
              <a:t>);  </a:t>
            </a:r>
            <a:r>
              <a:rPr b="0" i="0" lang="en-US" sz="1050" u="none" cap="none" strike="noStrike">
                <a:solidFill>
                  <a:srgbClr val="6A9955"/>
                </a:solidFill>
                <a:latin typeface="Consolas"/>
                <a:ea typeface="Consolas"/>
                <a:cs typeface="Consolas"/>
                <a:sym typeface="Consolas"/>
              </a:rPr>
              <a:t>// 3   width  (cols)</a:t>
            </a:r>
            <a:endParaRPr/>
          </a:p>
        </p:txBody>
      </p:sp>
      <p:sp>
        <p:nvSpPr>
          <p:cNvPr id="1347" name="Google Shape;1347;p27"/>
          <p:cNvSpPr/>
          <p:nvPr/>
        </p:nvSpPr>
        <p:spPr>
          <a:xfrm>
            <a:off x="5394960" y="1325880"/>
            <a:ext cx="475488" cy="438912"/>
          </a:xfrm>
          <a:prstGeom prst="roundRect">
            <a:avLst>
              <a:gd fmla="val 8000" name="adj"/>
            </a:avLst>
          </a:prstGeom>
          <a:solidFill>
            <a:srgbClr val="F5F5F6"/>
          </a:solidFill>
          <a:ln cap="flat" cmpd="sng" w="9525">
            <a:solidFill>
              <a:srgbClr val="E2E2E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48" name="Google Shape;1348;p27"/>
          <p:cNvSpPr txBox="1"/>
          <p:nvPr/>
        </p:nvSpPr>
        <p:spPr>
          <a:xfrm>
            <a:off x="5394960" y="1325880"/>
            <a:ext cx="475488" cy="438912"/>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200" u="none" cap="none" strike="noStrike">
                <a:solidFill>
                  <a:srgbClr val="2B2B2B"/>
                </a:solidFill>
                <a:latin typeface="Consolas"/>
                <a:ea typeface="Consolas"/>
                <a:cs typeface="Consolas"/>
                <a:sym typeface="Consolas"/>
              </a:rPr>
              <a:t>0</a:t>
            </a:r>
            <a:endParaRPr/>
          </a:p>
        </p:txBody>
      </p:sp>
      <p:sp>
        <p:nvSpPr>
          <p:cNvPr id="1349" name="Google Shape;1349;p27"/>
          <p:cNvSpPr/>
          <p:nvPr/>
        </p:nvSpPr>
        <p:spPr>
          <a:xfrm>
            <a:off x="5925312" y="1325880"/>
            <a:ext cx="475488" cy="438912"/>
          </a:xfrm>
          <a:prstGeom prst="roundRect">
            <a:avLst>
              <a:gd fmla="val 8000" name="adj"/>
            </a:avLst>
          </a:prstGeom>
          <a:solidFill>
            <a:srgbClr val="F5F5F6"/>
          </a:solidFill>
          <a:ln cap="flat" cmpd="sng" w="9525">
            <a:solidFill>
              <a:srgbClr val="E2E2E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50" name="Google Shape;1350;p27"/>
          <p:cNvSpPr txBox="1"/>
          <p:nvPr/>
        </p:nvSpPr>
        <p:spPr>
          <a:xfrm>
            <a:off x="5925312" y="1325880"/>
            <a:ext cx="475488" cy="438912"/>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200" u="none" cap="none" strike="noStrike">
                <a:solidFill>
                  <a:srgbClr val="2B2B2B"/>
                </a:solidFill>
                <a:latin typeface="Consolas"/>
                <a:ea typeface="Consolas"/>
                <a:cs typeface="Consolas"/>
                <a:sym typeface="Consolas"/>
              </a:rPr>
              <a:t>1</a:t>
            </a:r>
            <a:endParaRPr/>
          </a:p>
        </p:txBody>
      </p:sp>
      <p:sp>
        <p:nvSpPr>
          <p:cNvPr id="1351" name="Google Shape;1351;p27"/>
          <p:cNvSpPr/>
          <p:nvPr/>
        </p:nvSpPr>
        <p:spPr>
          <a:xfrm>
            <a:off x="6455664" y="1325880"/>
            <a:ext cx="475488" cy="438912"/>
          </a:xfrm>
          <a:prstGeom prst="roundRect">
            <a:avLst>
              <a:gd fmla="val 8000" name="adj"/>
            </a:avLst>
          </a:prstGeom>
          <a:solidFill>
            <a:srgbClr val="F5F5F6"/>
          </a:solidFill>
          <a:ln cap="flat" cmpd="sng" w="9525">
            <a:solidFill>
              <a:srgbClr val="E2E2E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52" name="Google Shape;1352;p27"/>
          <p:cNvSpPr txBox="1"/>
          <p:nvPr/>
        </p:nvSpPr>
        <p:spPr>
          <a:xfrm>
            <a:off x="6455664" y="1325880"/>
            <a:ext cx="475488" cy="438912"/>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200" u="none" cap="none" strike="noStrike">
                <a:solidFill>
                  <a:srgbClr val="2B2B2B"/>
                </a:solidFill>
                <a:latin typeface="Consolas"/>
                <a:ea typeface="Consolas"/>
                <a:cs typeface="Consolas"/>
                <a:sym typeface="Consolas"/>
              </a:rPr>
              <a:t>2</a:t>
            </a:r>
            <a:endParaRPr/>
          </a:p>
        </p:txBody>
      </p:sp>
      <p:sp>
        <p:nvSpPr>
          <p:cNvPr id="1353" name="Google Shape;1353;p27"/>
          <p:cNvSpPr/>
          <p:nvPr/>
        </p:nvSpPr>
        <p:spPr>
          <a:xfrm>
            <a:off x="6986016" y="1325880"/>
            <a:ext cx="475488" cy="438912"/>
          </a:xfrm>
          <a:prstGeom prst="roundRect">
            <a:avLst>
              <a:gd fmla="val 8000" name="adj"/>
            </a:avLst>
          </a:prstGeom>
          <a:solidFill>
            <a:srgbClr val="F5F5F6"/>
          </a:solidFill>
          <a:ln cap="flat" cmpd="sng" w="9525">
            <a:solidFill>
              <a:srgbClr val="E2E2E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54" name="Google Shape;1354;p27"/>
          <p:cNvSpPr txBox="1"/>
          <p:nvPr/>
        </p:nvSpPr>
        <p:spPr>
          <a:xfrm>
            <a:off x="6986016" y="1325880"/>
            <a:ext cx="475488" cy="438912"/>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200" u="none" cap="none" strike="noStrike">
                <a:solidFill>
                  <a:srgbClr val="2B2B2B"/>
                </a:solidFill>
                <a:latin typeface="Consolas"/>
                <a:ea typeface="Consolas"/>
                <a:cs typeface="Consolas"/>
                <a:sym typeface="Consolas"/>
              </a:rPr>
              <a:t>3</a:t>
            </a:r>
            <a:endParaRPr/>
          </a:p>
        </p:txBody>
      </p:sp>
      <p:sp>
        <p:nvSpPr>
          <p:cNvPr id="1355" name="Google Shape;1355;p27"/>
          <p:cNvSpPr/>
          <p:nvPr/>
        </p:nvSpPr>
        <p:spPr>
          <a:xfrm>
            <a:off x="7516368" y="1325880"/>
            <a:ext cx="475488" cy="438912"/>
          </a:xfrm>
          <a:prstGeom prst="roundRect">
            <a:avLst>
              <a:gd fmla="val 8000" name="adj"/>
            </a:avLst>
          </a:prstGeom>
          <a:solidFill>
            <a:srgbClr val="F5F5F6"/>
          </a:solidFill>
          <a:ln cap="flat" cmpd="sng" w="9525">
            <a:solidFill>
              <a:srgbClr val="E2E2E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56" name="Google Shape;1356;p27"/>
          <p:cNvSpPr txBox="1"/>
          <p:nvPr/>
        </p:nvSpPr>
        <p:spPr>
          <a:xfrm>
            <a:off x="7516368" y="1325880"/>
            <a:ext cx="475488" cy="438912"/>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200" u="none" cap="none" strike="noStrike">
                <a:solidFill>
                  <a:srgbClr val="2B2B2B"/>
                </a:solidFill>
                <a:latin typeface="Consolas"/>
                <a:ea typeface="Consolas"/>
                <a:cs typeface="Consolas"/>
                <a:sym typeface="Consolas"/>
              </a:rPr>
              <a:t>4</a:t>
            </a:r>
            <a:endParaRPr/>
          </a:p>
        </p:txBody>
      </p:sp>
      <p:sp>
        <p:nvSpPr>
          <p:cNvPr id="1357" name="Google Shape;1357;p27"/>
          <p:cNvSpPr/>
          <p:nvPr/>
        </p:nvSpPr>
        <p:spPr>
          <a:xfrm>
            <a:off x="8046720" y="1325880"/>
            <a:ext cx="475488" cy="438912"/>
          </a:xfrm>
          <a:prstGeom prst="roundRect">
            <a:avLst>
              <a:gd fmla="val 8000" name="adj"/>
            </a:avLst>
          </a:prstGeom>
          <a:solidFill>
            <a:srgbClr val="5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58" name="Google Shape;1358;p27"/>
          <p:cNvSpPr txBox="1"/>
          <p:nvPr/>
        </p:nvSpPr>
        <p:spPr>
          <a:xfrm>
            <a:off x="8046720" y="1325880"/>
            <a:ext cx="475488" cy="438912"/>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200" u="none" cap="none" strike="noStrike">
                <a:solidFill>
                  <a:srgbClr val="FFFFFF"/>
                </a:solidFill>
                <a:latin typeface="Consolas"/>
                <a:ea typeface="Consolas"/>
                <a:cs typeface="Consolas"/>
                <a:sym typeface="Consolas"/>
              </a:rPr>
              <a:t>5</a:t>
            </a:r>
            <a:endParaRPr/>
          </a:p>
        </p:txBody>
      </p:sp>
      <p:sp>
        <p:nvSpPr>
          <p:cNvPr id="1359" name="Google Shape;1359;p27"/>
          <p:cNvSpPr txBox="1"/>
          <p:nvPr/>
        </p:nvSpPr>
        <p:spPr>
          <a:xfrm>
            <a:off x="5394960" y="1783080"/>
            <a:ext cx="3200400" cy="27432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0" i="0" lang="en-US" sz="1000" u="none" cap="none" strike="noStrike">
                <a:solidFill>
                  <a:srgbClr val="6E6E6E"/>
                </a:solidFill>
                <a:latin typeface="Arial"/>
                <a:ea typeface="Arial"/>
                <a:cs typeface="Arial"/>
                <a:sym typeface="Arial"/>
              </a:rPr>
              <a:t>sd: flat memory</a:t>
            </a:r>
            <a:endParaRPr/>
          </a:p>
        </p:txBody>
      </p:sp>
      <p:sp>
        <p:nvSpPr>
          <p:cNvPr id="1360" name="Google Shape;1360;p27"/>
          <p:cNvSpPr/>
          <p:nvPr/>
        </p:nvSpPr>
        <p:spPr>
          <a:xfrm>
            <a:off x="5943600" y="2148840"/>
            <a:ext cx="585216" cy="457200"/>
          </a:xfrm>
          <a:prstGeom prst="roundRect">
            <a:avLst>
              <a:gd fmla="val 8000" name="adj"/>
            </a:avLst>
          </a:prstGeom>
          <a:solidFill>
            <a:srgbClr val="F7EEEE"/>
          </a:solidFill>
          <a:ln cap="flat" cmpd="sng" w="9525">
            <a:solidFill>
              <a:srgbClr val="E6D2D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61" name="Google Shape;1361;p27"/>
          <p:cNvSpPr txBox="1"/>
          <p:nvPr/>
        </p:nvSpPr>
        <p:spPr>
          <a:xfrm>
            <a:off x="5943600" y="2148840"/>
            <a:ext cx="585216" cy="457200"/>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200" u="none" cap="none" strike="noStrike">
                <a:solidFill>
                  <a:srgbClr val="2B2B2B"/>
                </a:solidFill>
                <a:latin typeface="Consolas"/>
                <a:ea typeface="Consolas"/>
                <a:cs typeface="Consolas"/>
                <a:sym typeface="Consolas"/>
              </a:rPr>
              <a:t>0</a:t>
            </a:r>
            <a:endParaRPr/>
          </a:p>
        </p:txBody>
      </p:sp>
      <p:sp>
        <p:nvSpPr>
          <p:cNvPr id="1362" name="Google Shape;1362;p27"/>
          <p:cNvSpPr/>
          <p:nvPr/>
        </p:nvSpPr>
        <p:spPr>
          <a:xfrm>
            <a:off x="6583680" y="2148840"/>
            <a:ext cx="585216" cy="457200"/>
          </a:xfrm>
          <a:prstGeom prst="roundRect">
            <a:avLst>
              <a:gd fmla="val 8000" name="adj"/>
            </a:avLst>
          </a:prstGeom>
          <a:solidFill>
            <a:srgbClr val="F7EEEE"/>
          </a:solidFill>
          <a:ln cap="flat" cmpd="sng" w="9525">
            <a:solidFill>
              <a:srgbClr val="E6D2D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63" name="Google Shape;1363;p27"/>
          <p:cNvSpPr txBox="1"/>
          <p:nvPr/>
        </p:nvSpPr>
        <p:spPr>
          <a:xfrm>
            <a:off x="6583680" y="2148840"/>
            <a:ext cx="585216" cy="457200"/>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200" u="none" cap="none" strike="noStrike">
                <a:solidFill>
                  <a:srgbClr val="2B2B2B"/>
                </a:solidFill>
                <a:latin typeface="Consolas"/>
                <a:ea typeface="Consolas"/>
                <a:cs typeface="Consolas"/>
                <a:sym typeface="Consolas"/>
              </a:rPr>
              <a:t>1</a:t>
            </a:r>
            <a:endParaRPr/>
          </a:p>
        </p:txBody>
      </p:sp>
      <p:sp>
        <p:nvSpPr>
          <p:cNvPr id="1364" name="Google Shape;1364;p27"/>
          <p:cNvSpPr/>
          <p:nvPr/>
        </p:nvSpPr>
        <p:spPr>
          <a:xfrm>
            <a:off x="7223760" y="2148840"/>
            <a:ext cx="585216" cy="457200"/>
          </a:xfrm>
          <a:prstGeom prst="roundRect">
            <a:avLst>
              <a:gd fmla="val 8000" name="adj"/>
            </a:avLst>
          </a:prstGeom>
          <a:solidFill>
            <a:srgbClr val="F7EEEE"/>
          </a:solidFill>
          <a:ln cap="flat" cmpd="sng" w="9525">
            <a:solidFill>
              <a:srgbClr val="E6D2D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65" name="Google Shape;1365;p27"/>
          <p:cNvSpPr txBox="1"/>
          <p:nvPr/>
        </p:nvSpPr>
        <p:spPr>
          <a:xfrm>
            <a:off x="7223760" y="2148840"/>
            <a:ext cx="585216" cy="457200"/>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200" u="none" cap="none" strike="noStrike">
                <a:solidFill>
                  <a:srgbClr val="2B2B2B"/>
                </a:solidFill>
                <a:latin typeface="Consolas"/>
                <a:ea typeface="Consolas"/>
                <a:cs typeface="Consolas"/>
                <a:sym typeface="Consolas"/>
              </a:rPr>
              <a:t>2</a:t>
            </a:r>
            <a:endParaRPr/>
          </a:p>
        </p:txBody>
      </p:sp>
      <p:sp>
        <p:nvSpPr>
          <p:cNvPr id="1366" name="Google Shape;1366;p27"/>
          <p:cNvSpPr/>
          <p:nvPr/>
        </p:nvSpPr>
        <p:spPr>
          <a:xfrm>
            <a:off x="5943600" y="2651760"/>
            <a:ext cx="585216" cy="457200"/>
          </a:xfrm>
          <a:prstGeom prst="roundRect">
            <a:avLst>
              <a:gd fmla="val 8000" name="adj"/>
            </a:avLst>
          </a:prstGeom>
          <a:solidFill>
            <a:srgbClr val="F2F8E8"/>
          </a:solidFill>
          <a:ln cap="flat" cmpd="sng" w="9525">
            <a:solidFill>
              <a:srgbClr val="D8E8B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67" name="Google Shape;1367;p27"/>
          <p:cNvSpPr txBox="1"/>
          <p:nvPr/>
        </p:nvSpPr>
        <p:spPr>
          <a:xfrm>
            <a:off x="5943600" y="2651760"/>
            <a:ext cx="585216" cy="457200"/>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200" u="none" cap="none" strike="noStrike">
                <a:solidFill>
                  <a:srgbClr val="2B2B2B"/>
                </a:solidFill>
                <a:latin typeface="Consolas"/>
                <a:ea typeface="Consolas"/>
                <a:cs typeface="Consolas"/>
                <a:sym typeface="Consolas"/>
              </a:rPr>
              <a:t>3</a:t>
            </a:r>
            <a:endParaRPr/>
          </a:p>
        </p:txBody>
      </p:sp>
      <p:sp>
        <p:nvSpPr>
          <p:cNvPr id="1368" name="Google Shape;1368;p27"/>
          <p:cNvSpPr/>
          <p:nvPr/>
        </p:nvSpPr>
        <p:spPr>
          <a:xfrm>
            <a:off x="6583680" y="2651760"/>
            <a:ext cx="585216" cy="457200"/>
          </a:xfrm>
          <a:prstGeom prst="roundRect">
            <a:avLst>
              <a:gd fmla="val 8000" name="adj"/>
            </a:avLst>
          </a:prstGeom>
          <a:solidFill>
            <a:srgbClr val="F2F8E8"/>
          </a:solidFill>
          <a:ln cap="flat" cmpd="sng" w="9525">
            <a:solidFill>
              <a:srgbClr val="D8E8B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69" name="Google Shape;1369;p27"/>
          <p:cNvSpPr txBox="1"/>
          <p:nvPr/>
        </p:nvSpPr>
        <p:spPr>
          <a:xfrm>
            <a:off x="6583680" y="2651760"/>
            <a:ext cx="585216" cy="457200"/>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200" u="none" cap="none" strike="noStrike">
                <a:solidFill>
                  <a:srgbClr val="2B2B2B"/>
                </a:solidFill>
                <a:latin typeface="Consolas"/>
                <a:ea typeface="Consolas"/>
                <a:cs typeface="Consolas"/>
                <a:sym typeface="Consolas"/>
              </a:rPr>
              <a:t>4</a:t>
            </a:r>
            <a:endParaRPr/>
          </a:p>
        </p:txBody>
      </p:sp>
      <p:sp>
        <p:nvSpPr>
          <p:cNvPr id="1370" name="Google Shape;1370;p27"/>
          <p:cNvSpPr/>
          <p:nvPr/>
        </p:nvSpPr>
        <p:spPr>
          <a:xfrm>
            <a:off x="7223760" y="2651760"/>
            <a:ext cx="585216" cy="457200"/>
          </a:xfrm>
          <a:prstGeom prst="roundRect">
            <a:avLst>
              <a:gd fmla="val 8000" name="adj"/>
            </a:avLst>
          </a:prstGeom>
          <a:solidFill>
            <a:srgbClr val="5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71" name="Google Shape;1371;p27"/>
          <p:cNvSpPr txBox="1"/>
          <p:nvPr/>
        </p:nvSpPr>
        <p:spPr>
          <a:xfrm>
            <a:off x="7223760" y="2651760"/>
            <a:ext cx="585216" cy="457200"/>
          </a:xfrm>
          <a:prstGeom prst="rect">
            <a:avLst/>
          </a:prstGeom>
          <a:noFill/>
          <a:ln>
            <a:noFill/>
          </a:ln>
        </p:spPr>
        <p:txBody>
          <a:bodyPr anchorCtr="0" anchor="ctr" bIns="18275" lIns="36575" spcFirstLastPara="1" rIns="36575" wrap="square" tIns="18275">
            <a:spAutoFit/>
          </a:bodyPr>
          <a:lstStyle/>
          <a:p>
            <a:pPr indent="0" lvl="0" marL="0" marR="0" rtl="0" algn="ctr">
              <a:lnSpc>
                <a:spcPct val="100000"/>
              </a:lnSpc>
              <a:spcBef>
                <a:spcPts val="0"/>
              </a:spcBef>
              <a:spcAft>
                <a:spcPts val="0"/>
              </a:spcAft>
              <a:buNone/>
            </a:pPr>
            <a:r>
              <a:rPr b="1" i="0" lang="en-US" sz="1200" u="none" cap="none" strike="noStrike">
                <a:solidFill>
                  <a:srgbClr val="FFFFFF"/>
                </a:solidFill>
                <a:latin typeface="Consolas"/>
                <a:ea typeface="Consolas"/>
                <a:cs typeface="Consolas"/>
                <a:sym typeface="Consolas"/>
              </a:rPr>
              <a:t>5</a:t>
            </a:r>
            <a:endParaRPr/>
          </a:p>
        </p:txBody>
      </p:sp>
      <p:sp>
        <p:nvSpPr>
          <p:cNvPr id="1372" name="Google Shape;1372;p27"/>
          <p:cNvSpPr txBox="1"/>
          <p:nvPr/>
        </p:nvSpPr>
        <p:spPr>
          <a:xfrm>
            <a:off x="5943600" y="3136392"/>
            <a:ext cx="2743200" cy="27432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0" i="0" lang="en-US" sz="1000" u="none" cap="none" strike="noStrike">
                <a:solidFill>
                  <a:srgbClr val="6E6E6E"/>
                </a:solidFill>
                <a:latin typeface="Arial"/>
                <a:ea typeface="Arial"/>
                <a:cs typeface="Arial"/>
                <a:sym typeface="Arial"/>
              </a:rPr>
              <a:t>md: the same bytes, 2 × 3</a:t>
            </a:r>
            <a:endParaRPr/>
          </a:p>
        </p:txBody>
      </p:sp>
      <p:sp>
        <p:nvSpPr>
          <p:cNvPr id="1373" name="Google Shape;1373;p27"/>
          <p:cNvSpPr/>
          <p:nvPr/>
        </p:nvSpPr>
        <p:spPr>
          <a:xfrm>
            <a:off x="457200" y="3520440"/>
            <a:ext cx="8229600" cy="868680"/>
          </a:xfrm>
          <a:prstGeom prst="roundRect">
            <a:avLst>
              <a:gd fmla="val 3500" name="adj"/>
            </a:avLst>
          </a:prstGeom>
          <a:solidFill>
            <a:srgbClr val="F2F8E8"/>
          </a:solidFill>
          <a:ln cap="flat" cmpd="sng" w="9525">
            <a:solidFill>
              <a:srgbClr val="D8E8B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74" name="Google Shape;1374;p27"/>
          <p:cNvSpPr txBox="1"/>
          <p:nvPr/>
        </p:nvSpPr>
        <p:spPr>
          <a:xfrm>
            <a:off x="612648" y="3611880"/>
            <a:ext cx="7918704" cy="68580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1300" u="none" cap="none" strike="noStrike">
                <a:solidFill>
                  <a:srgbClr val="4E7A00"/>
                </a:solidFill>
                <a:latin typeface="Arial"/>
                <a:ea typeface="Arial"/>
                <a:cs typeface="Arial"/>
                <a:sym typeface="Arial"/>
              </a:rPr>
              <a:t>Why it matters</a:t>
            </a:r>
            <a:endParaRPr/>
          </a:p>
          <a:p>
            <a:pPr indent="0" lvl="0" marL="0" marR="0" rtl="0" algn="l">
              <a:lnSpc>
                <a:spcPct val="100000"/>
              </a:lnSpc>
              <a:spcBef>
                <a:spcPts val="300"/>
              </a:spcBef>
              <a:spcAft>
                <a:spcPts val="0"/>
              </a:spcAft>
              <a:buNone/>
            </a:pPr>
            <a:r>
              <a:rPr b="0" i="0" lang="en-US" sz="1100" u="none" cap="none" strike="noStrike">
                <a:solidFill>
                  <a:srgbClr val="2B2B2B"/>
                </a:solidFill>
                <a:latin typeface="Arial"/>
                <a:ea typeface="Arial"/>
                <a:cs typeface="Arial"/>
                <a:sym typeface="Arial"/>
              </a:rPr>
              <a:t>md(row, col) does the row*width + col math for you, carries its own width and height, and works in 3D too: md(row, col, channel) for RGB images.</a:t>
            </a:r>
            <a:endParaRPr/>
          </a:p>
        </p:txBody>
      </p:sp>
      <p:sp>
        <p:nvSpPr>
          <p:cNvPr id="1375" name="Google Shape;1375;p27"/>
          <p:cNvSpPr/>
          <p:nvPr/>
        </p:nvSpPr>
        <p:spPr>
          <a:xfrm>
            <a:off x="636879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27"/>
          <p:cNvSpPr/>
          <p:nvPr/>
        </p:nvSpPr>
        <p:spPr>
          <a:xfrm>
            <a:off x="644194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27"/>
          <p:cNvSpPr/>
          <p:nvPr/>
        </p:nvSpPr>
        <p:spPr>
          <a:xfrm>
            <a:off x="6515100"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27"/>
          <p:cNvSpPr/>
          <p:nvPr/>
        </p:nvSpPr>
        <p:spPr>
          <a:xfrm>
            <a:off x="6588252"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27"/>
          <p:cNvSpPr/>
          <p:nvPr/>
        </p:nvSpPr>
        <p:spPr>
          <a:xfrm>
            <a:off x="6661404"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27"/>
          <p:cNvSpPr/>
          <p:nvPr/>
        </p:nvSpPr>
        <p:spPr>
          <a:xfrm>
            <a:off x="673455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27"/>
          <p:cNvSpPr/>
          <p:nvPr/>
        </p:nvSpPr>
        <p:spPr>
          <a:xfrm>
            <a:off x="680770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27"/>
          <p:cNvSpPr/>
          <p:nvPr/>
        </p:nvSpPr>
        <p:spPr>
          <a:xfrm>
            <a:off x="6880860"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27"/>
          <p:cNvSpPr/>
          <p:nvPr/>
        </p:nvSpPr>
        <p:spPr>
          <a:xfrm>
            <a:off x="6954012"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27"/>
          <p:cNvSpPr/>
          <p:nvPr/>
        </p:nvSpPr>
        <p:spPr>
          <a:xfrm>
            <a:off x="7027164"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27"/>
          <p:cNvSpPr/>
          <p:nvPr/>
        </p:nvSpPr>
        <p:spPr>
          <a:xfrm>
            <a:off x="710031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27"/>
          <p:cNvSpPr/>
          <p:nvPr/>
        </p:nvSpPr>
        <p:spPr>
          <a:xfrm>
            <a:off x="717346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27"/>
          <p:cNvSpPr/>
          <p:nvPr/>
        </p:nvSpPr>
        <p:spPr>
          <a:xfrm>
            <a:off x="7246620"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27"/>
          <p:cNvSpPr/>
          <p:nvPr/>
        </p:nvSpPr>
        <p:spPr>
          <a:xfrm>
            <a:off x="7319772"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27"/>
          <p:cNvSpPr/>
          <p:nvPr/>
        </p:nvSpPr>
        <p:spPr>
          <a:xfrm>
            <a:off x="7392924"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27"/>
          <p:cNvSpPr/>
          <p:nvPr/>
        </p:nvSpPr>
        <p:spPr>
          <a:xfrm>
            <a:off x="746607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27"/>
          <p:cNvSpPr/>
          <p:nvPr/>
        </p:nvSpPr>
        <p:spPr>
          <a:xfrm>
            <a:off x="753922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27"/>
          <p:cNvSpPr/>
          <p:nvPr/>
        </p:nvSpPr>
        <p:spPr>
          <a:xfrm>
            <a:off x="7612380"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27"/>
          <p:cNvSpPr/>
          <p:nvPr/>
        </p:nvSpPr>
        <p:spPr>
          <a:xfrm>
            <a:off x="7685532"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27"/>
          <p:cNvSpPr/>
          <p:nvPr/>
        </p:nvSpPr>
        <p:spPr>
          <a:xfrm>
            <a:off x="7758684"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27"/>
          <p:cNvSpPr/>
          <p:nvPr/>
        </p:nvSpPr>
        <p:spPr>
          <a:xfrm>
            <a:off x="783183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27"/>
          <p:cNvSpPr/>
          <p:nvPr/>
        </p:nvSpPr>
        <p:spPr>
          <a:xfrm>
            <a:off x="790498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27"/>
          <p:cNvSpPr/>
          <p:nvPr/>
        </p:nvSpPr>
        <p:spPr>
          <a:xfrm>
            <a:off x="7978140"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27"/>
          <p:cNvSpPr/>
          <p:nvPr/>
        </p:nvSpPr>
        <p:spPr>
          <a:xfrm>
            <a:off x="8051292"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27"/>
          <p:cNvSpPr/>
          <p:nvPr/>
        </p:nvSpPr>
        <p:spPr>
          <a:xfrm>
            <a:off x="8124444"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27"/>
          <p:cNvSpPr/>
          <p:nvPr/>
        </p:nvSpPr>
        <p:spPr>
          <a:xfrm>
            <a:off x="819759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27"/>
          <p:cNvSpPr/>
          <p:nvPr/>
        </p:nvSpPr>
        <p:spPr>
          <a:xfrm>
            <a:off x="8270748" y="4901184"/>
            <a:ext cx="50292" cy="50292"/>
          </a:xfrm>
          <a:prstGeom prst="rect">
            <a:avLst/>
          </a:prstGeom>
          <a:solidFill>
            <a:srgbClr val="5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27"/>
          <p:cNvSpPr/>
          <p:nvPr/>
        </p:nvSpPr>
        <p:spPr>
          <a:xfrm>
            <a:off x="8343900"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27"/>
          <p:cNvSpPr/>
          <p:nvPr/>
        </p:nvSpPr>
        <p:spPr>
          <a:xfrm>
            <a:off x="8417052"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27"/>
          <p:cNvSpPr/>
          <p:nvPr/>
        </p:nvSpPr>
        <p:spPr>
          <a:xfrm>
            <a:off x="8490204"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27"/>
          <p:cNvSpPr/>
          <p:nvPr/>
        </p:nvSpPr>
        <p:spPr>
          <a:xfrm>
            <a:off x="856335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27"/>
          <p:cNvSpPr/>
          <p:nvPr/>
        </p:nvSpPr>
        <p:spPr>
          <a:xfrm>
            <a:off x="863650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27"/>
          <p:cNvSpPr txBox="1"/>
          <p:nvPr/>
        </p:nvSpPr>
        <p:spPr>
          <a:xfrm>
            <a:off x="5472684" y="4846320"/>
            <a:ext cx="822960" cy="15544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00" u="none" cap="none" strike="noStrike">
                <a:solidFill>
                  <a:srgbClr val="9A9AA0"/>
                </a:solidFill>
                <a:latin typeface="Consolas"/>
                <a:ea typeface="Consolas"/>
                <a:cs typeface="Consolas"/>
                <a:sym typeface="Consolas"/>
              </a:rPr>
              <a:t>slide[26]</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12" name="Shape 1412"/>
        <p:cNvGrpSpPr/>
        <p:nvPr/>
      </p:nvGrpSpPr>
      <p:grpSpPr>
        <a:xfrm>
          <a:off x="0" y="0"/>
          <a:ext cx="0" cy="0"/>
          <a:chOff x="0" y="0"/>
          <a:chExt cx="0" cy="0"/>
        </a:xfrm>
      </p:grpSpPr>
      <p:sp>
        <p:nvSpPr>
          <p:cNvPr id="1413" name="Google Shape;1413;p30"/>
          <p:cNvSpPr txBox="1"/>
          <p:nvPr/>
        </p:nvSpPr>
        <p:spPr>
          <a:xfrm>
            <a:off x="457200" y="320040"/>
            <a:ext cx="8229600" cy="46800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lang="en-US" sz="2800">
                <a:solidFill>
                  <a:srgbClr val="500000"/>
                </a:solidFill>
              </a:rPr>
              <a:t>Applying </a:t>
            </a:r>
            <a:r>
              <a:rPr b="1" i="0" lang="en-US" sz="2800" u="none" cap="none" strike="noStrike">
                <a:solidFill>
                  <a:srgbClr val="500000"/>
                </a:solidFill>
                <a:latin typeface="Arial"/>
                <a:ea typeface="Arial"/>
                <a:cs typeface="Arial"/>
                <a:sym typeface="Arial"/>
              </a:rPr>
              <a:t>to the project: grayscale</a:t>
            </a:r>
            <a:endParaRPr/>
          </a:p>
        </p:txBody>
      </p:sp>
      <p:sp>
        <p:nvSpPr>
          <p:cNvPr id="1414" name="Google Shape;1414;p30"/>
          <p:cNvSpPr txBox="1"/>
          <p:nvPr/>
        </p:nvSpPr>
        <p:spPr>
          <a:xfrm>
            <a:off x="457200" y="874080"/>
            <a:ext cx="8229600" cy="22170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0" i="0" lang="en-US" sz="1200" u="none" cap="none" strike="noStrike">
                <a:solidFill>
                  <a:srgbClr val="6E6E6E"/>
                </a:solidFill>
                <a:latin typeface="Arial"/>
                <a:ea typeface="Arial"/>
                <a:cs typeface="Arial"/>
                <a:sym typeface="Arial"/>
              </a:rPr>
              <a:t>A 3D mdspan: (row, col, channel). One tabulate, one thread per pixel.</a:t>
            </a:r>
            <a:endParaRPr/>
          </a:p>
        </p:txBody>
      </p:sp>
      <p:sp>
        <p:nvSpPr>
          <p:cNvPr id="1415" name="Google Shape;1415;p30"/>
          <p:cNvSpPr/>
          <p:nvPr/>
        </p:nvSpPr>
        <p:spPr>
          <a:xfrm>
            <a:off x="497375" y="1234428"/>
            <a:ext cx="5669400" cy="2286000"/>
          </a:xfrm>
          <a:prstGeom prst="roundRect">
            <a:avLst>
              <a:gd fmla="val 3500" name="adj"/>
            </a:avLst>
          </a:prstGeom>
          <a:solidFill>
            <a:srgbClr val="1B1B1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16" name="Google Shape;1416;p30"/>
          <p:cNvSpPr txBox="1"/>
          <p:nvPr/>
        </p:nvSpPr>
        <p:spPr>
          <a:xfrm>
            <a:off x="594360" y="1325880"/>
            <a:ext cx="5394960" cy="210312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0" i="0" lang="en-US" sz="950" u="none" cap="none" strike="noStrike">
                <a:solidFill>
                  <a:srgbClr val="6A9955"/>
                </a:solidFill>
                <a:latin typeface="Consolas"/>
                <a:ea typeface="Consolas"/>
                <a:cs typeface="Consolas"/>
                <a:sym typeface="Consolas"/>
              </a:rPr>
              <a:t>// rgb: height * width * 3 floats, stored R,G,B,R,G,B,...</a:t>
            </a:r>
            <a:endParaRPr/>
          </a:p>
          <a:p>
            <a:pPr indent="0" lvl="0" marL="0" marR="0" rtl="0" algn="l">
              <a:lnSpc>
                <a:spcPct val="100000"/>
              </a:lnSpc>
              <a:spcBef>
                <a:spcPts val="0"/>
              </a:spcBef>
              <a:spcAft>
                <a:spcPts val="0"/>
              </a:spcAft>
              <a:buNone/>
            </a:pPr>
            <a:r>
              <a:rPr b="1" i="0" lang="en-US" sz="950" u="none" cap="none" strike="noStrike">
                <a:solidFill>
                  <a:srgbClr val="76B900"/>
                </a:solidFill>
                <a:latin typeface="Consolas"/>
                <a:ea typeface="Consolas"/>
                <a:cs typeface="Consolas"/>
                <a:sym typeface="Consolas"/>
              </a:rPr>
              <a:t>cuda::std::mdspan img(thrust::raw_pointer_cast(rgb.data()),</a:t>
            </a:r>
            <a:endParaRPr/>
          </a:p>
          <a:p>
            <a:pPr indent="0" lvl="0" marL="0" marR="0" rtl="0" algn="l">
              <a:lnSpc>
                <a:spcPct val="100000"/>
              </a:lnSpc>
              <a:spcBef>
                <a:spcPts val="0"/>
              </a:spcBef>
              <a:spcAft>
                <a:spcPts val="0"/>
              </a:spcAft>
              <a:buNone/>
            </a:pPr>
            <a:r>
              <a:rPr b="0" i="0" lang="en-US" sz="950" u="none" cap="none" strike="noStrike">
                <a:solidFill>
                  <a:srgbClr val="9CDCFE"/>
                </a:solidFill>
                <a:latin typeface="Consolas"/>
                <a:ea typeface="Consolas"/>
                <a:cs typeface="Consolas"/>
                <a:sym typeface="Consolas"/>
              </a:rPr>
              <a:t>                      height, width, </a:t>
            </a:r>
            <a:r>
              <a:rPr b="0" i="0" lang="en-US" sz="950" u="none" cap="none" strike="noStrike">
                <a:solidFill>
                  <a:srgbClr val="B5CEA8"/>
                </a:solidFill>
                <a:latin typeface="Consolas"/>
                <a:ea typeface="Consolas"/>
                <a:cs typeface="Consolas"/>
                <a:sym typeface="Consolas"/>
              </a:rPr>
              <a:t>3</a:t>
            </a:r>
            <a:r>
              <a:rPr b="0" i="0" lang="en-US" sz="950" u="none" cap="none" strike="noStrike">
                <a:solidFill>
                  <a:srgbClr val="9CDCFE"/>
                </a:solidFill>
                <a:latin typeface="Consolas"/>
                <a:ea typeface="Consolas"/>
                <a:cs typeface="Consolas"/>
                <a:sym typeface="Consolas"/>
              </a:rPr>
              <a:t>);</a:t>
            </a:r>
            <a:endParaRPr/>
          </a:p>
          <a:p>
            <a:pPr indent="0" lvl="0" marL="0" marR="0" rtl="0" algn="l">
              <a:lnSpc>
                <a:spcPct val="100000"/>
              </a:lnSpc>
              <a:spcBef>
                <a:spcPts val="0"/>
              </a:spcBef>
              <a:spcAft>
                <a:spcPts val="0"/>
              </a:spcAft>
              <a:buNone/>
            </a:pPr>
            <a:r>
              <a:rPr b="0" i="0" lang="en-US" sz="950" u="none" cap="none" strike="noStrike">
                <a:solidFill>
                  <a:srgbClr val="2B2B2B"/>
                </a:solidFill>
                <a:latin typeface="Consolas"/>
                <a:ea typeface="Consolas"/>
                <a:cs typeface="Consolas"/>
                <a:sym typeface="Consolas"/>
              </a:rPr>
              <a:t> </a:t>
            </a:r>
            <a:endParaRPr/>
          </a:p>
          <a:p>
            <a:pPr indent="0" lvl="0" marL="0" marR="0" rtl="0" algn="l">
              <a:lnSpc>
                <a:spcPct val="100000"/>
              </a:lnSpc>
              <a:spcBef>
                <a:spcPts val="0"/>
              </a:spcBef>
              <a:spcAft>
                <a:spcPts val="0"/>
              </a:spcAft>
              <a:buNone/>
            </a:pPr>
            <a:r>
              <a:rPr b="0" i="0" lang="en-US" sz="950" u="none" cap="none" strike="noStrike">
                <a:solidFill>
                  <a:srgbClr val="9CDCFE"/>
                </a:solidFill>
                <a:latin typeface="Consolas"/>
                <a:ea typeface="Consolas"/>
                <a:cs typeface="Consolas"/>
                <a:sym typeface="Consolas"/>
              </a:rPr>
              <a:t>thrust::tabulate(thrust::device, gray.begin(), gray.end(),</a:t>
            </a:r>
            <a:endParaRPr/>
          </a:p>
          <a:p>
            <a:pPr indent="0" lvl="0" marL="0" marR="0" rtl="0" algn="l">
              <a:lnSpc>
                <a:spcPct val="100000"/>
              </a:lnSpc>
              <a:spcBef>
                <a:spcPts val="0"/>
              </a:spcBef>
              <a:spcAft>
                <a:spcPts val="0"/>
              </a:spcAft>
              <a:buNone/>
            </a:pPr>
            <a:r>
              <a:rPr b="0" i="0" lang="en-US" sz="950" u="none" cap="none" strike="noStrike">
                <a:solidFill>
                  <a:srgbClr val="9CDCFE"/>
                </a:solidFill>
                <a:latin typeface="Consolas"/>
                <a:ea typeface="Consolas"/>
                <a:cs typeface="Consolas"/>
                <a:sym typeface="Consolas"/>
              </a:rPr>
              <a:t>  [img] </a:t>
            </a:r>
            <a:r>
              <a:rPr b="0" i="0" lang="en-US" sz="950" u="none" cap="none" strike="noStrike">
                <a:solidFill>
                  <a:srgbClr val="C586C0"/>
                </a:solidFill>
                <a:latin typeface="Consolas"/>
                <a:ea typeface="Consolas"/>
                <a:cs typeface="Consolas"/>
                <a:sym typeface="Consolas"/>
              </a:rPr>
              <a:t>__host__</a:t>
            </a:r>
            <a:r>
              <a:rPr b="0" i="0" lang="en-US" sz="950" u="none" cap="none" strike="noStrike">
                <a:solidFill>
                  <a:srgbClr val="9CDCFE"/>
                </a:solidFill>
                <a:latin typeface="Consolas"/>
                <a:ea typeface="Consolas"/>
                <a:cs typeface="Consolas"/>
                <a:sym typeface="Consolas"/>
              </a:rPr>
              <a:t> </a:t>
            </a:r>
            <a:r>
              <a:rPr b="0" i="0" lang="en-US" sz="950" u="none" cap="none" strike="noStrike">
                <a:solidFill>
                  <a:srgbClr val="C586C0"/>
                </a:solidFill>
                <a:latin typeface="Consolas"/>
                <a:ea typeface="Consolas"/>
                <a:cs typeface="Consolas"/>
                <a:sym typeface="Consolas"/>
              </a:rPr>
              <a:t>__device__</a:t>
            </a:r>
            <a:r>
              <a:rPr b="0" i="0" lang="en-US" sz="950" u="none" cap="none" strike="noStrike">
                <a:solidFill>
                  <a:srgbClr val="9CDCFE"/>
                </a:solidFill>
                <a:latin typeface="Consolas"/>
                <a:ea typeface="Consolas"/>
                <a:cs typeface="Consolas"/>
                <a:sym typeface="Consolas"/>
              </a:rPr>
              <a:t>(</a:t>
            </a:r>
            <a:r>
              <a:rPr b="0" i="0" lang="en-US" sz="950" u="none" cap="none" strike="noStrike">
                <a:solidFill>
                  <a:srgbClr val="C586C0"/>
                </a:solidFill>
                <a:latin typeface="Consolas"/>
                <a:ea typeface="Consolas"/>
                <a:cs typeface="Consolas"/>
                <a:sym typeface="Consolas"/>
              </a:rPr>
              <a:t>int</a:t>
            </a:r>
            <a:r>
              <a:rPr b="0" i="0" lang="en-US" sz="950" u="none" cap="none" strike="noStrike">
                <a:solidFill>
                  <a:srgbClr val="9CDCFE"/>
                </a:solidFill>
                <a:latin typeface="Consolas"/>
                <a:ea typeface="Consolas"/>
                <a:cs typeface="Consolas"/>
                <a:sym typeface="Consolas"/>
              </a:rPr>
              <a:t> id) {</a:t>
            </a:r>
            <a:endParaRPr/>
          </a:p>
          <a:p>
            <a:pPr indent="0" lvl="0" marL="0" marR="0" rtl="0" algn="l">
              <a:lnSpc>
                <a:spcPct val="100000"/>
              </a:lnSpc>
              <a:spcBef>
                <a:spcPts val="0"/>
              </a:spcBef>
              <a:spcAft>
                <a:spcPts val="0"/>
              </a:spcAft>
              <a:buNone/>
            </a:pPr>
            <a:r>
              <a:rPr b="0" i="0" lang="en-US" sz="950" u="none" cap="none" strike="noStrike">
                <a:solidFill>
                  <a:srgbClr val="9CDCFE"/>
                </a:solidFill>
                <a:latin typeface="Consolas"/>
                <a:ea typeface="Consolas"/>
                <a:cs typeface="Consolas"/>
                <a:sym typeface="Consolas"/>
              </a:rPr>
              <a:t>    </a:t>
            </a:r>
            <a:r>
              <a:rPr b="0" i="0" lang="en-US" sz="950" u="none" cap="none" strike="noStrike">
                <a:solidFill>
                  <a:srgbClr val="C586C0"/>
                </a:solidFill>
                <a:latin typeface="Consolas"/>
                <a:ea typeface="Consolas"/>
                <a:cs typeface="Consolas"/>
                <a:sym typeface="Consolas"/>
              </a:rPr>
              <a:t>int</a:t>
            </a:r>
            <a:r>
              <a:rPr b="0" i="0" lang="en-US" sz="950" u="none" cap="none" strike="noStrike">
                <a:solidFill>
                  <a:srgbClr val="9CDCFE"/>
                </a:solidFill>
                <a:latin typeface="Consolas"/>
                <a:ea typeface="Consolas"/>
                <a:cs typeface="Consolas"/>
                <a:sym typeface="Consolas"/>
              </a:rPr>
              <a:t> row = id / img.extent(</a:t>
            </a:r>
            <a:r>
              <a:rPr b="0" i="0" lang="en-US" sz="950" u="none" cap="none" strike="noStrike">
                <a:solidFill>
                  <a:srgbClr val="B5CEA8"/>
                </a:solidFill>
                <a:latin typeface="Consolas"/>
                <a:ea typeface="Consolas"/>
                <a:cs typeface="Consolas"/>
                <a:sym typeface="Consolas"/>
              </a:rPr>
              <a:t>1</a:t>
            </a:r>
            <a:r>
              <a:rPr b="0" i="0" lang="en-US" sz="950" u="none" cap="none" strike="noStrike">
                <a:solidFill>
                  <a:srgbClr val="9CDCFE"/>
                </a:solidFill>
                <a:latin typeface="Consolas"/>
                <a:ea typeface="Consolas"/>
                <a:cs typeface="Consolas"/>
                <a:sym typeface="Consolas"/>
              </a:rPr>
              <a:t>), col = id % img.extent(</a:t>
            </a:r>
            <a:r>
              <a:rPr b="0" i="0" lang="en-US" sz="950" u="none" cap="none" strike="noStrike">
                <a:solidFill>
                  <a:srgbClr val="B5CEA8"/>
                </a:solidFill>
                <a:latin typeface="Consolas"/>
                <a:ea typeface="Consolas"/>
                <a:cs typeface="Consolas"/>
                <a:sym typeface="Consolas"/>
              </a:rPr>
              <a:t>1</a:t>
            </a:r>
            <a:r>
              <a:rPr b="0" i="0" lang="en-US" sz="950" u="none" cap="none" strike="noStrike">
                <a:solidFill>
                  <a:srgbClr val="9CDCFE"/>
                </a:solidFill>
                <a:latin typeface="Consolas"/>
                <a:ea typeface="Consolas"/>
                <a:cs typeface="Consolas"/>
                <a:sym typeface="Consolas"/>
              </a:rPr>
              <a:t>);</a:t>
            </a:r>
            <a:endParaRPr/>
          </a:p>
          <a:p>
            <a:pPr indent="0" lvl="0" marL="0" marR="0" rtl="0" algn="l">
              <a:lnSpc>
                <a:spcPct val="100000"/>
              </a:lnSpc>
              <a:spcBef>
                <a:spcPts val="0"/>
              </a:spcBef>
              <a:spcAft>
                <a:spcPts val="0"/>
              </a:spcAft>
              <a:buNone/>
            </a:pPr>
            <a:r>
              <a:rPr b="1" i="0" lang="en-US" sz="950" u="none" cap="none" strike="noStrike">
                <a:solidFill>
                  <a:srgbClr val="76B900"/>
                </a:solidFill>
                <a:latin typeface="Consolas"/>
                <a:ea typeface="Consolas"/>
                <a:cs typeface="Consolas"/>
                <a:sym typeface="Consolas"/>
              </a:rPr>
              <a:t>    </a:t>
            </a:r>
            <a:r>
              <a:rPr b="1" i="0" lang="en-US" sz="950" u="none" cap="none" strike="noStrike">
                <a:solidFill>
                  <a:srgbClr val="C586C0"/>
                </a:solidFill>
                <a:latin typeface="Consolas"/>
                <a:ea typeface="Consolas"/>
                <a:cs typeface="Consolas"/>
                <a:sym typeface="Consolas"/>
              </a:rPr>
              <a:t>return</a:t>
            </a:r>
            <a:r>
              <a:rPr b="1" i="0" lang="en-US" sz="950" u="none" cap="none" strike="noStrike">
                <a:solidFill>
                  <a:srgbClr val="76B900"/>
                </a:solidFill>
                <a:latin typeface="Consolas"/>
                <a:ea typeface="Consolas"/>
                <a:cs typeface="Consolas"/>
                <a:sym typeface="Consolas"/>
              </a:rPr>
              <a:t> </a:t>
            </a:r>
            <a:r>
              <a:rPr b="1" i="0" lang="en-US" sz="950" u="none" cap="none" strike="noStrike">
                <a:solidFill>
                  <a:srgbClr val="B5CEA8"/>
                </a:solidFill>
                <a:latin typeface="Consolas"/>
                <a:ea typeface="Consolas"/>
                <a:cs typeface="Consolas"/>
                <a:sym typeface="Consolas"/>
              </a:rPr>
              <a:t>0.299f</a:t>
            </a:r>
            <a:r>
              <a:rPr b="1" i="0" lang="en-US" sz="950" u="none" cap="none" strike="noStrike">
                <a:solidFill>
                  <a:srgbClr val="76B900"/>
                </a:solidFill>
                <a:latin typeface="Consolas"/>
                <a:ea typeface="Consolas"/>
                <a:cs typeface="Consolas"/>
                <a:sym typeface="Consolas"/>
              </a:rPr>
              <a:t> * img(row, col, </a:t>
            </a:r>
            <a:r>
              <a:rPr b="1" i="0" lang="en-US" sz="950" u="none" cap="none" strike="noStrike">
                <a:solidFill>
                  <a:srgbClr val="B5CEA8"/>
                </a:solidFill>
                <a:latin typeface="Consolas"/>
                <a:ea typeface="Consolas"/>
                <a:cs typeface="Consolas"/>
                <a:sym typeface="Consolas"/>
              </a:rPr>
              <a:t>0</a:t>
            </a:r>
            <a:r>
              <a:rPr b="1" i="0" lang="en-US" sz="950" u="none" cap="none" strike="noStrike">
                <a:solidFill>
                  <a:srgbClr val="76B900"/>
                </a:solidFill>
                <a:latin typeface="Consolas"/>
                <a:ea typeface="Consolas"/>
                <a:cs typeface="Consolas"/>
                <a:sym typeface="Consolas"/>
              </a:rPr>
              <a:t>)    </a:t>
            </a:r>
            <a:r>
              <a:rPr b="1" i="0" lang="en-US" sz="950" u="none" cap="none" strike="noStrike">
                <a:solidFill>
                  <a:srgbClr val="6A9955"/>
                </a:solidFill>
                <a:latin typeface="Consolas"/>
                <a:ea typeface="Consolas"/>
                <a:cs typeface="Consolas"/>
                <a:sym typeface="Consolas"/>
              </a:rPr>
              <a:t>// R</a:t>
            </a:r>
            <a:endParaRPr/>
          </a:p>
          <a:p>
            <a:pPr indent="0" lvl="0" marL="0" marR="0" rtl="0" algn="l">
              <a:lnSpc>
                <a:spcPct val="100000"/>
              </a:lnSpc>
              <a:spcBef>
                <a:spcPts val="0"/>
              </a:spcBef>
              <a:spcAft>
                <a:spcPts val="0"/>
              </a:spcAft>
              <a:buNone/>
            </a:pPr>
            <a:r>
              <a:rPr b="1" i="0" lang="en-US" sz="950" u="none" cap="none" strike="noStrike">
                <a:solidFill>
                  <a:srgbClr val="76B900"/>
                </a:solidFill>
                <a:latin typeface="Consolas"/>
                <a:ea typeface="Consolas"/>
                <a:cs typeface="Consolas"/>
                <a:sym typeface="Consolas"/>
              </a:rPr>
              <a:t>         + </a:t>
            </a:r>
            <a:r>
              <a:rPr b="1" i="0" lang="en-US" sz="950" u="none" cap="none" strike="noStrike">
                <a:solidFill>
                  <a:srgbClr val="B5CEA8"/>
                </a:solidFill>
                <a:latin typeface="Consolas"/>
                <a:ea typeface="Consolas"/>
                <a:cs typeface="Consolas"/>
                <a:sym typeface="Consolas"/>
              </a:rPr>
              <a:t>0.587f</a:t>
            </a:r>
            <a:r>
              <a:rPr b="1" i="0" lang="en-US" sz="950" u="none" cap="none" strike="noStrike">
                <a:solidFill>
                  <a:srgbClr val="76B900"/>
                </a:solidFill>
                <a:latin typeface="Consolas"/>
                <a:ea typeface="Consolas"/>
                <a:cs typeface="Consolas"/>
                <a:sym typeface="Consolas"/>
              </a:rPr>
              <a:t> * img(row, col, </a:t>
            </a:r>
            <a:r>
              <a:rPr b="1" i="0" lang="en-US" sz="950" u="none" cap="none" strike="noStrike">
                <a:solidFill>
                  <a:srgbClr val="B5CEA8"/>
                </a:solidFill>
                <a:latin typeface="Consolas"/>
                <a:ea typeface="Consolas"/>
                <a:cs typeface="Consolas"/>
                <a:sym typeface="Consolas"/>
              </a:rPr>
              <a:t>1</a:t>
            </a:r>
            <a:r>
              <a:rPr b="1" i="0" lang="en-US" sz="950" u="none" cap="none" strike="noStrike">
                <a:solidFill>
                  <a:srgbClr val="76B900"/>
                </a:solidFill>
                <a:latin typeface="Consolas"/>
                <a:ea typeface="Consolas"/>
                <a:cs typeface="Consolas"/>
                <a:sym typeface="Consolas"/>
              </a:rPr>
              <a:t>)    </a:t>
            </a:r>
            <a:r>
              <a:rPr b="1" i="0" lang="en-US" sz="950" u="none" cap="none" strike="noStrike">
                <a:solidFill>
                  <a:srgbClr val="6A9955"/>
                </a:solidFill>
                <a:latin typeface="Consolas"/>
                <a:ea typeface="Consolas"/>
                <a:cs typeface="Consolas"/>
                <a:sym typeface="Consolas"/>
              </a:rPr>
              <a:t>// G</a:t>
            </a:r>
            <a:endParaRPr/>
          </a:p>
          <a:p>
            <a:pPr indent="0" lvl="0" marL="0" marR="0" rtl="0" algn="l">
              <a:lnSpc>
                <a:spcPct val="100000"/>
              </a:lnSpc>
              <a:spcBef>
                <a:spcPts val="0"/>
              </a:spcBef>
              <a:spcAft>
                <a:spcPts val="0"/>
              </a:spcAft>
              <a:buNone/>
            </a:pPr>
            <a:r>
              <a:rPr b="1" i="0" lang="en-US" sz="950" u="none" cap="none" strike="noStrike">
                <a:solidFill>
                  <a:srgbClr val="76B900"/>
                </a:solidFill>
                <a:latin typeface="Consolas"/>
                <a:ea typeface="Consolas"/>
                <a:cs typeface="Consolas"/>
                <a:sym typeface="Consolas"/>
              </a:rPr>
              <a:t>         + </a:t>
            </a:r>
            <a:r>
              <a:rPr b="1" i="0" lang="en-US" sz="950" u="none" cap="none" strike="noStrike">
                <a:solidFill>
                  <a:srgbClr val="B5CEA8"/>
                </a:solidFill>
                <a:latin typeface="Consolas"/>
                <a:ea typeface="Consolas"/>
                <a:cs typeface="Consolas"/>
                <a:sym typeface="Consolas"/>
              </a:rPr>
              <a:t>0.114f</a:t>
            </a:r>
            <a:r>
              <a:rPr b="1" i="0" lang="en-US" sz="950" u="none" cap="none" strike="noStrike">
                <a:solidFill>
                  <a:srgbClr val="76B900"/>
                </a:solidFill>
                <a:latin typeface="Consolas"/>
                <a:ea typeface="Consolas"/>
                <a:cs typeface="Consolas"/>
                <a:sym typeface="Consolas"/>
              </a:rPr>
              <a:t> * img(row, col, </a:t>
            </a:r>
            <a:r>
              <a:rPr b="1" i="0" lang="en-US" sz="950" u="none" cap="none" strike="noStrike">
                <a:solidFill>
                  <a:srgbClr val="B5CEA8"/>
                </a:solidFill>
                <a:latin typeface="Consolas"/>
                <a:ea typeface="Consolas"/>
                <a:cs typeface="Consolas"/>
                <a:sym typeface="Consolas"/>
              </a:rPr>
              <a:t>2</a:t>
            </a:r>
            <a:r>
              <a:rPr b="1" i="0" lang="en-US" sz="950" u="none" cap="none" strike="noStrike">
                <a:solidFill>
                  <a:srgbClr val="76B900"/>
                </a:solidFill>
                <a:latin typeface="Consolas"/>
                <a:ea typeface="Consolas"/>
                <a:cs typeface="Consolas"/>
                <a:sym typeface="Consolas"/>
              </a:rPr>
              <a:t>);   </a:t>
            </a:r>
            <a:r>
              <a:rPr b="1" i="0" lang="en-US" sz="950" u="none" cap="none" strike="noStrike">
                <a:solidFill>
                  <a:srgbClr val="6A9955"/>
                </a:solidFill>
                <a:latin typeface="Consolas"/>
                <a:ea typeface="Consolas"/>
                <a:cs typeface="Consolas"/>
                <a:sym typeface="Consolas"/>
              </a:rPr>
              <a:t>// B</a:t>
            </a:r>
            <a:endParaRPr/>
          </a:p>
          <a:p>
            <a:pPr indent="0" lvl="0" marL="0" marR="0" rtl="0" algn="l">
              <a:lnSpc>
                <a:spcPct val="100000"/>
              </a:lnSpc>
              <a:spcBef>
                <a:spcPts val="0"/>
              </a:spcBef>
              <a:spcAft>
                <a:spcPts val="0"/>
              </a:spcAft>
              <a:buNone/>
            </a:pPr>
            <a:r>
              <a:rPr b="0" i="0" lang="en-US" sz="950" u="none" cap="none" strike="noStrike">
                <a:solidFill>
                  <a:srgbClr val="9CDCFE"/>
                </a:solidFill>
                <a:latin typeface="Consolas"/>
                <a:ea typeface="Consolas"/>
                <a:cs typeface="Consolas"/>
                <a:sym typeface="Consolas"/>
              </a:rPr>
              <a:t>  });</a:t>
            </a:r>
            <a:endParaRPr/>
          </a:p>
        </p:txBody>
      </p:sp>
      <p:sp>
        <p:nvSpPr>
          <p:cNvPr id="1417" name="Google Shape;1417;p30"/>
          <p:cNvSpPr/>
          <p:nvPr/>
        </p:nvSpPr>
        <p:spPr>
          <a:xfrm>
            <a:off x="6400800" y="1325880"/>
            <a:ext cx="347472" cy="347472"/>
          </a:xfrm>
          <a:prstGeom prst="roundRect">
            <a:avLst>
              <a:gd fmla="val 8000" name="adj"/>
            </a:avLst>
          </a:prstGeom>
          <a:solidFill>
            <a:srgbClr val="457B9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18" name="Google Shape;1418;p30"/>
          <p:cNvSpPr/>
          <p:nvPr/>
        </p:nvSpPr>
        <p:spPr>
          <a:xfrm>
            <a:off x="6784848" y="1325880"/>
            <a:ext cx="347472" cy="347472"/>
          </a:xfrm>
          <a:prstGeom prst="roundRect">
            <a:avLst>
              <a:gd fmla="val 8000" name="adj"/>
            </a:avLst>
          </a:prstGeom>
          <a:solidFill>
            <a:srgbClr val="76B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19" name="Google Shape;1419;p30"/>
          <p:cNvSpPr/>
          <p:nvPr/>
        </p:nvSpPr>
        <p:spPr>
          <a:xfrm>
            <a:off x="7168896" y="1325880"/>
            <a:ext cx="347472" cy="347472"/>
          </a:xfrm>
          <a:prstGeom prst="roundRect">
            <a:avLst>
              <a:gd fmla="val 8000" name="adj"/>
            </a:avLst>
          </a:prstGeom>
          <a:solidFill>
            <a:srgbClr val="8338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20" name="Google Shape;1420;p30"/>
          <p:cNvSpPr/>
          <p:nvPr/>
        </p:nvSpPr>
        <p:spPr>
          <a:xfrm>
            <a:off x="6400800" y="1709928"/>
            <a:ext cx="347472" cy="347472"/>
          </a:xfrm>
          <a:prstGeom prst="roundRect">
            <a:avLst>
              <a:gd fmla="val 8000" name="adj"/>
            </a:avLst>
          </a:prstGeom>
          <a:solidFill>
            <a:srgbClr val="E6394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21" name="Google Shape;1421;p30"/>
          <p:cNvSpPr/>
          <p:nvPr/>
        </p:nvSpPr>
        <p:spPr>
          <a:xfrm>
            <a:off x="6784848" y="1709928"/>
            <a:ext cx="347472" cy="347472"/>
          </a:xfrm>
          <a:prstGeom prst="roundRect">
            <a:avLst>
              <a:gd fmla="val 8000" name="adj"/>
            </a:avLst>
          </a:prstGeom>
          <a:solidFill>
            <a:srgbClr val="5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22" name="Google Shape;1422;p30"/>
          <p:cNvSpPr/>
          <p:nvPr/>
        </p:nvSpPr>
        <p:spPr>
          <a:xfrm>
            <a:off x="7168896" y="1709928"/>
            <a:ext cx="347472" cy="347472"/>
          </a:xfrm>
          <a:prstGeom prst="roundRect">
            <a:avLst>
              <a:gd fmla="val 8000" name="adj"/>
            </a:avLst>
          </a:prstGeom>
          <a:solidFill>
            <a:srgbClr val="FF00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23" name="Google Shape;1423;p30"/>
          <p:cNvSpPr/>
          <p:nvPr/>
        </p:nvSpPr>
        <p:spPr>
          <a:xfrm>
            <a:off x="6400800" y="2093976"/>
            <a:ext cx="347472" cy="347472"/>
          </a:xfrm>
          <a:prstGeom prst="roundRect">
            <a:avLst>
              <a:gd fmla="val 8000" name="adj"/>
            </a:avLst>
          </a:prstGeom>
          <a:solidFill>
            <a:srgbClr val="F4A26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24" name="Google Shape;1424;p30"/>
          <p:cNvSpPr/>
          <p:nvPr/>
        </p:nvSpPr>
        <p:spPr>
          <a:xfrm>
            <a:off x="6784848" y="2093976"/>
            <a:ext cx="347472" cy="347472"/>
          </a:xfrm>
          <a:prstGeom prst="roundRect">
            <a:avLst>
              <a:gd fmla="val 8000" name="adj"/>
            </a:avLst>
          </a:prstGeom>
          <a:solidFill>
            <a:srgbClr val="06D6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25" name="Google Shape;1425;p30"/>
          <p:cNvSpPr/>
          <p:nvPr/>
        </p:nvSpPr>
        <p:spPr>
          <a:xfrm>
            <a:off x="7168896" y="2093976"/>
            <a:ext cx="347472" cy="347472"/>
          </a:xfrm>
          <a:prstGeom prst="roundRect">
            <a:avLst>
              <a:gd fmla="val 8000" name="adj"/>
            </a:avLst>
          </a:prstGeom>
          <a:solidFill>
            <a:srgbClr val="3A8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26" name="Google Shape;1426;p30"/>
          <p:cNvSpPr txBox="1"/>
          <p:nvPr/>
        </p:nvSpPr>
        <p:spPr>
          <a:xfrm>
            <a:off x="7562088" y="1691640"/>
            <a:ext cx="365760" cy="36576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2000" u="none" cap="none" strike="noStrike">
                <a:solidFill>
                  <a:srgbClr val="500000"/>
                </a:solidFill>
                <a:latin typeface="Arial"/>
                <a:ea typeface="Arial"/>
                <a:cs typeface="Arial"/>
                <a:sym typeface="Arial"/>
              </a:rPr>
              <a:t>→</a:t>
            </a:r>
            <a:endParaRPr/>
          </a:p>
        </p:txBody>
      </p:sp>
      <p:sp>
        <p:nvSpPr>
          <p:cNvPr id="1427" name="Google Shape;1427;p30"/>
          <p:cNvSpPr/>
          <p:nvPr/>
        </p:nvSpPr>
        <p:spPr>
          <a:xfrm>
            <a:off x="7909560" y="1371600"/>
            <a:ext cx="246888" cy="310896"/>
          </a:xfrm>
          <a:prstGeom prst="roundRect">
            <a:avLst>
              <a:gd fmla="val 8000" name="adj"/>
            </a:avLst>
          </a:prstGeom>
          <a:solidFill>
            <a:srgbClr val="7D7D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28" name="Google Shape;1428;p30"/>
          <p:cNvSpPr/>
          <p:nvPr/>
        </p:nvSpPr>
        <p:spPr>
          <a:xfrm>
            <a:off x="8183880" y="1371600"/>
            <a:ext cx="246888" cy="310896"/>
          </a:xfrm>
          <a:prstGeom prst="roundRect">
            <a:avLst>
              <a:gd fmla="val 8000" name="adj"/>
            </a:avLst>
          </a:prstGeom>
          <a:solidFill>
            <a:srgbClr val="90909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29" name="Google Shape;1429;p30"/>
          <p:cNvSpPr/>
          <p:nvPr/>
        </p:nvSpPr>
        <p:spPr>
          <a:xfrm>
            <a:off x="8458200" y="1371600"/>
            <a:ext cx="246888" cy="310896"/>
          </a:xfrm>
          <a:prstGeom prst="roundRect">
            <a:avLst>
              <a:gd fmla="val 8000" name="adj"/>
            </a:avLst>
          </a:prstGeom>
          <a:solidFill>
            <a:srgbClr val="59595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30" name="Google Shape;1430;p30"/>
          <p:cNvSpPr/>
          <p:nvPr/>
        </p:nvSpPr>
        <p:spPr>
          <a:xfrm>
            <a:off x="7909560" y="1719072"/>
            <a:ext cx="246888" cy="310896"/>
          </a:xfrm>
          <a:prstGeom prst="roundRect">
            <a:avLst>
              <a:gd fmla="val 8000" name="adj"/>
            </a:avLst>
          </a:prstGeom>
          <a:solidFill>
            <a:srgbClr val="B3B3B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31" name="Google Shape;1431;p30"/>
          <p:cNvSpPr/>
          <p:nvPr/>
        </p:nvSpPr>
        <p:spPr>
          <a:xfrm>
            <a:off x="8183880" y="1719072"/>
            <a:ext cx="246888" cy="310896"/>
          </a:xfrm>
          <a:prstGeom prst="roundRect">
            <a:avLst>
              <a:gd fmla="val 8000" name="adj"/>
            </a:avLst>
          </a:prstGeom>
          <a:solidFill>
            <a:srgbClr val="6F6F6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32" name="Google Shape;1432;p30"/>
          <p:cNvSpPr/>
          <p:nvPr/>
        </p:nvSpPr>
        <p:spPr>
          <a:xfrm>
            <a:off x="8458200" y="1719072"/>
            <a:ext cx="246888" cy="310896"/>
          </a:xfrm>
          <a:prstGeom prst="roundRect">
            <a:avLst>
              <a:gd fmla="val 8000" name="adj"/>
            </a:avLst>
          </a:prstGeom>
          <a:solidFill>
            <a:srgbClr val="C5C5C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33" name="Google Shape;1433;p30"/>
          <p:cNvSpPr/>
          <p:nvPr/>
        </p:nvSpPr>
        <p:spPr>
          <a:xfrm>
            <a:off x="7909560" y="2066543"/>
            <a:ext cx="246888" cy="310896"/>
          </a:xfrm>
          <a:prstGeom prst="roundRect">
            <a:avLst>
              <a:gd fmla="val 8000" name="adj"/>
            </a:avLst>
          </a:prstGeom>
          <a:solidFill>
            <a:srgbClr val="63636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34" name="Google Shape;1434;p30"/>
          <p:cNvSpPr/>
          <p:nvPr/>
        </p:nvSpPr>
        <p:spPr>
          <a:xfrm>
            <a:off x="8183880" y="2066543"/>
            <a:ext cx="246888" cy="310896"/>
          </a:xfrm>
          <a:prstGeom prst="roundRect">
            <a:avLst>
              <a:gd fmla="val 8000" name="adj"/>
            </a:avLst>
          </a:prstGeom>
          <a:solidFill>
            <a:srgbClr val="92929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35" name="Google Shape;1435;p30"/>
          <p:cNvSpPr/>
          <p:nvPr/>
        </p:nvSpPr>
        <p:spPr>
          <a:xfrm>
            <a:off x="8458200" y="2066543"/>
            <a:ext cx="246888" cy="310896"/>
          </a:xfrm>
          <a:prstGeom prst="roundRect">
            <a:avLst>
              <a:gd fmla="val 8000" name="adj"/>
            </a:avLst>
          </a:prstGeom>
          <a:solidFill>
            <a:srgbClr val="79797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36" name="Google Shape;1436;p30"/>
          <p:cNvSpPr/>
          <p:nvPr/>
        </p:nvSpPr>
        <p:spPr>
          <a:xfrm>
            <a:off x="457200" y="3749039"/>
            <a:ext cx="8229600" cy="502920"/>
          </a:xfrm>
          <a:prstGeom prst="roundRect">
            <a:avLst>
              <a:gd fmla="val 3500" name="adj"/>
            </a:avLst>
          </a:prstGeom>
          <a:solidFill>
            <a:srgbClr val="1B1B1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37" name="Google Shape;1437;p30"/>
          <p:cNvSpPr txBox="1"/>
          <p:nvPr/>
        </p:nvSpPr>
        <p:spPr>
          <a:xfrm>
            <a:off x="621792" y="3749039"/>
            <a:ext cx="7955279" cy="502920"/>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Same shape as everything today: </a:t>
            </a:r>
            <a:r>
              <a:rPr b="1" i="0" lang="en-US" sz="1200" u="none" cap="none" strike="noStrike">
                <a:solidFill>
                  <a:srgbClr val="76B900"/>
                </a:solidFill>
                <a:latin typeface="Arial"/>
                <a:ea typeface="Arial"/>
                <a:cs typeface="Arial"/>
                <a:sym typeface="Arial"/>
              </a:rPr>
              <a:t>index → (row, col) → compute → store.</a:t>
            </a:r>
            <a:endParaRPr/>
          </a:p>
        </p:txBody>
      </p:sp>
      <p:sp>
        <p:nvSpPr>
          <p:cNvPr id="1438" name="Google Shape;1438;p30"/>
          <p:cNvSpPr/>
          <p:nvPr/>
        </p:nvSpPr>
        <p:spPr>
          <a:xfrm>
            <a:off x="636879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30"/>
          <p:cNvSpPr/>
          <p:nvPr/>
        </p:nvSpPr>
        <p:spPr>
          <a:xfrm>
            <a:off x="644194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30"/>
          <p:cNvSpPr/>
          <p:nvPr/>
        </p:nvSpPr>
        <p:spPr>
          <a:xfrm>
            <a:off x="6515100"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30"/>
          <p:cNvSpPr/>
          <p:nvPr/>
        </p:nvSpPr>
        <p:spPr>
          <a:xfrm>
            <a:off x="6588252"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30"/>
          <p:cNvSpPr/>
          <p:nvPr/>
        </p:nvSpPr>
        <p:spPr>
          <a:xfrm>
            <a:off x="6661404"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30"/>
          <p:cNvSpPr/>
          <p:nvPr/>
        </p:nvSpPr>
        <p:spPr>
          <a:xfrm>
            <a:off x="673455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30"/>
          <p:cNvSpPr/>
          <p:nvPr/>
        </p:nvSpPr>
        <p:spPr>
          <a:xfrm>
            <a:off x="680770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30"/>
          <p:cNvSpPr/>
          <p:nvPr/>
        </p:nvSpPr>
        <p:spPr>
          <a:xfrm>
            <a:off x="6880860"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30"/>
          <p:cNvSpPr/>
          <p:nvPr/>
        </p:nvSpPr>
        <p:spPr>
          <a:xfrm>
            <a:off x="6954012"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30"/>
          <p:cNvSpPr/>
          <p:nvPr/>
        </p:nvSpPr>
        <p:spPr>
          <a:xfrm>
            <a:off x="7027164"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30"/>
          <p:cNvSpPr/>
          <p:nvPr/>
        </p:nvSpPr>
        <p:spPr>
          <a:xfrm>
            <a:off x="710031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30"/>
          <p:cNvSpPr/>
          <p:nvPr/>
        </p:nvSpPr>
        <p:spPr>
          <a:xfrm>
            <a:off x="717346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30"/>
          <p:cNvSpPr/>
          <p:nvPr/>
        </p:nvSpPr>
        <p:spPr>
          <a:xfrm>
            <a:off x="7246620"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30"/>
          <p:cNvSpPr/>
          <p:nvPr/>
        </p:nvSpPr>
        <p:spPr>
          <a:xfrm>
            <a:off x="7319772"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30"/>
          <p:cNvSpPr/>
          <p:nvPr/>
        </p:nvSpPr>
        <p:spPr>
          <a:xfrm>
            <a:off x="7392924"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30"/>
          <p:cNvSpPr/>
          <p:nvPr/>
        </p:nvSpPr>
        <p:spPr>
          <a:xfrm>
            <a:off x="746607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30"/>
          <p:cNvSpPr/>
          <p:nvPr/>
        </p:nvSpPr>
        <p:spPr>
          <a:xfrm>
            <a:off x="753922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30"/>
          <p:cNvSpPr/>
          <p:nvPr/>
        </p:nvSpPr>
        <p:spPr>
          <a:xfrm>
            <a:off x="7612380"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30"/>
          <p:cNvSpPr/>
          <p:nvPr/>
        </p:nvSpPr>
        <p:spPr>
          <a:xfrm>
            <a:off x="7685532"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30"/>
          <p:cNvSpPr/>
          <p:nvPr/>
        </p:nvSpPr>
        <p:spPr>
          <a:xfrm>
            <a:off x="7758684"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30"/>
          <p:cNvSpPr/>
          <p:nvPr/>
        </p:nvSpPr>
        <p:spPr>
          <a:xfrm>
            <a:off x="783183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30"/>
          <p:cNvSpPr/>
          <p:nvPr/>
        </p:nvSpPr>
        <p:spPr>
          <a:xfrm>
            <a:off x="790498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30"/>
          <p:cNvSpPr/>
          <p:nvPr/>
        </p:nvSpPr>
        <p:spPr>
          <a:xfrm>
            <a:off x="7978140"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30"/>
          <p:cNvSpPr/>
          <p:nvPr/>
        </p:nvSpPr>
        <p:spPr>
          <a:xfrm>
            <a:off x="8051292"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30"/>
          <p:cNvSpPr/>
          <p:nvPr/>
        </p:nvSpPr>
        <p:spPr>
          <a:xfrm>
            <a:off x="8124444"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30"/>
          <p:cNvSpPr/>
          <p:nvPr/>
        </p:nvSpPr>
        <p:spPr>
          <a:xfrm>
            <a:off x="819759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30"/>
          <p:cNvSpPr/>
          <p:nvPr/>
        </p:nvSpPr>
        <p:spPr>
          <a:xfrm>
            <a:off x="827074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30"/>
          <p:cNvSpPr/>
          <p:nvPr/>
        </p:nvSpPr>
        <p:spPr>
          <a:xfrm>
            <a:off x="8343900"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30"/>
          <p:cNvSpPr/>
          <p:nvPr/>
        </p:nvSpPr>
        <p:spPr>
          <a:xfrm>
            <a:off x="8417052"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30"/>
          <p:cNvSpPr/>
          <p:nvPr/>
        </p:nvSpPr>
        <p:spPr>
          <a:xfrm>
            <a:off x="8490204" y="4901184"/>
            <a:ext cx="50292" cy="50292"/>
          </a:xfrm>
          <a:prstGeom prst="rect">
            <a:avLst/>
          </a:prstGeom>
          <a:solidFill>
            <a:srgbClr val="5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30"/>
          <p:cNvSpPr/>
          <p:nvPr/>
        </p:nvSpPr>
        <p:spPr>
          <a:xfrm>
            <a:off x="8563356"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30"/>
          <p:cNvSpPr/>
          <p:nvPr/>
        </p:nvSpPr>
        <p:spPr>
          <a:xfrm>
            <a:off x="863650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30"/>
          <p:cNvSpPr txBox="1"/>
          <p:nvPr/>
        </p:nvSpPr>
        <p:spPr>
          <a:xfrm>
            <a:off x="5472684" y="4846320"/>
            <a:ext cx="822960" cy="15544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00" u="none" cap="none" strike="noStrike">
                <a:solidFill>
                  <a:srgbClr val="9A9AA0"/>
                </a:solidFill>
                <a:latin typeface="Consolas"/>
                <a:ea typeface="Consolas"/>
                <a:cs typeface="Consolas"/>
                <a:sym typeface="Consolas"/>
              </a:rPr>
              <a:t>slide[29]</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75" name="Shape 1475"/>
        <p:cNvGrpSpPr/>
        <p:nvPr/>
      </p:nvGrpSpPr>
      <p:grpSpPr>
        <a:xfrm>
          <a:off x="0" y="0"/>
          <a:ext cx="0" cy="0"/>
          <a:chOff x="0" y="0"/>
          <a:chExt cx="0" cy="0"/>
        </a:xfrm>
      </p:grpSpPr>
      <p:sp>
        <p:nvSpPr>
          <p:cNvPr id="1476" name="Google Shape;1476;p31"/>
          <p:cNvSpPr txBox="1"/>
          <p:nvPr/>
        </p:nvSpPr>
        <p:spPr>
          <a:xfrm>
            <a:off x="457200" y="320040"/>
            <a:ext cx="8229600" cy="54864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2800" u="none" cap="none" strike="noStrike">
                <a:solidFill>
                  <a:srgbClr val="500000"/>
                </a:solidFill>
                <a:latin typeface="Arial"/>
                <a:ea typeface="Arial"/>
                <a:cs typeface="Arial"/>
                <a:sym typeface="Arial"/>
              </a:rPr>
              <a:t>Today's toolbox</a:t>
            </a:r>
            <a:endParaRPr/>
          </a:p>
        </p:txBody>
      </p:sp>
      <p:sp>
        <p:nvSpPr>
          <p:cNvPr id="1477" name="Google Shape;1477;p31"/>
          <p:cNvSpPr/>
          <p:nvPr/>
        </p:nvSpPr>
        <p:spPr>
          <a:xfrm>
            <a:off x="457200" y="1051560"/>
            <a:ext cx="8229600" cy="548640"/>
          </a:xfrm>
          <a:prstGeom prst="roundRect">
            <a:avLst>
              <a:gd fmla="val 3500" name="adj"/>
            </a:avLst>
          </a:prstGeom>
          <a:solidFill>
            <a:srgbClr val="F7EEEE"/>
          </a:solidFill>
          <a:ln cap="flat" cmpd="sng" w="9525">
            <a:solidFill>
              <a:srgbClr val="E6D2D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78" name="Google Shape;1478;p31"/>
          <p:cNvSpPr txBox="1"/>
          <p:nvPr/>
        </p:nvSpPr>
        <p:spPr>
          <a:xfrm>
            <a:off x="594360" y="1051560"/>
            <a:ext cx="3017520" cy="548640"/>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1" i="0" lang="en-US" sz="1200" u="none" cap="none" strike="noStrike">
                <a:solidFill>
                  <a:srgbClr val="500000"/>
                </a:solidFill>
                <a:latin typeface="Consolas"/>
                <a:ea typeface="Consolas"/>
                <a:cs typeface="Consolas"/>
                <a:sym typeface="Consolas"/>
              </a:rPr>
              <a:t>thrust::sort / reduce</a:t>
            </a:r>
            <a:endParaRPr/>
          </a:p>
        </p:txBody>
      </p:sp>
      <p:sp>
        <p:nvSpPr>
          <p:cNvPr id="1479" name="Google Shape;1479;p31"/>
          <p:cNvSpPr txBox="1"/>
          <p:nvPr/>
        </p:nvSpPr>
        <p:spPr>
          <a:xfrm>
            <a:off x="3657600" y="1051560"/>
            <a:ext cx="4937760" cy="548640"/>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0" i="0" lang="en-US" sz="1100" u="none" cap="none" strike="noStrike">
                <a:solidFill>
                  <a:srgbClr val="2B2B2B"/>
                </a:solidFill>
                <a:latin typeface="Arial"/>
                <a:ea typeface="Arial"/>
                <a:cs typeface="Arial"/>
                <a:sym typeface="Arial"/>
              </a:rPr>
              <a:t>std:: algorithms on the GPU: swap the namespace, add the policy</a:t>
            </a:r>
            <a:endParaRPr/>
          </a:p>
        </p:txBody>
      </p:sp>
      <p:sp>
        <p:nvSpPr>
          <p:cNvPr id="1480" name="Google Shape;1480;p31"/>
          <p:cNvSpPr/>
          <p:nvPr/>
        </p:nvSpPr>
        <p:spPr>
          <a:xfrm>
            <a:off x="457200" y="1673352"/>
            <a:ext cx="8229600" cy="548640"/>
          </a:xfrm>
          <a:prstGeom prst="roundRect">
            <a:avLst>
              <a:gd fmla="val 3500" name="adj"/>
            </a:avLst>
          </a:prstGeom>
          <a:solidFill>
            <a:srgbClr val="F2F8E8"/>
          </a:solidFill>
          <a:ln cap="flat" cmpd="sng" w="9525">
            <a:solidFill>
              <a:srgbClr val="D8E8B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81" name="Google Shape;1481;p31"/>
          <p:cNvSpPr txBox="1"/>
          <p:nvPr/>
        </p:nvSpPr>
        <p:spPr>
          <a:xfrm>
            <a:off x="594360" y="1673352"/>
            <a:ext cx="3017520" cy="548640"/>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1" i="0" lang="en-US" sz="1200" u="none" cap="none" strike="noStrike">
                <a:solidFill>
                  <a:srgbClr val="4E7A00"/>
                </a:solidFill>
                <a:latin typeface="Consolas"/>
                <a:ea typeface="Consolas"/>
                <a:cs typeface="Consolas"/>
                <a:sym typeface="Consolas"/>
              </a:rPr>
              <a:t>zip + transform iterators</a:t>
            </a:r>
            <a:endParaRPr/>
          </a:p>
        </p:txBody>
      </p:sp>
      <p:sp>
        <p:nvSpPr>
          <p:cNvPr id="1482" name="Google Shape;1482;p31"/>
          <p:cNvSpPr txBox="1"/>
          <p:nvPr/>
        </p:nvSpPr>
        <p:spPr>
          <a:xfrm>
            <a:off x="3657600" y="1673352"/>
            <a:ext cx="4937760" cy="548640"/>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0" i="0" lang="en-US" sz="1100" u="none" cap="none" strike="noStrike">
                <a:solidFill>
                  <a:srgbClr val="2B2B2B"/>
                </a:solidFill>
                <a:latin typeface="Arial"/>
                <a:ea typeface="Arial"/>
                <a:cs typeface="Arial"/>
                <a:sym typeface="Arial"/>
              </a:rPr>
              <a:t>Build custom algorithms from library ones without temporary vectors</a:t>
            </a:r>
            <a:endParaRPr/>
          </a:p>
        </p:txBody>
      </p:sp>
      <p:sp>
        <p:nvSpPr>
          <p:cNvPr id="1483" name="Google Shape;1483;p31"/>
          <p:cNvSpPr/>
          <p:nvPr/>
        </p:nvSpPr>
        <p:spPr>
          <a:xfrm>
            <a:off x="457200" y="2295144"/>
            <a:ext cx="8229600" cy="548640"/>
          </a:xfrm>
          <a:prstGeom prst="roundRect">
            <a:avLst>
              <a:gd fmla="val 3500" name="adj"/>
            </a:avLst>
          </a:prstGeom>
          <a:solidFill>
            <a:srgbClr val="F5F5F6"/>
          </a:solidFill>
          <a:ln cap="flat" cmpd="sng" w="9525">
            <a:solidFill>
              <a:srgbClr val="E2E2E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84" name="Google Shape;1484;p31"/>
          <p:cNvSpPr txBox="1"/>
          <p:nvPr/>
        </p:nvSpPr>
        <p:spPr>
          <a:xfrm>
            <a:off x="594360" y="2295144"/>
            <a:ext cx="3017520" cy="548640"/>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1" i="0" lang="en-US" sz="1200" u="none" cap="none" strike="noStrike">
                <a:solidFill>
                  <a:srgbClr val="2B2B2B"/>
                </a:solidFill>
                <a:latin typeface="Consolas"/>
                <a:ea typeface="Consolas"/>
                <a:cs typeface="Consolas"/>
                <a:sym typeface="Consolas"/>
              </a:rPr>
              <a:t>Count memory trips</a:t>
            </a:r>
            <a:endParaRPr/>
          </a:p>
        </p:txBody>
      </p:sp>
      <p:sp>
        <p:nvSpPr>
          <p:cNvPr id="1485" name="Google Shape;1485;p31"/>
          <p:cNvSpPr txBox="1"/>
          <p:nvPr/>
        </p:nvSpPr>
        <p:spPr>
          <a:xfrm>
            <a:off x="3657600" y="2295144"/>
            <a:ext cx="4937760" cy="548640"/>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0" i="0" lang="en-US" sz="1100" u="none" cap="none" strike="noStrike">
                <a:solidFill>
                  <a:srgbClr val="2B2B2B"/>
                </a:solidFill>
                <a:latin typeface="Arial"/>
                <a:ea typeface="Arial"/>
                <a:cs typeface="Arial"/>
                <a:sym typeface="Arial"/>
              </a:rPr>
              <a:t>GPU code is usually memory bound: fewer reads/writes = faster</a:t>
            </a:r>
            <a:endParaRPr/>
          </a:p>
        </p:txBody>
      </p:sp>
      <p:sp>
        <p:nvSpPr>
          <p:cNvPr id="1486" name="Google Shape;1486;p31"/>
          <p:cNvSpPr/>
          <p:nvPr/>
        </p:nvSpPr>
        <p:spPr>
          <a:xfrm>
            <a:off x="457200" y="2916936"/>
            <a:ext cx="8229600" cy="548640"/>
          </a:xfrm>
          <a:prstGeom prst="roundRect">
            <a:avLst>
              <a:gd fmla="val 3500" name="adj"/>
            </a:avLst>
          </a:prstGeom>
          <a:solidFill>
            <a:srgbClr val="F7EEEE"/>
          </a:solidFill>
          <a:ln cap="flat" cmpd="sng" w="9525">
            <a:solidFill>
              <a:srgbClr val="E6D2D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87" name="Google Shape;1487;p31"/>
          <p:cNvSpPr txBox="1"/>
          <p:nvPr/>
        </p:nvSpPr>
        <p:spPr>
          <a:xfrm>
            <a:off x="594360" y="2916936"/>
            <a:ext cx="3017520" cy="548640"/>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1" i="0" lang="en-US" sz="1200" u="none" cap="none" strike="noStrike">
                <a:solidFill>
                  <a:srgbClr val="500000"/>
                </a:solidFill>
                <a:latin typeface="Consolas"/>
                <a:ea typeface="Consolas"/>
                <a:cs typeface="Consolas"/>
                <a:sym typeface="Consolas"/>
              </a:rPr>
              <a:t>thrust::tabulate</a:t>
            </a:r>
            <a:endParaRPr/>
          </a:p>
        </p:txBody>
      </p:sp>
      <p:sp>
        <p:nvSpPr>
          <p:cNvPr id="1488" name="Google Shape;1488;p31"/>
          <p:cNvSpPr txBox="1"/>
          <p:nvPr/>
        </p:nvSpPr>
        <p:spPr>
          <a:xfrm>
            <a:off x="3657600" y="2916936"/>
            <a:ext cx="4937760" cy="548640"/>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0" i="0" lang="en-US" sz="1100" u="none" cap="none" strike="noStrike">
                <a:solidFill>
                  <a:srgbClr val="2B2B2B"/>
                </a:solidFill>
                <a:latin typeface="Arial"/>
                <a:ea typeface="Arial"/>
                <a:cs typeface="Arial"/>
                <a:sym typeface="Arial"/>
              </a:rPr>
              <a:t>Call f(index) for every output element: one thread per cell or pixel</a:t>
            </a:r>
            <a:endParaRPr/>
          </a:p>
        </p:txBody>
      </p:sp>
      <p:sp>
        <p:nvSpPr>
          <p:cNvPr id="1489" name="Google Shape;1489;p31"/>
          <p:cNvSpPr/>
          <p:nvPr/>
        </p:nvSpPr>
        <p:spPr>
          <a:xfrm>
            <a:off x="457200" y="3538728"/>
            <a:ext cx="8229600" cy="548640"/>
          </a:xfrm>
          <a:prstGeom prst="roundRect">
            <a:avLst>
              <a:gd fmla="val 3500" name="adj"/>
            </a:avLst>
          </a:prstGeom>
          <a:solidFill>
            <a:srgbClr val="F2F8E8"/>
          </a:solidFill>
          <a:ln cap="flat" cmpd="sng" w="9525">
            <a:solidFill>
              <a:srgbClr val="D8E8B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90" name="Google Shape;1490;p31"/>
          <p:cNvSpPr txBox="1"/>
          <p:nvPr/>
        </p:nvSpPr>
        <p:spPr>
          <a:xfrm>
            <a:off x="594360" y="3538728"/>
            <a:ext cx="3017520" cy="548640"/>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1" i="0" lang="en-US" sz="1200" u="none" cap="none" strike="noStrike">
                <a:solidFill>
                  <a:srgbClr val="4E7A00"/>
                </a:solidFill>
                <a:latin typeface="Consolas"/>
                <a:ea typeface="Consolas"/>
                <a:cs typeface="Consolas"/>
                <a:sym typeface="Consolas"/>
              </a:rPr>
              <a:t>cuda::std::pair, mdspan</a:t>
            </a:r>
            <a:endParaRPr/>
          </a:p>
        </p:txBody>
      </p:sp>
      <p:sp>
        <p:nvSpPr>
          <p:cNvPr id="1491" name="Google Shape;1491;p31"/>
          <p:cNvSpPr txBox="1"/>
          <p:nvPr/>
        </p:nvSpPr>
        <p:spPr>
          <a:xfrm>
            <a:off x="3657600" y="3538728"/>
            <a:ext cx="4937760" cy="548640"/>
          </a:xfrm>
          <a:prstGeom prst="rect">
            <a:avLst/>
          </a:prstGeom>
          <a:noFill/>
          <a:ln>
            <a:noFill/>
          </a:ln>
        </p:spPr>
        <p:txBody>
          <a:bodyPr anchorCtr="0" anchor="ctr" bIns="18275" lIns="36575" spcFirstLastPara="1" rIns="36575" wrap="square" tIns="18275">
            <a:spAutoFit/>
          </a:bodyPr>
          <a:lstStyle/>
          <a:p>
            <a:pPr indent="0" lvl="0" marL="0" marR="0" rtl="0" algn="l">
              <a:lnSpc>
                <a:spcPct val="100000"/>
              </a:lnSpc>
              <a:spcBef>
                <a:spcPts val="0"/>
              </a:spcBef>
              <a:spcAft>
                <a:spcPts val="0"/>
              </a:spcAft>
              <a:buNone/>
            </a:pPr>
            <a:r>
              <a:rPr b="0" i="0" lang="en-US" sz="1100" u="none" cap="none" strike="noStrike">
                <a:solidFill>
                  <a:srgbClr val="2B2B2B"/>
                </a:solidFill>
                <a:latin typeface="Arial"/>
                <a:ea typeface="Arial"/>
                <a:cs typeface="Arial"/>
                <a:sym typeface="Arial"/>
              </a:rPr>
              <a:t>GPU-ready standard types. md(row, col) instead of pointer math</a:t>
            </a:r>
            <a:endParaRPr/>
          </a:p>
        </p:txBody>
      </p:sp>
      <p:sp>
        <p:nvSpPr>
          <p:cNvPr id="1492" name="Google Shape;1492;p31"/>
          <p:cNvSpPr/>
          <p:nvPr/>
        </p:nvSpPr>
        <p:spPr>
          <a:xfrm>
            <a:off x="636879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31"/>
          <p:cNvSpPr/>
          <p:nvPr/>
        </p:nvSpPr>
        <p:spPr>
          <a:xfrm>
            <a:off x="644194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31"/>
          <p:cNvSpPr/>
          <p:nvPr/>
        </p:nvSpPr>
        <p:spPr>
          <a:xfrm>
            <a:off x="6515100"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31"/>
          <p:cNvSpPr/>
          <p:nvPr/>
        </p:nvSpPr>
        <p:spPr>
          <a:xfrm>
            <a:off x="6588252"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31"/>
          <p:cNvSpPr/>
          <p:nvPr/>
        </p:nvSpPr>
        <p:spPr>
          <a:xfrm>
            <a:off x="6661404"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31"/>
          <p:cNvSpPr/>
          <p:nvPr/>
        </p:nvSpPr>
        <p:spPr>
          <a:xfrm>
            <a:off x="673455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31"/>
          <p:cNvSpPr/>
          <p:nvPr/>
        </p:nvSpPr>
        <p:spPr>
          <a:xfrm>
            <a:off x="680770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31"/>
          <p:cNvSpPr/>
          <p:nvPr/>
        </p:nvSpPr>
        <p:spPr>
          <a:xfrm>
            <a:off x="6880860"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31"/>
          <p:cNvSpPr/>
          <p:nvPr/>
        </p:nvSpPr>
        <p:spPr>
          <a:xfrm>
            <a:off x="6954012"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31"/>
          <p:cNvSpPr/>
          <p:nvPr/>
        </p:nvSpPr>
        <p:spPr>
          <a:xfrm>
            <a:off x="7027164"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31"/>
          <p:cNvSpPr/>
          <p:nvPr/>
        </p:nvSpPr>
        <p:spPr>
          <a:xfrm>
            <a:off x="710031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31"/>
          <p:cNvSpPr/>
          <p:nvPr/>
        </p:nvSpPr>
        <p:spPr>
          <a:xfrm>
            <a:off x="717346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31"/>
          <p:cNvSpPr/>
          <p:nvPr/>
        </p:nvSpPr>
        <p:spPr>
          <a:xfrm>
            <a:off x="7246620"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31"/>
          <p:cNvSpPr/>
          <p:nvPr/>
        </p:nvSpPr>
        <p:spPr>
          <a:xfrm>
            <a:off x="7319772"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31"/>
          <p:cNvSpPr/>
          <p:nvPr/>
        </p:nvSpPr>
        <p:spPr>
          <a:xfrm>
            <a:off x="7392924"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31"/>
          <p:cNvSpPr/>
          <p:nvPr/>
        </p:nvSpPr>
        <p:spPr>
          <a:xfrm>
            <a:off x="746607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8" name="Google Shape;1508;p31"/>
          <p:cNvSpPr/>
          <p:nvPr/>
        </p:nvSpPr>
        <p:spPr>
          <a:xfrm>
            <a:off x="753922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31"/>
          <p:cNvSpPr/>
          <p:nvPr/>
        </p:nvSpPr>
        <p:spPr>
          <a:xfrm>
            <a:off x="7612380"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31"/>
          <p:cNvSpPr/>
          <p:nvPr/>
        </p:nvSpPr>
        <p:spPr>
          <a:xfrm>
            <a:off x="7685532"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31"/>
          <p:cNvSpPr/>
          <p:nvPr/>
        </p:nvSpPr>
        <p:spPr>
          <a:xfrm>
            <a:off x="7758684"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31"/>
          <p:cNvSpPr/>
          <p:nvPr/>
        </p:nvSpPr>
        <p:spPr>
          <a:xfrm>
            <a:off x="783183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31"/>
          <p:cNvSpPr/>
          <p:nvPr/>
        </p:nvSpPr>
        <p:spPr>
          <a:xfrm>
            <a:off x="790498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31"/>
          <p:cNvSpPr/>
          <p:nvPr/>
        </p:nvSpPr>
        <p:spPr>
          <a:xfrm>
            <a:off x="7978140"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31"/>
          <p:cNvSpPr/>
          <p:nvPr/>
        </p:nvSpPr>
        <p:spPr>
          <a:xfrm>
            <a:off x="8051292"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31"/>
          <p:cNvSpPr/>
          <p:nvPr/>
        </p:nvSpPr>
        <p:spPr>
          <a:xfrm>
            <a:off x="8124444"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31"/>
          <p:cNvSpPr/>
          <p:nvPr/>
        </p:nvSpPr>
        <p:spPr>
          <a:xfrm>
            <a:off x="8197596"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31"/>
          <p:cNvSpPr/>
          <p:nvPr/>
        </p:nvSpPr>
        <p:spPr>
          <a:xfrm>
            <a:off x="8270748"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31"/>
          <p:cNvSpPr/>
          <p:nvPr/>
        </p:nvSpPr>
        <p:spPr>
          <a:xfrm>
            <a:off x="8343900"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31"/>
          <p:cNvSpPr/>
          <p:nvPr/>
        </p:nvSpPr>
        <p:spPr>
          <a:xfrm>
            <a:off x="8417052"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p31"/>
          <p:cNvSpPr/>
          <p:nvPr/>
        </p:nvSpPr>
        <p:spPr>
          <a:xfrm>
            <a:off x="8490204" y="4901184"/>
            <a:ext cx="50292" cy="50292"/>
          </a:xfrm>
          <a:prstGeom prst="rect">
            <a:avLst/>
          </a:prstGeom>
          <a:solidFill>
            <a:srgbClr val="D9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31"/>
          <p:cNvSpPr/>
          <p:nvPr/>
        </p:nvSpPr>
        <p:spPr>
          <a:xfrm>
            <a:off x="8563356" y="4901184"/>
            <a:ext cx="50292" cy="50292"/>
          </a:xfrm>
          <a:prstGeom prst="rect">
            <a:avLst/>
          </a:prstGeom>
          <a:solidFill>
            <a:srgbClr val="5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31"/>
          <p:cNvSpPr/>
          <p:nvPr/>
        </p:nvSpPr>
        <p:spPr>
          <a:xfrm>
            <a:off x="8636508" y="4901184"/>
            <a:ext cx="50292" cy="50292"/>
          </a:xfrm>
          <a:prstGeom prst="rect">
            <a:avLst/>
          </a:prstGeom>
          <a:solidFill>
            <a:srgbClr val="E6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31"/>
          <p:cNvSpPr txBox="1"/>
          <p:nvPr/>
        </p:nvSpPr>
        <p:spPr>
          <a:xfrm>
            <a:off x="5472684" y="4846320"/>
            <a:ext cx="822960" cy="15544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00" u="none" cap="none" strike="noStrike">
                <a:solidFill>
                  <a:srgbClr val="9A9AA0"/>
                </a:solidFill>
                <a:latin typeface="Consolas"/>
                <a:ea typeface="Consolas"/>
                <a:cs typeface="Consolas"/>
                <a:sym typeface="Consolas"/>
              </a:rPr>
              <a:t>slide[30]</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1B1D"/>
        </a:solidFill>
      </p:bgPr>
    </p:bg>
    <p:spTree>
      <p:nvGrpSpPr>
        <p:cNvPr id="1529" name="Shape 1529"/>
        <p:cNvGrpSpPr/>
        <p:nvPr/>
      </p:nvGrpSpPr>
      <p:grpSpPr>
        <a:xfrm>
          <a:off x="0" y="0"/>
          <a:ext cx="0" cy="0"/>
          <a:chOff x="0" y="0"/>
          <a:chExt cx="0" cy="0"/>
        </a:xfrm>
      </p:grpSpPr>
      <p:sp>
        <p:nvSpPr>
          <p:cNvPr id="1530" name="Google Shape;1530;p32"/>
          <p:cNvSpPr txBox="1"/>
          <p:nvPr/>
        </p:nvSpPr>
        <p:spPr>
          <a:xfrm>
            <a:off x="457200" y="320040"/>
            <a:ext cx="8229600" cy="54864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2800" u="none" cap="none" strike="noStrike">
                <a:solidFill>
                  <a:srgbClr val="FFFFFF"/>
                </a:solidFill>
                <a:latin typeface="Arial"/>
                <a:ea typeface="Arial"/>
                <a:cs typeface="Arial"/>
                <a:sym typeface="Arial"/>
              </a:rPr>
              <a:t>The road ahead</a:t>
            </a:r>
            <a:endParaRPr/>
          </a:p>
        </p:txBody>
      </p:sp>
      <p:sp>
        <p:nvSpPr>
          <p:cNvPr id="1531" name="Google Shape;1531;p32"/>
          <p:cNvSpPr/>
          <p:nvPr/>
        </p:nvSpPr>
        <p:spPr>
          <a:xfrm>
            <a:off x="822960" y="1307592"/>
            <a:ext cx="7498079" cy="36576"/>
          </a:xfrm>
          <a:prstGeom prst="roundRect">
            <a:avLst>
              <a:gd fmla="val 3500" name="adj"/>
            </a:avLst>
          </a:prstGeom>
          <a:solidFill>
            <a:srgbClr val="6E6E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32" name="Google Shape;1532;p32"/>
          <p:cNvSpPr/>
          <p:nvPr/>
        </p:nvSpPr>
        <p:spPr>
          <a:xfrm>
            <a:off x="731520" y="1161288"/>
            <a:ext cx="329184" cy="329184"/>
          </a:xfrm>
          <a:prstGeom prst="ellipse">
            <a:avLst/>
          </a:prstGeom>
          <a:solidFill>
            <a:srgbClr val="6E6E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33" name="Google Shape;1533;p32"/>
          <p:cNvSpPr txBox="1"/>
          <p:nvPr/>
        </p:nvSpPr>
        <p:spPr>
          <a:xfrm>
            <a:off x="548640" y="1645920"/>
            <a:ext cx="1920240" cy="32004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Thrust</a:t>
            </a:r>
            <a:endParaRPr/>
          </a:p>
        </p:txBody>
      </p:sp>
      <p:sp>
        <p:nvSpPr>
          <p:cNvPr id="1534" name="Google Shape;1534;p32"/>
          <p:cNvSpPr txBox="1"/>
          <p:nvPr/>
        </p:nvSpPr>
        <p:spPr>
          <a:xfrm>
            <a:off x="548640" y="1993392"/>
            <a:ext cx="1920240" cy="73152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0" i="0" lang="en-US" sz="1050" u="none" cap="none" strike="noStrike">
                <a:solidFill>
                  <a:srgbClr val="BDBDBD"/>
                </a:solidFill>
                <a:latin typeface="Arial"/>
                <a:ea typeface="Arial"/>
                <a:cs typeface="Arial"/>
                <a:sym typeface="Arial"/>
              </a:rPr>
              <a:t>Host vs device, std:: to thrust::</a:t>
            </a:r>
            <a:endParaRPr/>
          </a:p>
        </p:txBody>
      </p:sp>
      <p:sp>
        <p:nvSpPr>
          <p:cNvPr id="1535" name="Google Shape;1535;p32"/>
          <p:cNvSpPr/>
          <p:nvPr/>
        </p:nvSpPr>
        <p:spPr>
          <a:xfrm>
            <a:off x="2834640" y="1161288"/>
            <a:ext cx="329184" cy="329184"/>
          </a:xfrm>
          <a:prstGeom prst="ellipse">
            <a:avLst/>
          </a:prstGeom>
          <a:solidFill>
            <a:srgbClr val="76B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36" name="Google Shape;1536;p32"/>
          <p:cNvSpPr txBox="1"/>
          <p:nvPr/>
        </p:nvSpPr>
        <p:spPr>
          <a:xfrm>
            <a:off x="2651760" y="1645920"/>
            <a:ext cx="1920240" cy="32004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1300" u="none" cap="none" strike="noStrike">
                <a:solidFill>
                  <a:srgbClr val="76B900"/>
                </a:solidFill>
                <a:latin typeface="Arial"/>
                <a:ea typeface="Arial"/>
                <a:cs typeface="Arial"/>
                <a:sym typeface="Arial"/>
              </a:rPr>
              <a:t>Iterators &amp; mdspan</a:t>
            </a:r>
            <a:endParaRPr/>
          </a:p>
        </p:txBody>
      </p:sp>
      <p:sp>
        <p:nvSpPr>
          <p:cNvPr id="1537" name="Google Shape;1537;p32"/>
          <p:cNvSpPr txBox="1"/>
          <p:nvPr/>
        </p:nvSpPr>
        <p:spPr>
          <a:xfrm>
            <a:off x="2651760" y="1993392"/>
            <a:ext cx="1920240" cy="73152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0" i="0" lang="en-US" sz="1050" u="none" cap="none" strike="noStrike">
                <a:solidFill>
                  <a:srgbClr val="BDBDBD"/>
                </a:solidFill>
                <a:latin typeface="Arial"/>
                <a:ea typeface="Arial"/>
                <a:cs typeface="Arial"/>
                <a:sym typeface="Arial"/>
              </a:rPr>
              <a:t>Fancy iterators, tabulate, 2D data (today)</a:t>
            </a:r>
            <a:endParaRPr/>
          </a:p>
        </p:txBody>
      </p:sp>
      <p:sp>
        <p:nvSpPr>
          <p:cNvPr id="1538" name="Google Shape;1538;p32"/>
          <p:cNvSpPr/>
          <p:nvPr/>
        </p:nvSpPr>
        <p:spPr>
          <a:xfrm>
            <a:off x="4937759" y="1161288"/>
            <a:ext cx="329184" cy="329184"/>
          </a:xfrm>
          <a:prstGeom prst="ellipse">
            <a:avLst/>
          </a:prstGeom>
          <a:solidFill>
            <a:srgbClr val="5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39" name="Google Shape;1539;p32"/>
          <p:cNvSpPr txBox="1"/>
          <p:nvPr/>
        </p:nvSpPr>
        <p:spPr>
          <a:xfrm>
            <a:off x="4754879" y="1645920"/>
            <a:ext cx="1920240" cy="32004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Serial vs parallel</a:t>
            </a:r>
            <a:endParaRPr/>
          </a:p>
        </p:txBody>
      </p:sp>
      <p:sp>
        <p:nvSpPr>
          <p:cNvPr id="1540" name="Google Shape;1540;p32"/>
          <p:cNvSpPr txBox="1"/>
          <p:nvPr/>
        </p:nvSpPr>
        <p:spPr>
          <a:xfrm>
            <a:off x="4754879" y="1993392"/>
            <a:ext cx="1920240" cy="73152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0" i="0" lang="en-US" sz="1050" u="none" cap="none" strike="noStrike">
                <a:solidFill>
                  <a:srgbClr val="BDBDBD"/>
                </a:solidFill>
                <a:latin typeface="Arial"/>
                <a:ea typeface="Arial"/>
                <a:cs typeface="Arial"/>
                <a:sym typeface="Arial"/>
              </a:rPr>
              <a:t>Why a for-loop inside a GPU lambda is slow. reduce_by_key</a:t>
            </a:r>
            <a:endParaRPr/>
          </a:p>
        </p:txBody>
      </p:sp>
      <p:sp>
        <p:nvSpPr>
          <p:cNvPr id="1541" name="Google Shape;1541;p32"/>
          <p:cNvSpPr/>
          <p:nvPr/>
        </p:nvSpPr>
        <p:spPr>
          <a:xfrm>
            <a:off x="7040879" y="1161288"/>
            <a:ext cx="329184" cy="329184"/>
          </a:xfrm>
          <a:prstGeom prst="ellipse">
            <a:avLst/>
          </a:prstGeom>
          <a:solidFill>
            <a:srgbClr val="5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42" name="Google Shape;1542;p32"/>
          <p:cNvSpPr txBox="1"/>
          <p:nvPr/>
        </p:nvSpPr>
        <p:spPr>
          <a:xfrm>
            <a:off x="6857999" y="1645920"/>
            <a:ext cx="1920300" cy="23700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Grayscale </a:t>
            </a:r>
            <a:endParaRPr/>
          </a:p>
        </p:txBody>
      </p:sp>
      <p:sp>
        <p:nvSpPr>
          <p:cNvPr id="1543" name="Google Shape;1543;p32"/>
          <p:cNvSpPr txBox="1"/>
          <p:nvPr/>
        </p:nvSpPr>
        <p:spPr>
          <a:xfrm>
            <a:off x="6857999" y="1993392"/>
            <a:ext cx="1920300" cy="19860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lang="en-US" sz="1050">
                <a:solidFill>
                  <a:srgbClr val="BDBDBD"/>
                </a:solidFill>
              </a:rPr>
              <a:t>Simple image project</a:t>
            </a:r>
            <a:endParaRPr/>
          </a:p>
        </p:txBody>
      </p:sp>
      <p:sp>
        <p:nvSpPr>
          <p:cNvPr id="1544" name="Google Shape;1544;p32"/>
          <p:cNvSpPr/>
          <p:nvPr/>
        </p:nvSpPr>
        <p:spPr>
          <a:xfrm>
            <a:off x="457200" y="3154680"/>
            <a:ext cx="8229600" cy="1188720"/>
          </a:xfrm>
          <a:prstGeom prst="roundRect">
            <a:avLst>
              <a:gd fmla="val 3500" name="adj"/>
            </a:avLst>
          </a:prstGeom>
          <a:solidFill>
            <a:srgbClr val="5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45" name="Google Shape;1545;p32"/>
          <p:cNvSpPr txBox="1"/>
          <p:nvPr/>
        </p:nvSpPr>
        <p:spPr>
          <a:xfrm>
            <a:off x="685800" y="3246120"/>
            <a:ext cx="7772400" cy="688500"/>
          </a:xfrm>
          <a:prstGeom prst="rect">
            <a:avLst/>
          </a:prstGeom>
          <a:noFill/>
          <a:ln>
            <a:noFill/>
          </a:ln>
        </p:spPr>
        <p:txBody>
          <a:bodyPr anchorCtr="0" anchor="t" bIns="18275" lIns="36575" spcFirstLastPara="1" rIns="36575" wrap="square" tIns="18275">
            <a:spAutoFit/>
          </a:bodyPr>
          <a:lstStyle/>
          <a:p>
            <a:pPr indent="0" lvl="0" marL="0" marR="0" rtl="0" algn="l">
              <a:lnSpc>
                <a:spcPct val="100000"/>
              </a:lnSpc>
              <a:spcBef>
                <a:spcPts val="0"/>
              </a:spcBef>
              <a:spcAft>
                <a:spcPts val="0"/>
              </a:spcAft>
              <a:buNone/>
            </a:pPr>
            <a:r>
              <a:rPr b="1" i="0" lang="en-US" sz="1500" u="none" cap="none" strike="noStrike">
                <a:solidFill>
                  <a:srgbClr val="FFFFFF"/>
                </a:solidFill>
                <a:latin typeface="Arial"/>
                <a:ea typeface="Arial"/>
                <a:cs typeface="Arial"/>
                <a:sym typeface="Arial"/>
              </a:rPr>
              <a:t>Before next meeting</a:t>
            </a:r>
            <a:endParaRPr/>
          </a:p>
          <a:p>
            <a:pPr indent="0" lvl="0" marL="0" marR="0" rtl="0" algn="l">
              <a:lnSpc>
                <a:spcPct val="100000"/>
              </a:lnSpc>
              <a:spcBef>
                <a:spcPts val="400"/>
              </a:spcBef>
              <a:spcAft>
                <a:spcPts val="0"/>
              </a:spcAft>
              <a:buNone/>
            </a:pPr>
            <a:r>
              <a:rPr b="0" i="0" lang="en-US" sz="1200" u="none" cap="none" strike="noStrike">
                <a:solidFill>
                  <a:srgbClr val="FFFFFF"/>
                </a:solidFill>
                <a:latin typeface="Arial"/>
                <a:ea typeface="Arial"/>
                <a:cs typeface="Arial"/>
                <a:sym typeface="Arial"/>
              </a:rPr>
              <a:t>Finish Exercises </a:t>
            </a:r>
            <a:r>
              <a:rPr lang="en-US" sz="1200">
                <a:solidFill>
                  <a:srgbClr val="FFFFFF"/>
                </a:solidFill>
              </a:rPr>
              <a:t>4-5 </a:t>
            </a:r>
            <a:r>
              <a:rPr b="0" i="0" lang="en-US" sz="1200" u="none" cap="none" strike="noStrike">
                <a:solidFill>
                  <a:srgbClr val="FFFFFF"/>
                </a:solidFill>
                <a:latin typeface="Arial"/>
                <a:ea typeface="Arial"/>
                <a:cs typeface="Arial"/>
                <a:sym typeface="Arial"/>
              </a:rPr>
              <a:t>if you didn't get to them</a:t>
            </a:r>
            <a:r>
              <a:rPr lang="en-US" sz="1200">
                <a:solidFill>
                  <a:srgbClr val="FFFFFF"/>
                </a:solidFill>
              </a:rPr>
              <a:t>. Try and make a pull request for github pushing answers for the exercises. Instructions in top of #resources in discord.</a:t>
            </a:r>
            <a:endParaRPr/>
          </a:p>
        </p:txBody>
      </p:sp>
      <p:sp>
        <p:nvSpPr>
          <p:cNvPr id="1546" name="Google Shape;1546;p32"/>
          <p:cNvSpPr/>
          <p:nvPr/>
        </p:nvSpPr>
        <p:spPr>
          <a:xfrm>
            <a:off x="6368796" y="4901184"/>
            <a:ext cx="50292" cy="50292"/>
          </a:xfrm>
          <a:prstGeom prst="rect">
            <a:avLst/>
          </a:prstGeom>
          <a:solidFill>
            <a:srgbClr val="5A3A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32"/>
          <p:cNvSpPr/>
          <p:nvPr/>
        </p:nvSpPr>
        <p:spPr>
          <a:xfrm>
            <a:off x="6441948" y="4901184"/>
            <a:ext cx="50292" cy="50292"/>
          </a:xfrm>
          <a:prstGeom prst="rect">
            <a:avLst/>
          </a:prstGeom>
          <a:solidFill>
            <a:srgbClr val="5A3A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32"/>
          <p:cNvSpPr/>
          <p:nvPr/>
        </p:nvSpPr>
        <p:spPr>
          <a:xfrm>
            <a:off x="6515100" y="4901184"/>
            <a:ext cx="50292" cy="50292"/>
          </a:xfrm>
          <a:prstGeom prst="rect">
            <a:avLst/>
          </a:prstGeom>
          <a:solidFill>
            <a:srgbClr val="5A3A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32"/>
          <p:cNvSpPr/>
          <p:nvPr/>
        </p:nvSpPr>
        <p:spPr>
          <a:xfrm>
            <a:off x="6588252" y="4901184"/>
            <a:ext cx="50292" cy="50292"/>
          </a:xfrm>
          <a:prstGeom prst="rect">
            <a:avLst/>
          </a:prstGeom>
          <a:solidFill>
            <a:srgbClr val="5A3A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32"/>
          <p:cNvSpPr/>
          <p:nvPr/>
        </p:nvSpPr>
        <p:spPr>
          <a:xfrm>
            <a:off x="6661404" y="4901184"/>
            <a:ext cx="50292" cy="50292"/>
          </a:xfrm>
          <a:prstGeom prst="rect">
            <a:avLst/>
          </a:prstGeom>
          <a:solidFill>
            <a:srgbClr val="5A3A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32"/>
          <p:cNvSpPr/>
          <p:nvPr/>
        </p:nvSpPr>
        <p:spPr>
          <a:xfrm>
            <a:off x="6734556" y="4901184"/>
            <a:ext cx="50292" cy="50292"/>
          </a:xfrm>
          <a:prstGeom prst="rect">
            <a:avLst/>
          </a:prstGeom>
          <a:solidFill>
            <a:srgbClr val="5A3A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32"/>
          <p:cNvSpPr/>
          <p:nvPr/>
        </p:nvSpPr>
        <p:spPr>
          <a:xfrm>
            <a:off x="6807708" y="4901184"/>
            <a:ext cx="50292" cy="50292"/>
          </a:xfrm>
          <a:prstGeom prst="rect">
            <a:avLst/>
          </a:prstGeom>
          <a:solidFill>
            <a:srgbClr val="5A3A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32"/>
          <p:cNvSpPr/>
          <p:nvPr/>
        </p:nvSpPr>
        <p:spPr>
          <a:xfrm>
            <a:off x="6880860" y="4901184"/>
            <a:ext cx="50292" cy="50292"/>
          </a:xfrm>
          <a:prstGeom prst="rect">
            <a:avLst/>
          </a:prstGeom>
          <a:solidFill>
            <a:srgbClr val="5A3A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32"/>
          <p:cNvSpPr/>
          <p:nvPr/>
        </p:nvSpPr>
        <p:spPr>
          <a:xfrm>
            <a:off x="6954012" y="4901184"/>
            <a:ext cx="50292" cy="50292"/>
          </a:xfrm>
          <a:prstGeom prst="rect">
            <a:avLst/>
          </a:prstGeom>
          <a:solidFill>
            <a:srgbClr val="5A3A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32"/>
          <p:cNvSpPr/>
          <p:nvPr/>
        </p:nvSpPr>
        <p:spPr>
          <a:xfrm>
            <a:off x="7027164" y="4901184"/>
            <a:ext cx="50292" cy="50292"/>
          </a:xfrm>
          <a:prstGeom prst="rect">
            <a:avLst/>
          </a:prstGeom>
          <a:solidFill>
            <a:srgbClr val="5A3A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32"/>
          <p:cNvSpPr/>
          <p:nvPr/>
        </p:nvSpPr>
        <p:spPr>
          <a:xfrm>
            <a:off x="7100316" y="4901184"/>
            <a:ext cx="50292" cy="50292"/>
          </a:xfrm>
          <a:prstGeom prst="rect">
            <a:avLst/>
          </a:prstGeom>
          <a:solidFill>
            <a:srgbClr val="5A3A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32"/>
          <p:cNvSpPr/>
          <p:nvPr/>
        </p:nvSpPr>
        <p:spPr>
          <a:xfrm>
            <a:off x="7173468" y="4901184"/>
            <a:ext cx="50292" cy="50292"/>
          </a:xfrm>
          <a:prstGeom prst="rect">
            <a:avLst/>
          </a:prstGeom>
          <a:solidFill>
            <a:srgbClr val="5A3A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32"/>
          <p:cNvSpPr/>
          <p:nvPr/>
        </p:nvSpPr>
        <p:spPr>
          <a:xfrm>
            <a:off x="7246620" y="4901184"/>
            <a:ext cx="50292" cy="50292"/>
          </a:xfrm>
          <a:prstGeom prst="rect">
            <a:avLst/>
          </a:prstGeom>
          <a:solidFill>
            <a:srgbClr val="5A3A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32"/>
          <p:cNvSpPr/>
          <p:nvPr/>
        </p:nvSpPr>
        <p:spPr>
          <a:xfrm>
            <a:off x="7319772" y="4901184"/>
            <a:ext cx="50292" cy="50292"/>
          </a:xfrm>
          <a:prstGeom prst="rect">
            <a:avLst/>
          </a:prstGeom>
          <a:solidFill>
            <a:srgbClr val="5A3A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0" name="Google Shape;1560;p32"/>
          <p:cNvSpPr/>
          <p:nvPr/>
        </p:nvSpPr>
        <p:spPr>
          <a:xfrm>
            <a:off x="7392924" y="4901184"/>
            <a:ext cx="50292" cy="50292"/>
          </a:xfrm>
          <a:prstGeom prst="rect">
            <a:avLst/>
          </a:prstGeom>
          <a:solidFill>
            <a:srgbClr val="5A3A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32"/>
          <p:cNvSpPr/>
          <p:nvPr/>
        </p:nvSpPr>
        <p:spPr>
          <a:xfrm>
            <a:off x="7466076" y="4901184"/>
            <a:ext cx="50292" cy="50292"/>
          </a:xfrm>
          <a:prstGeom prst="rect">
            <a:avLst/>
          </a:prstGeom>
          <a:solidFill>
            <a:srgbClr val="5A3A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32"/>
          <p:cNvSpPr/>
          <p:nvPr/>
        </p:nvSpPr>
        <p:spPr>
          <a:xfrm>
            <a:off x="7539228" y="4901184"/>
            <a:ext cx="50292" cy="50292"/>
          </a:xfrm>
          <a:prstGeom prst="rect">
            <a:avLst/>
          </a:prstGeom>
          <a:solidFill>
            <a:srgbClr val="5A3A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32"/>
          <p:cNvSpPr/>
          <p:nvPr/>
        </p:nvSpPr>
        <p:spPr>
          <a:xfrm>
            <a:off x="7612380" y="4901184"/>
            <a:ext cx="50292" cy="50292"/>
          </a:xfrm>
          <a:prstGeom prst="rect">
            <a:avLst/>
          </a:prstGeom>
          <a:solidFill>
            <a:srgbClr val="5A3A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32"/>
          <p:cNvSpPr/>
          <p:nvPr/>
        </p:nvSpPr>
        <p:spPr>
          <a:xfrm>
            <a:off x="7685532" y="4901184"/>
            <a:ext cx="50292" cy="50292"/>
          </a:xfrm>
          <a:prstGeom prst="rect">
            <a:avLst/>
          </a:prstGeom>
          <a:solidFill>
            <a:srgbClr val="5A3A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5" name="Google Shape;1565;p32"/>
          <p:cNvSpPr/>
          <p:nvPr/>
        </p:nvSpPr>
        <p:spPr>
          <a:xfrm>
            <a:off x="7758684" y="4901184"/>
            <a:ext cx="50292" cy="50292"/>
          </a:xfrm>
          <a:prstGeom prst="rect">
            <a:avLst/>
          </a:prstGeom>
          <a:solidFill>
            <a:srgbClr val="5A3A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6" name="Google Shape;1566;p32"/>
          <p:cNvSpPr/>
          <p:nvPr/>
        </p:nvSpPr>
        <p:spPr>
          <a:xfrm>
            <a:off x="7831836" y="4901184"/>
            <a:ext cx="50292" cy="50292"/>
          </a:xfrm>
          <a:prstGeom prst="rect">
            <a:avLst/>
          </a:prstGeom>
          <a:solidFill>
            <a:srgbClr val="5A3A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7" name="Google Shape;1567;p32"/>
          <p:cNvSpPr/>
          <p:nvPr/>
        </p:nvSpPr>
        <p:spPr>
          <a:xfrm>
            <a:off x="7904988" y="4901184"/>
            <a:ext cx="50292" cy="50292"/>
          </a:xfrm>
          <a:prstGeom prst="rect">
            <a:avLst/>
          </a:prstGeom>
          <a:solidFill>
            <a:srgbClr val="5A3A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32"/>
          <p:cNvSpPr/>
          <p:nvPr/>
        </p:nvSpPr>
        <p:spPr>
          <a:xfrm>
            <a:off x="7978140" y="4901184"/>
            <a:ext cx="50292" cy="50292"/>
          </a:xfrm>
          <a:prstGeom prst="rect">
            <a:avLst/>
          </a:prstGeom>
          <a:solidFill>
            <a:srgbClr val="5A3A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9" name="Google Shape;1569;p32"/>
          <p:cNvSpPr/>
          <p:nvPr/>
        </p:nvSpPr>
        <p:spPr>
          <a:xfrm>
            <a:off x="8051292" y="4901184"/>
            <a:ext cx="50292" cy="50292"/>
          </a:xfrm>
          <a:prstGeom prst="rect">
            <a:avLst/>
          </a:prstGeom>
          <a:solidFill>
            <a:srgbClr val="5A3A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0" name="Google Shape;1570;p32"/>
          <p:cNvSpPr/>
          <p:nvPr/>
        </p:nvSpPr>
        <p:spPr>
          <a:xfrm>
            <a:off x="8124444" y="4901184"/>
            <a:ext cx="50292" cy="50292"/>
          </a:xfrm>
          <a:prstGeom prst="rect">
            <a:avLst/>
          </a:prstGeom>
          <a:solidFill>
            <a:srgbClr val="5A3A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1" name="Google Shape;1571;p32"/>
          <p:cNvSpPr/>
          <p:nvPr/>
        </p:nvSpPr>
        <p:spPr>
          <a:xfrm>
            <a:off x="8197596" y="4901184"/>
            <a:ext cx="50292" cy="50292"/>
          </a:xfrm>
          <a:prstGeom prst="rect">
            <a:avLst/>
          </a:prstGeom>
          <a:solidFill>
            <a:srgbClr val="5A3A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p32"/>
          <p:cNvSpPr/>
          <p:nvPr/>
        </p:nvSpPr>
        <p:spPr>
          <a:xfrm>
            <a:off x="8270748" y="4901184"/>
            <a:ext cx="50292" cy="50292"/>
          </a:xfrm>
          <a:prstGeom prst="rect">
            <a:avLst/>
          </a:prstGeom>
          <a:solidFill>
            <a:srgbClr val="5A3A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3" name="Google Shape;1573;p32"/>
          <p:cNvSpPr/>
          <p:nvPr/>
        </p:nvSpPr>
        <p:spPr>
          <a:xfrm>
            <a:off x="8343900" y="4901184"/>
            <a:ext cx="50292" cy="50292"/>
          </a:xfrm>
          <a:prstGeom prst="rect">
            <a:avLst/>
          </a:prstGeom>
          <a:solidFill>
            <a:srgbClr val="5A3A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4" name="Google Shape;1574;p32"/>
          <p:cNvSpPr/>
          <p:nvPr/>
        </p:nvSpPr>
        <p:spPr>
          <a:xfrm>
            <a:off x="8417052" y="4901184"/>
            <a:ext cx="50292" cy="50292"/>
          </a:xfrm>
          <a:prstGeom prst="rect">
            <a:avLst/>
          </a:prstGeom>
          <a:solidFill>
            <a:srgbClr val="5A3A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5" name="Google Shape;1575;p32"/>
          <p:cNvSpPr/>
          <p:nvPr/>
        </p:nvSpPr>
        <p:spPr>
          <a:xfrm>
            <a:off x="8490204" y="4901184"/>
            <a:ext cx="50292" cy="50292"/>
          </a:xfrm>
          <a:prstGeom prst="rect">
            <a:avLst/>
          </a:prstGeom>
          <a:solidFill>
            <a:srgbClr val="5A3A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6" name="Google Shape;1576;p32"/>
          <p:cNvSpPr/>
          <p:nvPr/>
        </p:nvSpPr>
        <p:spPr>
          <a:xfrm>
            <a:off x="8563356" y="4901184"/>
            <a:ext cx="50292" cy="50292"/>
          </a:xfrm>
          <a:prstGeom prst="rect">
            <a:avLst/>
          </a:prstGeom>
          <a:solidFill>
            <a:srgbClr val="5A3A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32"/>
          <p:cNvSpPr/>
          <p:nvPr/>
        </p:nvSpPr>
        <p:spPr>
          <a:xfrm>
            <a:off x="8636508" y="4901184"/>
            <a:ext cx="50292" cy="50292"/>
          </a:xfrm>
          <a:prstGeom prst="rect">
            <a:avLst/>
          </a:prstGeom>
          <a:solidFill>
            <a:srgbClr val="76B9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8" name="Google Shape;1578;p32"/>
          <p:cNvSpPr txBox="1"/>
          <p:nvPr/>
        </p:nvSpPr>
        <p:spPr>
          <a:xfrm>
            <a:off x="5472684" y="4846320"/>
            <a:ext cx="822960" cy="15544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00" u="none" cap="none" strike="noStrike">
                <a:solidFill>
                  <a:srgbClr val="8A8A92"/>
                </a:solidFill>
                <a:latin typeface="Consolas"/>
                <a:ea typeface="Consolas"/>
                <a:cs typeface="Consolas"/>
                <a:sym typeface="Consolas"/>
              </a:rPr>
              <a:t>slide[31]</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2026-09-24T22:18:27Z</dcterms:created>
  <dc:creator>PptxGenJS</dc:creator>
</cp:coreProperties>
</file>